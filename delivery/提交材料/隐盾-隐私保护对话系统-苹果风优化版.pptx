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各位评委、各位专家，大家好。</a:t>
            </a:r>
          </a:p>
          <a:p>
            <a:r>
              <a:t>今天我非常荣幸能向大家介绍我们的项目——“隐盾”。</a:t>
            </a:r>
          </a:p>
          <a:p>
            <a:r>
              <a:t>这是一个专注于隐私保护的本地模型对话系统。在当前数据安全日益重要的背景下，我们致力于解决AI应用中的数据隐私泄露问题。</a:t>
            </a:r>
          </a:p>
          <a:p>
            <a:r>
              <a:t>接下来，我将从项目背景、技术架构、核心功能以及未来规划等几个方面展开详细汇报。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各位好，这一页是本次汇报的目录概览。</a:t>
            </a:r>
          </a:p>
          <a:p>
            <a:r>
              <a:t>我们将从五个维度展开介绍：</a:t>
            </a:r>
          </a:p>
          <a:p>
            <a:r>
              <a:t>首先是问题与场景，明确我们的服务对象和面临的隐私挑战；</a:t>
            </a:r>
          </a:p>
          <a:p>
            <a:r>
              <a:t>接着是系统设计，探讨架构与模型部署；</a:t>
            </a:r>
          </a:p>
          <a:p>
            <a:r>
              <a:t>第三部分是核心机制，深入解析安全防护的具体动作；</a:t>
            </a:r>
          </a:p>
          <a:p>
            <a:r>
              <a:t>第四部分是验证与数据，展示我们的测试结果与数据支撑；</a:t>
            </a:r>
          </a:p>
          <a:p>
            <a:r>
              <a:t>最后是贡献与计划，总结创新点并展望未来。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这一页我们来深入探讨一下服务对象以及他们面临的具体问题。</a:t>
            </a:r>
          </a:p>
          <a:p>
            <a:r>
              <a:t>首先，我们必须意识到一个核心问题：我们收集和处理的材料中，往往包含了大量的个人信息，这些信息的范围常常超出了任务的实际需求。这就带来了潜在的隐私泄露风险。</a:t>
            </a:r>
          </a:p>
          <a:p>
            <a:r>
              <a:t>具体来看，主要涉及三类服务对象：</a:t>
            </a:r>
          </a:p>
          <a:p>
            <a:r>
              <a:t>第一类是学生组织。他们经常需要处理活动名单和人数统计，这里的关键是要避免名单随问题一起外发，防止无关人员获取到学生的隐私数据。</a:t>
            </a:r>
          </a:p>
          <a:p>
            <a:r>
              <a:t>第二类是课程与项目团队。他们需要整理会议纪要和分工信息，重点在于保留人物与事项的对应关系，同时确保这些信息仅在团队内部流转，杜绝外泄。</a:t>
            </a:r>
          </a:p>
          <a:p>
            <a:r>
              <a:t>第三类是后续使用对象，包括教师、科研团队等。对于这类群体，在数据迁移前必须重新确认权限，建立严格的访问控制机制，确保数据安全。</a:t>
            </a:r>
          </a:p>
          <a:p>
            <a:r>
              <a:t>明确这些对象和问题，是我们构建安全数据处理流程的基础。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这一页我们来看看产品的实际界面和核心功能。</a:t>
            </a:r>
          </a:p>
          <a:p>
            <a:r>
              <a:t>左侧展示的是我们产品的实际操作界面，采用了极简的对话式设计，用户可以直接在对话框中输入问题，或者上传相关的文档材料。</a:t>
            </a:r>
          </a:p>
          <a:p>
            <a:r>
              <a:t>右侧是三个核心功能点：</a:t>
            </a:r>
          </a:p>
          <a:p>
            <a:r>
              <a:t>首先是“上传材料并直接提问”，这打破了传统的输入限制，支持多模态信息的即时解析。</a:t>
            </a:r>
          </a:p>
          <a:p>
            <a:r>
              <a:t>其次是“深度追问与上下文关联”，系统能够记住历史对话，确保多轮对话的连贯性。</a:t>
            </a:r>
          </a:p>
          <a:p>
            <a:r>
              <a:t>最后是“安全校验失败即暂停”，这是我们内置的风控机制，一旦检测到异常，会立即停止流程，保障数据安全。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这一页我们来详细看一下系统的分工架构。</a:t>
            </a:r>
          </a:p>
          <a:p>
            <a:r>
              <a:t>我们的系统设计核心在于“安全优先”。左侧是本机处理层，负责处理所有敏感和隐私相关的操作。包括材料的解析、会话的管理，以及最重要的——本地敏感识别和安全校验。这意味着，用户的原始数据和隐私信息是不出本地的。</a:t>
            </a:r>
          </a:p>
          <a:p>
            <a:r>
              <a:t>经过本地处理和脱敏后，只有干净的、非敏感的上下文信息才会被传输到右侧的外部服务层，也就是云端的大模型API。云端负责生成回答，然后再传回本地进行复检，确认无误后才呈现给用户。</a:t>
            </a:r>
          </a:p>
          <a:p>
            <a:r>
              <a:t>这种架构设计最大程度地保护了用户的隐私安全。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本页介绍了本地小型模型方案的核心设计。</a:t>
            </a:r>
          </a:p>
          <a:p>
            <a:r>
              <a:t>首先，在基座与微调方面，我们选择了Qwen3-1.7B作为基础模型，利用LoRA或QLoRA技术进行高效微调，以适应本地化部署的需求。</a:t>
            </a:r>
          </a:p>
          <a:p>
            <a:r>
              <a:t>其次，在训练与运行架构上，我们采用了云端训练、本地推理的分离模式，既保证了模型训练的算力需求，又确保了本地推理的快速响应。</a:t>
            </a:r>
          </a:p>
          <a:p>
            <a:r>
              <a:t>最后，在选型依据上，我们重点关注中文语境下的识别准确率，包括漏检率和误删率，同时兼顾资源占用和推理延迟，确保方案的实用性和经济性。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这一页我们重点关注识别结果的可追溯性规范。</a:t>
            </a:r>
          </a:p>
          <a:p>
            <a:r>
              <a:t>为了确保识别结果的准确性和可验证性，我们定义了四个核心字段：</a:t>
            </a:r>
          </a:p>
          <a:p>
            <a:r>
              <a:t>首先是text字段，它代表原文中的敏感片段，必须能在原文中精准定位。</a:t>
            </a:r>
          </a:p>
          <a:p>
            <a:r>
              <a:t>其次是start和end字段，用于标记片段在原文中的起止位置，这是验证识别准确性的关键。</a:t>
            </a:r>
          </a:p>
          <a:p>
            <a:r>
              <a:t>category字段则要求敏感类别必须属于预设的冻结清单，避免随意分类。</a:t>
            </a:r>
          </a:p>
          <a:p>
            <a:r>
              <a:t>最后是evidence字段，提供判定的依据，确保每一个识别结果都有据可查。</a:t>
            </a:r>
          </a:p>
          <a:p>
            <a:r>
              <a:t>特别需要注意的是，如果出现格式错误、位置歧义或超长截断等情况，系统会自动暂停本轮处理，确保数据质量。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这一页我们详细了解模型选择的六类处理动作。这些动作是模型在处理数据时的核心决策依据，旨在平衡数据可用性与安全性。</a:t>
            </a:r>
          </a:p>
          <a:p>
            <a:r>
              <a:t>首先是“删除”，这是最直接的方式，移除无关的敏感片段。其次是“本地聚合”，只输出统计结果而不暴露原始数据。第三是“泛化”，通过降低精度来模糊敏感信息。</a:t>
            </a:r>
          </a:p>
          <a:p>
            <a:r>
              <a:t>下半部分，“代号替换”用于保护身份隐私同时保留关联关系。“保留”则是在严格合规的前提下允许使用原始数据。最后是“暂停”，这是一个安全机制，在检测到风险时立即停止处理，防止风险扩散。</a:t>
            </a:r>
          </a:p>
          <a:p>
            <a:r>
              <a:t>这六类动作构成了模型安全处理的基础框架，确保了数据处理的合规性和安全性。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这一页我们深入探讨多轮对话中的保护机制，这是保障系统安全稳定运行的核心。</a:t>
            </a:r>
          </a:p>
          <a:p>
            <a:r>
              <a:t>首先，我们建立了严格的检查机制，不仅检查当前输入的文字和附件，还会将合并后的历史对话上下文纳入检查范围，确保每一轮交互都是安全的。</a:t>
            </a:r>
          </a:p>
          <a:p>
            <a:r>
              <a:t>其次，在多轮交互中，我们保持同一实体的代号一致性，本地的映射关系不会泄露到外部，保护了用户的隐私和系统的安全性。</a:t>
            </a:r>
          </a:p>
          <a:p>
            <a:r>
              <a:t>第三，我们采用了“成功后才提交历史”的策略。只有当回答通过安全复检后，才会显示并写入对话历史，这样即使某一轮出现异常，也不会污染已有的对话上下文。</a:t>
            </a:r>
          </a:p>
          <a:p>
            <a:r>
              <a:t>最后，我们明确区分了“清除对话”和“删除材料”的操作。本地删除文件或清空对话记录，不会影响已经发送到服务器的内容，实现了本地存储与云端记录的解耦管理。</a:t>
            </a:r>
          </a:p>
          <a:p>
            <a:r>
              <a:t>这些机制共同构成了一个完整的安全防护体系，确保多轮对话的安全、稳定和可靠。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这一页我们重点讨论系统的安全边界设计与外部API的接入状态。</a:t>
            </a:r>
          </a:p>
          <a:p>
            <a:r>
              <a:t>左侧展示了我们构建的三道核心安全防线：</a:t>
            </a:r>
          </a:p>
          <a:p>
            <a:r>
              <a:t>首先是输入边界，这是第一道关口，我们会检查所有发送的请求，确保没有恶意注入或非法参数。</a:t>
            </a:r>
          </a:p>
          <a:p>
            <a:r>
              <a:t>其次是展示边界，任何生成的回答都必须经过复检才能显示，这能有效防止敏感信息泄露。</a:t>
            </a:r>
          </a:p>
          <a:p>
            <a:r>
              <a:t>最后是工具边界，对于外部工具的调用，我们有独立的参数检查机制。</a:t>
            </a:r>
          </a:p>
          <a:p>
            <a:r>
              <a:t>右侧是目前的API接入状态，可以看到基础的兼容性已经就绪，密钥管理也处于安全状态，真实连接的验收工作正在进行中。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这一页我们重点讲一下数据与人工复核的机制。</a:t>
            </a:r>
          </a:p>
          <a:p>
            <a:r>
              <a:t>首先，我们采用“2人独立复核+1人裁决”的核心机制，这是保证数据准确性的关键。在左侧，我们强调了两个重点：一是对标注实体的确认和处理必要性的判断，二是保留原始意见和裁决依据，确保过程可追溯。</a:t>
            </a:r>
          </a:p>
          <a:p>
            <a:r>
              <a:t>右侧展示了数据划分的原则，我们严格将数据分为训练集、验证集和测试集，并且这三个集合是严格隔离的，严禁跨集混用，这是保证模型评估准确性的基础。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重点介绍了实验比较与评价的四个关键维度。首先是实体识别的准确性，这是基础；其次是信息安全层面的信息暴露风险，这是红线；第三是任务可用性，直接关系到业务价值的实现；最后是运行成本，这决定了系统的落地可行性。</a:t>
            </a:r>
          </a:p>
          <a:p>
            <a:r>
              <a:t>在评价时，我们强调必须使用同一批案例进行严格的配对比较，确保实验环境的一致性，并且要对失败案例进行详细的归因分析，这样才能得出可靠的结论。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这一页我们来看一下现有原型的验证记录。</a:t>
            </a:r>
          </a:p>
          <a:p>
            <a:r>
              <a:t>首先，从测试覆盖率来看，我们已经完成了81项回归检查，覆盖了27个子检查项，并且在38项冒烟检查中全部通过，这表明我们的基础架构和核心功能是非常稳固的。</a:t>
            </a:r>
          </a:p>
          <a:p>
            <a:r>
              <a:t>最值得关注的是下方的核心指标：动作分类器的Macro-F1得分达到了0.9887，这是一个非常优异的成绩，说明我们的模型在动作识别的准确性和平衡性上表现极佳。</a:t>
            </a:r>
          </a:p>
          <a:p>
            <a:r>
              <a:t>需要说明的是，这些数据来自于合成弱标签的分组验证，目前还不是最终的目标识别模型验收结果，但已经为后续的开发奠定了坚实的基础。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这一页展示了目标版本的正式评测结果。</a:t>
            </a:r>
          </a:p>
          <a:p>
            <a:r>
              <a:t>我们将重点关注几个关键指标：包括实体严格匹配的F1分数、高风险类别的召回率、以及在特定场景下的表现。</a:t>
            </a:r>
          </a:p>
          <a:p>
            <a:r>
              <a:t>目前表格中的数据为待补充状态，在正式评测完成后，我们会填入详细的数值，并附上独立测试集和复核记录，以确保结果的公正性和准确性。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各位好，这一页我们重点来看项目的核心贡献与验证重点。</a:t>
            </a:r>
          </a:p>
          <a:p>
            <a:r>
              <a:t>首先，我们实现了“任务条件下的模型动作”。这意味着模型不再是盲目响应，而是将任务目标、用户身份以及接收方的角色都纳入了决策的前置条件中。通过程序约束，确保模型的每一步动作都与当前的场景权限严格匹配，这从根本上避免了越权操作和信息泄露的风险。</a:t>
            </a:r>
          </a:p>
          <a:p>
            <a:r>
              <a:t>其次，我们解决了“材料与对话共享保护状态”的难题。在处理附件解析和多轮连续追问时，系统会实时锁定状态，确保对话上下文和文件权限标签的同步。这保证了对外发送内容的代号关系与实际权限始终一致，杜绝了信息错位的可能性。</a:t>
            </a:r>
          </a:p>
          <a:p>
            <a:r>
              <a:t>最后，我们建立了“边界可观察的复核流程”。这是一个全链路的可观测机制，我们分别对用户请求、模型生成的展示内容以及工具调用参数进行独立校验，并完整留存每一步的判断证据和操作日志。这不仅保证了安全性，也实现了责任的可追溯。</a:t>
            </a:r>
          </a:p>
          <a:p>
            <a:r>
              <a:t>这三点构成了我们项目安全与合规的坚实基础。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这一页我们来演示一下产品的实际运行效果。</a:t>
            </a:r>
          </a:p>
          <a:p>
            <a:r>
              <a:t>左侧展示的是产品的真实运行界面，虽然目前是模拟状态，但我们可以看到整个交互流程非常流畅。</a:t>
            </a:r>
          </a:p>
          <a:p>
            <a:r>
              <a:t>演示分为三个关键步骤：</a:t>
            </a:r>
          </a:p>
          <a:p>
            <a:r>
              <a:t>首先是信息采集，系统能够快速理解并整理上传的会议纪要；</a:t>
            </a:r>
          </a:p>
          <a:p>
            <a:r>
              <a:t>接着是任务拆解，系统会自动将任务分配给对应的负责人，提高协作效率；</a:t>
            </a:r>
          </a:p>
          <a:p>
            <a:r>
              <a:t>最后是安全风控，这也是我们产品的一大亮点，它能实时识别并阻断越权请求，确保企业信息安全。</a:t>
            </a:r>
          </a:p>
          <a:p>
            <a:r>
              <a:t>后续我们会补充真实的运行截图，展示更详细的模型处理细节。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这一页是我们的交付与后续验收计划。</a:t>
            </a:r>
          </a:p>
          <a:p>
            <a:r>
              <a:t>我们规划了四个关键的后续任务：</a:t>
            </a:r>
          </a:p>
          <a:p>
            <a:r>
              <a:t>首先是统一对话与安全执行链路，目前已有原型，我们将持续迭代优化。</a:t>
            </a:r>
          </a:p>
          <a:p>
            <a:r>
              <a:t>其次是本地识别模块，我们将冻结权重、提示词和量化方式，并进行完整的回归测试。</a:t>
            </a:r>
          </a:p>
          <a:p>
            <a:r>
              <a:t>第三是真实服务与人工效果的验证，包括API连通性确认和双人复核。</a:t>
            </a:r>
          </a:p>
          <a:p>
            <a:r>
              <a:t>最后是第二台电脑的部署，重点记录依赖、资源占用和异常行为。</a:t>
            </a:r>
          </a:p>
          <a:p>
            <a:r>
              <a:t>感谢大家的聆听，欢迎提问。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结束页：四个关键词收束（本机优先、六类动作、多轮保护、数据可信），并给出关键验证数据，致谢并邀请提问。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070B14">
                  <a:alpha val="100000"/>
                </a:srgbClr>
              </a:gs>
              <a:gs pos="42000">
                <a:srgbClr val="0D1733">
                  <a:alpha val="100000"/>
                </a:srgbClr>
              </a:gs>
              <a:gs pos="78000">
                <a:srgbClr val="1B2C63">
                  <a:alpha val="100000"/>
                </a:srgbClr>
              </a:gs>
              <a:gs pos="100000">
                <a:srgbClr val="3A2A6E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3108960"/>
            <a:ext cx="10058400" cy="10058400"/>
          </a:xfrm>
          <a:prstGeom prst="ellipse">
            <a:avLst/>
          </a:prstGeom>
          <a:gradFill rotWithShape="0">
            <a:gsLst>
              <a:gs pos="0">
                <a:srgbClr val="7C5CFF">
                  <a:alpha val="46000"/>
                </a:srgbClr>
              </a:gs>
              <a:gs pos="55000">
                <a:srgbClr val="7C5CFF">
                  <a:alpha val="16000"/>
                </a:srgbClr>
              </a:gs>
              <a:gs pos="100000">
                <a:srgbClr val="7C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291840" y="-2743200"/>
            <a:ext cx="10515600" cy="10515600"/>
          </a:xfrm>
          <a:prstGeom prst="ellipse">
            <a:avLst/>
          </a:prstGeom>
          <a:gradFill rotWithShape="0">
            <a:gsLst>
              <a:gs pos="0">
                <a:srgbClr val="2F6BFF">
                  <a:alpha val="50000"/>
                </a:srgbClr>
              </a:gs>
              <a:gs pos="55000">
                <a:srgbClr val="2F6BFF">
                  <a:alpha val="18000"/>
                </a:srgbClr>
              </a:gs>
              <a:gs pos="100000">
                <a:srgbClr val="2F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3840480"/>
            <a:ext cx="11887200" cy="8686800"/>
          </a:xfrm>
          <a:prstGeom prst="ellipse">
            <a:avLst/>
          </a:prstGeom>
          <a:gradFill rotWithShape="0">
            <a:gsLst>
              <a:gs pos="0">
                <a:srgbClr val="22D3EE">
                  <a:alpha val="20000"/>
                </a:srgbClr>
              </a:gs>
              <a:gs pos="55000">
                <a:srgbClr val="22D3EE">
                  <a:alpha val="7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2743200"/>
            <a:ext cx="7772400" cy="7772400"/>
          </a:xfrm>
          <a:prstGeom prst="ellipse">
            <a:avLst/>
          </a:prstGeom>
          <a:gradFill rotWithShape="0">
            <a:gsLst>
              <a:gs pos="0">
                <a:srgbClr val="B15CFF">
                  <a:alpha val="22000"/>
                </a:srgbClr>
              </a:gs>
              <a:gs pos="55000">
                <a:srgbClr val="B15CFF">
                  <a:alpha val="8000"/>
                </a:srgbClr>
              </a:gs>
              <a:gs pos="100000">
                <a:srgbClr val="B1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60920" y="1005840"/>
            <a:ext cx="10607040" cy="10607040"/>
          </a:xfrm>
          <a:prstGeom prst="ellipse">
            <a:avLst/>
          </a:prstGeom>
          <a:noFill/>
          <a:ln w="12700">
            <a:solidFill>
              <a:srgbClr val="22D3EE">
                <a:alpha val="20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71816" y="1316736"/>
            <a:ext cx="8229600" cy="8229600"/>
          </a:xfrm>
          <a:prstGeom prst="ellipse">
            <a:avLst/>
          </a:prstGeom>
          <a:noFill/>
          <a:ln w="12700">
            <a:solidFill>
              <a:srgbClr val="2F6BFF">
                <a:alpha val="26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82712" y="1627632"/>
            <a:ext cx="6035040" cy="6035040"/>
          </a:xfrm>
          <a:prstGeom prst="ellipse">
            <a:avLst/>
          </a:prstGeom>
          <a:noFill/>
          <a:ln w="12700">
            <a:solidFill>
              <a:srgbClr val="7C5CFF">
                <a:alpha val="30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93608" y="1938528"/>
            <a:ext cx="4023360" cy="4023360"/>
          </a:xfrm>
          <a:prstGeom prst="ellipse">
            <a:avLst/>
          </a:prstGeom>
          <a:noFill/>
          <a:ln w="12700">
            <a:solidFill>
              <a:srgbClr val="6FE6F7">
                <a:alpha val="26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2926080" y="2377440"/>
            <a:ext cx="8229600" cy="8229600"/>
          </a:xfrm>
          <a:prstGeom prst="ellipse">
            <a:avLst/>
          </a:prstGeom>
          <a:noFill/>
          <a:ln w="12700">
            <a:solidFill>
              <a:srgbClr val="2F6BFF">
                <a:alpha val="22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-1828800" y="3474720"/>
            <a:ext cx="5486400" cy="5486400"/>
          </a:xfrm>
          <a:prstGeom prst="ellipse">
            <a:avLst/>
          </a:prstGeom>
          <a:noFill/>
          <a:ln w="11430">
            <a:solidFill>
              <a:srgbClr val="7C5CFF">
                <a:alpha val="20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822960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207008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591056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975104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2359152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2743200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3127248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3511296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3895344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4279392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4663440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5047488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5431536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5815584"/>
            <a:ext cx="493776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822960"/>
            <a:ext cx="9144" cy="537667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30767" y="822960"/>
            <a:ext cx="9144" cy="537667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97696" y="822960"/>
            <a:ext cx="9144" cy="537667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4624" y="822960"/>
            <a:ext cx="9144" cy="537667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31552" y="822960"/>
            <a:ext cx="9144" cy="537667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98480" y="822960"/>
            <a:ext cx="9144" cy="537667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65408" y="822960"/>
            <a:ext cx="9144" cy="537667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832336" y="822960"/>
            <a:ext cx="9144" cy="537667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399263" y="822960"/>
            <a:ext cx="9144" cy="537667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63840" y="822960"/>
            <a:ext cx="4937760" cy="14630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0" y="822960"/>
            <a:ext cx="14630" cy="5376672"/>
          </a:xfrm>
          <a:prstGeom prst="rect">
            <a:avLst/>
          </a:prstGeom>
          <a:solidFill>
            <a:srgbClr val="22D3EE">
              <a:alpha val="24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14332" y="1924812"/>
            <a:ext cx="100584" cy="100584"/>
          </a:xfrm>
          <a:prstGeom prst="ellipse">
            <a:avLst/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48188" y="3076956"/>
            <a:ext cx="100584" cy="100584"/>
          </a:xfrm>
          <a:prstGeom prst="ellipse">
            <a:avLst/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947404" y="4229100"/>
            <a:ext cx="100584" cy="100584"/>
          </a:xfrm>
          <a:prstGeom prst="ellipse">
            <a:avLst/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215116" y="1540764"/>
            <a:ext cx="100584" cy="100584"/>
          </a:xfrm>
          <a:prstGeom prst="ellipse">
            <a:avLst/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14332" y="4997196"/>
            <a:ext cx="100584" cy="100584"/>
          </a:xfrm>
          <a:prstGeom prst="ellipse">
            <a:avLst/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215116" y="3845052"/>
            <a:ext cx="100584" cy="100584"/>
          </a:xfrm>
          <a:prstGeom prst="ellipse">
            <a:avLst/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80476" y="1156716"/>
            <a:ext cx="100584" cy="100584"/>
          </a:xfrm>
          <a:prstGeom prst="ellipse">
            <a:avLst/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743200" y="1188720"/>
            <a:ext cx="8229600" cy="4754880"/>
          </a:xfrm>
          <a:prstGeom prst="ellipse">
            <a:avLst/>
          </a:prstGeom>
          <a:gradFill rotWithShape="0">
            <a:gsLst>
              <a:gs pos="0">
                <a:srgbClr val="22D3EE">
                  <a:alpha val="14000"/>
                </a:srgbClr>
              </a:gs>
              <a:gs pos="55000">
                <a:srgbClr val="22D3EE">
                  <a:alpha val="5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02920" y="658368"/>
            <a:ext cx="749808" cy="749808"/>
          </a:xfrm>
          <a:prstGeom prst="roundRect">
            <a:avLst>
              <a:gd name="adj" fmla="val 28048"/>
            </a:avLst>
          </a:prstGeom>
          <a:gradFill rotWithShape="1">
            <a:gsLst>
              <a:gs pos="0">
                <a:srgbClr val="1B2C63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64592" dist="45720" dir="5400000" rotWithShape="0">
              <a:srgbClr val="1B2C63">
                <a:alpha val="42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777240"/>
            <a:ext cx="512064" cy="51206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99032" y="731520"/>
            <a:ext cx="51206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5F0F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智能安全实验室</a:t>
            </a:r>
            <a:endParaRPr sz="1500" b="1">
              <a:solidFill>
                <a:srgbClr val="A5F0F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99032" y="107899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FA6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隐盾项目组 · 2026</a:t>
            </a:r>
            <a:endParaRPr sz="1200" b="0">
              <a:solidFill>
                <a:srgbClr val="8FA6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74904" y="1847088"/>
            <a:ext cx="822960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16200"/>
              </a:lnSpc>
            </a:pPr>
            <a:r>
              <a:rPr sz="15000" b="1">
                <a:gradFill rotWithShape="1">
                  <a:gsLst>
                    <a:gs pos="0">
                      <a:srgbClr val="FFFFFF"/>
                    </a:gs>
                    <a:gs pos="4800000">
                      <a:srgbClr val="FFFFFF"/>
                    </a:gs>
                    <a:gs pos="8000000">
                      <a:srgbClr val="A5F0FB"/>
                    </a:gs>
                    <a:gs pos="10000000">
                      <a:srgbClr val="B15CFF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隐盾</a:t>
            </a:r>
            <a:endParaRPr sz="15000" b="1">
              <a:gradFill rotWithShape="1">
                <a:gsLst>
                  <a:gs pos="0">
                    <a:srgbClr val="FFFFFF"/>
                  </a:gs>
                  <a:gs pos="4800000">
                    <a:srgbClr val="FFFFFF"/>
                  </a:gs>
                  <a:gs pos="8000000">
                    <a:srgbClr val="A5F0FB"/>
                  </a:gs>
                  <a:gs pos="10000000">
                    <a:srgbClr val="B15CFF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2920" y="4133087"/>
            <a:ext cx="3840480" cy="18288"/>
          </a:xfrm>
          <a:prstGeom prst="rect">
            <a:avLst/>
          </a:prstGeom>
          <a:gradFill rotWithShape="1">
            <a:gsLst>
              <a:gs pos="0">
                <a:srgbClr val="2F6BFF">
                  <a:alpha val="95000"/>
                </a:srgbClr>
              </a:gs>
              <a:gs pos="55000">
                <a:srgbClr val="B15CFF">
                  <a:alpha val="60000"/>
                </a:srgbClr>
              </a:gs>
              <a:gs pos="100000">
                <a:srgbClr val="B15CFF">
                  <a:alpha val="15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4334256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本地模型支持的隐私保护对话系统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02920" y="4992624"/>
            <a:ext cx="877824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9BE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基于本地化部署的大语言模型架构，实现中文材料智能处理与多轮安全对话，通过端到端加密与环境隔离技术，构建可信的隐私计算屏障。</a:t>
            </a:r>
            <a:endParaRPr sz="1500" b="0">
              <a:solidFill>
                <a:srgbClr val="A9BE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02920" y="5797296"/>
            <a:ext cx="11186129" cy="749808"/>
          </a:xfrm>
          <a:prstGeom prst="roundRect">
            <a:avLst>
              <a:gd name="adj" fmla="val 31707"/>
            </a:avLst>
          </a:prstGeom>
          <a:solidFill>
            <a:srgbClr val="FFFFFF">
              <a:alpha val="9000"/>
            </a:srgbClr>
          </a:solidFill>
          <a:ln w="15875">
            <a:solidFill>
              <a:srgbClr val="FFFFFF">
                <a:alpha val="88000"/>
              </a:srgbClr>
            </a:solidFill>
          </a:ln>
          <a:effectLst>
            <a:outerShdw blurRad="274320" dist="64008" dir="5400000" rotWithShape="0">
              <a:srgbClr val="1B2C63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02920" y="5797296"/>
            <a:ext cx="11186129" cy="749808"/>
          </a:xfrm>
          <a:prstGeom prst="roundRect">
            <a:avLst>
              <a:gd name="adj" fmla="val 31707"/>
            </a:avLst>
          </a:prstGeom>
          <a:gradFill rotWithShape="1">
            <a:gsLst>
              <a:gs pos="0">
                <a:srgbClr val="FFFFFF">
                  <a:alpha val="11000"/>
                </a:srgbClr>
              </a:gs>
              <a:gs pos="48000">
                <a:srgbClr val="FFFFFF">
                  <a:alpha val="3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0664" y="6526072"/>
            <a:ext cx="10710641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0664" y="5812840"/>
            <a:ext cx="10710641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1208" y="5797296"/>
            <a:ext cx="12801" cy="749808"/>
          </a:xfrm>
          <a:prstGeom prst="rect">
            <a:avLst/>
          </a:prstGeom>
          <a:gradFill rotWithShape="1">
            <a:gsLst>
              <a:gs pos="0">
                <a:srgbClr val="22D3EE">
                  <a:alpha val="100000"/>
                </a:srgbClr>
              </a:gs>
              <a:gs pos="50000">
                <a:srgbClr val="7C5CFF">
                  <a:alpha val="55000"/>
                </a:srgbClr>
              </a:gs>
              <a:gs pos="100000">
                <a:srgbClr val="7C5CFF">
                  <a:alpha val="6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5797296"/>
            <a:ext cx="621792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项目方案与阶段证据</a:t>
            </a:r>
            <a:endParaRPr sz="14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766560" y="5797296"/>
            <a:ext cx="4757897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3A9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【智能安全实验室】 | 【汇报人：Alex Chen】</a:t>
            </a:r>
            <a:endParaRPr sz="1400" b="0">
              <a:solidFill>
                <a:srgbClr val="93A9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603248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01803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6288328"/>
            <a:ext cx="10637489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734616"/>
            <a:ext cx="10637489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1832" y="1912924"/>
            <a:ext cx="530352" cy="530352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191292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28216" y="1883664"/>
            <a:ext cx="9601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问题与场景</a:t>
            </a:r>
            <a:endParaRPr sz="23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28216" y="230428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服务对象、隐私痛点与产品入口分析，明确设计初衷与应用边界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5256" y="2637129"/>
            <a:ext cx="10381457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1832" y="2830982"/>
            <a:ext cx="530352" cy="530352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2F6B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283098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28216" y="2801721"/>
            <a:ext cx="9601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</a:t>
            </a:r>
            <a:endParaRPr sz="23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28216" y="3222345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基于微服务的架构分工，本地模型部署策略与内容识别规范定义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05256" y="3555187"/>
            <a:ext cx="10381457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" y="3749039"/>
            <a:ext cx="530352" cy="530352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5CFF">
                  <a:alpha val="100000"/>
                </a:srgbClr>
              </a:gs>
              <a:gs pos="100000">
                <a:srgbClr val="B1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3749039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28216" y="3719779"/>
            <a:ext cx="9601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核心机制</a:t>
            </a:r>
            <a:endParaRPr sz="23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28216" y="4140403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六类敏感内容处理动作，多轮保护机制与动态安全边界构建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05256" y="4473244"/>
            <a:ext cx="10381457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1832" y="4667097"/>
            <a:ext cx="530352" cy="530352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4667097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28216" y="4637836"/>
            <a:ext cx="9601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验证与数据</a:t>
            </a:r>
            <a:endParaRPr sz="23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28216" y="5058460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人工复核流程，多维度评价方法体系与原型验证的实测记录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5256" y="5391302"/>
            <a:ext cx="10381457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1832" y="5585155"/>
            <a:ext cx="530352" cy="530352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2F6B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5585155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28216" y="5555894"/>
            <a:ext cx="96012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贡献与计划</a:t>
            </a:r>
            <a:endParaRPr sz="23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728216" y="5976518"/>
            <a:ext cx="96012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项目技术创新点展示，功能演示与未来迭代验收标准规划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9768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8760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2908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问题与场景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服务对象与具体问题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86129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材料包含的个人信息，常常超过任务实际需要</a:t>
            </a:r>
            <a:endParaRPr sz="18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231136"/>
            <a:ext cx="11186129" cy="3566160"/>
          </a:xfrm>
          <a:prstGeom prst="roundRect">
            <a:avLst>
              <a:gd name="adj" fmla="val 7692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231136"/>
            <a:ext cx="11186129" cy="3566160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776264"/>
            <a:ext cx="10637489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246680"/>
            <a:ext cx="10637489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34093" y="2706624"/>
            <a:ext cx="12801" cy="2615184"/>
          </a:xfrm>
          <a:prstGeom prst="rect">
            <a:avLst/>
          </a:prstGeom>
          <a:gradFill rotWithShape="1">
            <a:gsLst>
              <a:gs pos="0">
                <a:srgbClr val="2F6BFF">
                  <a:alpha val="75000"/>
                </a:srgbClr>
              </a:gs>
              <a:gs pos="50000">
                <a:srgbClr val="7C5CFF">
                  <a:alpha val="55000"/>
                </a:srgbClr>
              </a:gs>
              <a:gs pos="100000">
                <a:srgbClr val="7C5CFF">
                  <a:alpha val="1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65267" y="2706624"/>
            <a:ext cx="12801" cy="2615184"/>
          </a:xfrm>
          <a:prstGeom prst="rect">
            <a:avLst/>
          </a:prstGeom>
          <a:gradFill rotWithShape="1">
            <a:gsLst>
              <a:gs pos="0">
                <a:srgbClr val="2F6BFF">
                  <a:alpha val="75000"/>
                </a:srgbClr>
              </a:gs>
              <a:gs pos="50000">
                <a:srgbClr val="7C5CFF">
                  <a:alpha val="55000"/>
                </a:srgbClr>
              </a:gs>
              <a:gs pos="100000">
                <a:srgbClr val="7C5CFF">
                  <a:alpha val="1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408" y="2743200"/>
            <a:ext cx="530352" cy="530352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274320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8408" y="3566160"/>
            <a:ext cx="2680197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学生组织</a:t>
            </a:r>
            <a:endParaRPr sz="25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78408" y="4151376"/>
            <a:ext cx="2680197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活动名单与人数统计，避免名单随问题一起外发，防止无关人员获取学生隐私数据。</a:t>
            </a:r>
            <a:endParaRPr sz="18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09581" y="2743200"/>
            <a:ext cx="530352" cy="530352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2F6B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9581" y="274320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09581" y="3566160"/>
            <a:ext cx="2680197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课程与项目团队</a:t>
            </a:r>
            <a:endParaRPr sz="25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09581" y="4151376"/>
            <a:ext cx="2680197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整理纪要和分工，保留人物与事项的对应关系，确保信息仅在团队内部流转，杜绝外泄。</a:t>
            </a:r>
            <a:endParaRPr sz="18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40755" y="2743200"/>
            <a:ext cx="530352" cy="530352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5CFF">
                  <a:alpha val="100000"/>
                </a:srgbClr>
              </a:gs>
              <a:gs pos="100000">
                <a:srgbClr val="B1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0755" y="274320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40755" y="3566160"/>
            <a:ext cx="2680197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后续使用对象</a:t>
            </a:r>
            <a:endParaRPr sz="25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40755" y="4151376"/>
            <a:ext cx="2680197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教师、科研团队与类似组织，在数据迁移前重新确认权限，建立严格的访问控制机制。</a:t>
            </a:r>
            <a:endParaRPr sz="18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8760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2908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问题与场景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一个对话入口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5577840" cy="4590288"/>
          </a:xfrm>
          <a:prstGeom prst="roundRect">
            <a:avLst>
              <a:gd name="adj" fmla="val 5976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5577840" cy="4590288"/>
          </a:xfrm>
          <a:prstGeom prst="roundRect">
            <a:avLst>
              <a:gd name="adj" fmla="val 5976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6288328"/>
            <a:ext cx="5029200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734616"/>
            <a:ext cx="5029200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19933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CCE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69848" y="19933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CCE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71016" y="199339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BCCE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19202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隐盾 - 离线演示模式</a:t>
            </a:r>
            <a:endParaRPr sz="135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8680" y="2304288"/>
            <a:ext cx="4846320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08759" y="2523744"/>
            <a:ext cx="4206240" cy="1024128"/>
          </a:xfrm>
          <a:prstGeom prst="roundRect">
            <a:avLst>
              <a:gd name="adj" fmla="val 17857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46304" dist="45720" dir="5400000" rotWithShape="0">
              <a:srgbClr val="1B2C63">
                <a:alpha val="34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64791" y="2523744"/>
            <a:ext cx="3694175" cy="1024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用户：请上传这份采购合同附件，并帮我分析其中的交付条款与违约责任。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68680" y="3785615"/>
            <a:ext cx="4846320" cy="1792224"/>
          </a:xfrm>
          <a:prstGeom prst="roundRect">
            <a:avLst>
              <a:gd name="adj" fmla="val 10204"/>
            </a:avLst>
          </a:prstGeom>
          <a:solidFill>
            <a:srgbClr val="FFFFFF">
              <a:alpha val="90000"/>
            </a:srgbClr>
          </a:solidFill>
          <a:ln w="13970">
            <a:solidFill>
              <a:srgbClr val="FFFFFF">
                <a:alpha val="98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3986783"/>
            <a:ext cx="4334256" cy="1389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系统：正在解析文档...已识别关键条款：1. 交付周期为合同签订后30个工作日；2. 若延迟交付，每日按合同总额的0.1%支付违约金；3. 不可抗力因素可申请延期。</a:t>
            </a:r>
            <a:endParaRPr sz="1550" b="0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68680" y="5705856"/>
            <a:ext cx="4846320" cy="402336"/>
          </a:xfrm>
          <a:prstGeom prst="roundRect">
            <a:avLst>
              <a:gd name="adj" fmla="val 36363"/>
            </a:avLst>
          </a:prstGeom>
          <a:solidFill>
            <a:srgbClr val="EAF0FF">
              <a:alpha val="92000"/>
            </a:srgbClr>
          </a:solidFill>
          <a:ln w="9525">
            <a:solidFill>
              <a:srgbClr val="FFFFFF">
                <a:alpha val="92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4712" y="5705856"/>
            <a:ext cx="43342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拖拽文件至此处上传（支持 PDF / Word / Excel 格式）</a:t>
            </a:r>
            <a:endParaRPr sz="12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27064" y="1719072"/>
            <a:ext cx="5461985" cy="4590288"/>
          </a:xfrm>
          <a:prstGeom prst="roundRect">
            <a:avLst>
              <a:gd name="adj" fmla="val 5976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27064" y="1719072"/>
            <a:ext cx="5461985" cy="4590288"/>
          </a:xfrm>
          <a:prstGeom prst="roundRect">
            <a:avLst>
              <a:gd name="adj" fmla="val 5976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01383" y="6288328"/>
            <a:ext cx="4913345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01383" y="1734616"/>
            <a:ext cx="4913345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92824" y="1975104"/>
            <a:ext cx="493776" cy="493776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2F6B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2824" y="197510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214616" y="1901952"/>
            <a:ext cx="410867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上传材料并直接提问</a:t>
            </a:r>
            <a:endParaRPr sz="21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14616" y="2322576"/>
            <a:ext cx="4108673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打破传统输入限制，文字与附件进入同一条处理链路，系统自动完成文档解析、信息提取与问题关联，无需繁琐的分步操作。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592824" y="3249168"/>
            <a:ext cx="4730465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92824" y="3505200"/>
            <a:ext cx="493776" cy="493776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5CFF">
                  <a:alpha val="100000"/>
                </a:srgbClr>
              </a:gs>
              <a:gs pos="100000">
                <a:srgbClr val="B1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2824" y="3505200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214616" y="3432048"/>
            <a:ext cx="410867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深度追问与上下文关联</a:t>
            </a:r>
            <a:endParaRPr sz="21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14616" y="3852672"/>
            <a:ext cx="4108673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沿用已处理的对话历史和本地代号映射，实现多轮对话的逻辑连贯与记忆保持，确保追问的准确性与场景延续性。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592824" y="4779264"/>
            <a:ext cx="4730465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92824" y="5035296"/>
            <a:ext cx="493776" cy="493776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2824" y="5035296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214616" y="4962144"/>
            <a:ext cx="410867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安全校验失败即暂停</a:t>
            </a:r>
            <a:endParaRPr sz="21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14616" y="5382768"/>
            <a:ext cx="4108673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内置安全风控机制，若检测到违规内容或格式异常，本轮流程立即停止，且不覆盖此前成功的对话历史，保障数据安全。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现有原型截图 · 离线演示模式　·　原型截图为离线演示模式，真实接入后替换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7236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1384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系统设计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系统分工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718945"/>
            <a:ext cx="5114925" cy="3566160"/>
          </a:xfrm>
          <a:prstGeom prst="roundRect">
            <a:avLst>
              <a:gd name="adj" fmla="val 7692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18945"/>
            <a:ext cx="5083810" cy="3566160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264200"/>
            <a:ext cx="5340096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734616"/>
            <a:ext cx="5340096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1993391"/>
            <a:ext cx="5084064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本机处理层（Local）</a:t>
            </a:r>
            <a:endParaRPr sz="18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"/>
            </p:custDataLst>
          </p:nvPr>
        </p:nvSpPr>
        <p:spPr>
          <a:xfrm>
            <a:off x="905256" y="2578608"/>
            <a:ext cx="420624" cy="420624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2"/>
            </p:custDataLst>
          </p:nvPr>
        </p:nvSpPr>
        <p:spPr>
          <a:xfrm>
            <a:off x="905256" y="25786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3"/>
            </p:custDataLst>
          </p:nvPr>
        </p:nvSpPr>
        <p:spPr>
          <a:xfrm>
            <a:off x="1472184" y="2551176"/>
            <a:ext cx="451713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01. 材料解析与会话管理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4"/>
            </p:custDataLst>
          </p:nvPr>
        </p:nvSpPr>
        <p:spPr>
          <a:xfrm>
            <a:off x="1472184" y="2944368"/>
            <a:ext cx="45171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统一输入格式，持久化任务状态与历史对话记录</a:t>
            </a:r>
            <a:endParaRPr sz="14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>
            <p:custDataLst>
              <p:tags r:id="rId5"/>
            </p:custDataLst>
          </p:nvPr>
        </p:nvSpPr>
        <p:spPr>
          <a:xfrm>
            <a:off x="905256" y="3364991"/>
            <a:ext cx="5084064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6"/>
            </p:custDataLst>
          </p:nvPr>
        </p:nvSpPr>
        <p:spPr>
          <a:xfrm>
            <a:off x="905256" y="3493008"/>
            <a:ext cx="420624" cy="420624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2F6B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7"/>
            </p:custDataLst>
          </p:nvPr>
        </p:nvSpPr>
        <p:spPr>
          <a:xfrm>
            <a:off x="905256" y="34930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8"/>
            </p:custDataLst>
          </p:nvPr>
        </p:nvSpPr>
        <p:spPr>
          <a:xfrm>
            <a:off x="1472184" y="3465576"/>
            <a:ext cx="451713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02. 本地敏感识别模型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9"/>
            </p:custDataLst>
          </p:nvPr>
        </p:nvSpPr>
        <p:spPr>
          <a:xfrm>
            <a:off x="1472184" y="3858768"/>
            <a:ext cx="45171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实时识别敏感片段、内容类别及潜在风险位置</a:t>
            </a:r>
            <a:endParaRPr sz="14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>
            <p:custDataLst>
              <p:tags r:id="rId10"/>
            </p:custDataLst>
          </p:nvPr>
        </p:nvSpPr>
        <p:spPr>
          <a:xfrm>
            <a:off x="905256" y="4279392"/>
            <a:ext cx="5084064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Rounded Rectangle 25"/>
          <p:cNvSpPr/>
          <p:nvPr>
            <p:custDataLst>
              <p:tags r:id="rId11"/>
            </p:custDataLst>
          </p:nvPr>
        </p:nvSpPr>
        <p:spPr>
          <a:xfrm>
            <a:off x="905256" y="4407408"/>
            <a:ext cx="420624" cy="420624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5CFF">
                  <a:alpha val="100000"/>
                </a:srgbClr>
              </a:gs>
              <a:gs pos="100000">
                <a:srgbClr val="B1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12"/>
            </p:custDataLst>
          </p:nvPr>
        </p:nvSpPr>
        <p:spPr>
          <a:xfrm>
            <a:off x="905256" y="440740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13"/>
            </p:custDataLst>
          </p:nvPr>
        </p:nvSpPr>
        <p:spPr>
          <a:xfrm>
            <a:off x="1472184" y="4379976"/>
            <a:ext cx="4517136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03. 动作决策与安全校验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14"/>
            </p:custDataLst>
          </p:nvPr>
        </p:nvSpPr>
        <p:spPr>
          <a:xfrm>
            <a:off x="1472184" y="4773168"/>
            <a:ext cx="45171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决策交互动作，执行严格的安全过滤与格式转换</a:t>
            </a:r>
            <a:endParaRPr sz="14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672705" y="1718945"/>
            <a:ext cx="4016375" cy="3566160"/>
          </a:xfrm>
          <a:prstGeom prst="roundRect">
            <a:avLst>
              <a:gd name="adj" fmla="val 7692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91755" y="1718945"/>
            <a:ext cx="3997325" cy="3566160"/>
          </a:xfrm>
          <a:prstGeom prst="roundRect">
            <a:avLst>
              <a:gd name="adj" fmla="val 7692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71816" y="5264200"/>
            <a:ext cx="3742913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71816" y="1734616"/>
            <a:ext cx="3742913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46516" y="1993391"/>
            <a:ext cx="3486881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外部服务层（External）</a:t>
            </a:r>
            <a:endParaRPr sz="18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46516" y="2504821"/>
            <a:ext cx="348688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云端生成模型 API</a:t>
            </a:r>
            <a:endParaRPr sz="18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946516" y="2944368"/>
            <a:ext cx="3486881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接收经过脱敏处理的安全上下文，基于大模型能力生成回答内容。 仅处理非敏感、非隐私的通用信息</a:t>
            </a:r>
            <a:endParaRPr sz="15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02920" y="5504688"/>
            <a:ext cx="11186129" cy="786384"/>
          </a:xfrm>
          <a:prstGeom prst="roundRect">
            <a:avLst>
              <a:gd name="adj" fmla="val 32558"/>
            </a:avLst>
          </a:prstGeom>
          <a:solidFill>
            <a:srgbClr val="EAF0FF">
              <a:alpha val="86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2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" y="5504688"/>
            <a:ext cx="11186129" cy="786384"/>
          </a:xfrm>
          <a:prstGeom prst="roundRect">
            <a:avLst>
              <a:gd name="adj" fmla="val 32558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8952" y="6270040"/>
            <a:ext cx="10674065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8952" y="5520232"/>
            <a:ext cx="10674065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1208" y="5504688"/>
            <a:ext cx="12801" cy="786384"/>
          </a:xfrm>
          <a:prstGeom prst="rect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50000">
                <a:srgbClr val="7C5CFF">
                  <a:alpha val="55000"/>
                </a:srgbClr>
              </a:gs>
              <a:gs pos="100000">
                <a:srgbClr val="7C5CFF">
                  <a:alpha val="6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504688"/>
            <a:ext cx="10472897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2200"/>
              </a:lnSpc>
            </a:pPr>
            <a:r>
              <a:rPr sz="1450" b="1">
                <a:solidFill>
                  <a:srgbClr val="0412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核心原则：</a:t>
            </a:r>
            <a:r>
              <a:rPr sz="14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用户隐私数据与原文映射完全保留在本地设备，仅将脱敏后的语义信息传输至云端，生成回答需经本地复检后才进入对话。</a:t>
            </a:r>
            <a:endParaRPr sz="14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上箭头 45"/>
          <p:cNvSpPr/>
          <p:nvPr/>
        </p:nvSpPr>
        <p:spPr>
          <a:xfrm rot="5400000">
            <a:off x="6425565" y="2728595"/>
            <a:ext cx="539750" cy="1687195"/>
          </a:xfrm>
          <a:prstGeom prst="upArrow">
            <a:avLst>
              <a:gd name="adj1" fmla="val 51923"/>
              <a:gd name="adj2" fmla="val 91235"/>
            </a:avLst>
          </a:prstGeom>
          <a:gradFill rotWithShape="1">
            <a:gsLst>
              <a:gs pos="0">
                <a:srgbClr val="DAD7FF"/>
              </a:gs>
              <a:gs pos="57000">
                <a:srgbClr val="A3A8FA">
                  <a:alpha val="100000"/>
                </a:srgbClr>
              </a:gs>
              <a:gs pos="100000">
                <a:srgbClr val="7C8BFF"/>
              </a:gs>
            </a:gsLst>
            <a:lin ang="15000000" scaled="0"/>
          </a:gradFill>
          <a:ln>
            <a:noFill/>
          </a:ln>
          <a:effectLst>
            <a:outerShdw blurRad="91440" dist="27432" dir="5400000" rotWithShape="0">
              <a:srgbClr val="0B1220">
                <a:alpha val="32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7" name="TextBox 29"/>
          <p:cNvSpPr txBox="1"/>
          <p:nvPr/>
        </p:nvSpPr>
        <p:spPr>
          <a:xfrm>
            <a:off x="5755640" y="2929890"/>
            <a:ext cx="1783715" cy="5118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93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脱敏后上下文传输</a:t>
            </a:r>
            <a:endParaRPr sz="1600" b="1">
              <a:solidFill>
                <a:srgbClr val="8A93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7236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1384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系统设计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本地小型模型方案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86129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专门识别敏感片段与类别</a:t>
            </a:r>
            <a:endParaRPr sz="18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6288328"/>
            <a:ext cx="10637489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734616"/>
            <a:ext cx="10637489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34093" y="2212848"/>
            <a:ext cx="12801" cy="3602736"/>
          </a:xfrm>
          <a:prstGeom prst="rect">
            <a:avLst/>
          </a:prstGeom>
          <a:gradFill rotWithShape="1">
            <a:gsLst>
              <a:gs pos="0">
                <a:srgbClr val="2F6BFF">
                  <a:alpha val="75000"/>
                </a:srgbClr>
              </a:gs>
              <a:gs pos="50000">
                <a:srgbClr val="7C5CFF">
                  <a:alpha val="55000"/>
                </a:srgbClr>
              </a:gs>
              <a:gs pos="100000">
                <a:srgbClr val="7C5CFF">
                  <a:alpha val="1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65267" y="2212848"/>
            <a:ext cx="12801" cy="3602736"/>
          </a:xfrm>
          <a:prstGeom prst="rect">
            <a:avLst/>
          </a:prstGeom>
          <a:gradFill rotWithShape="1">
            <a:gsLst>
              <a:gs pos="0">
                <a:srgbClr val="2F6BFF">
                  <a:alpha val="75000"/>
                </a:srgbClr>
              </a:gs>
              <a:gs pos="50000">
                <a:srgbClr val="7C5CFF">
                  <a:alpha val="55000"/>
                </a:srgbClr>
              </a:gs>
              <a:gs pos="100000">
                <a:srgbClr val="7C5CFF">
                  <a:alpha val="1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2139696"/>
            <a:ext cx="530352" cy="530352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13969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20" y="2889504"/>
            <a:ext cx="2716773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基座与微调</a:t>
            </a:r>
            <a:endParaRPr sz="23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3328415"/>
            <a:ext cx="2716773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Qwen3-1.7B 轻量化基座构建，采用 LoRA 或 QLoRA 技术进行垂直领域的高效微调，降低训练成本。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4553712"/>
            <a:ext cx="2716773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针对敏感内容识别场景定制优化，适配边缘端部署的显存与算力需求。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0120" y="5833872"/>
            <a:ext cx="2103120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833872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示例路线</a:t>
            </a:r>
            <a:endParaRPr sz="1350" b="0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91293" y="2139696"/>
            <a:ext cx="530352" cy="530352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2F6B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1293" y="213969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91293" y="2889504"/>
            <a:ext cx="2716773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训练与运行</a:t>
            </a:r>
            <a:endParaRPr sz="23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91293" y="3328415"/>
            <a:ext cx="2716773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利用云端 GPU 集群完成模型训练与参数迭代，确保算力资源的高效利用与模型收敛速度。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91293" y="4553712"/>
            <a:ext cx="2716773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本地端仅负责推理运算，严格冻结提示词模板与输出格式，保障毫秒级响应速度。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591293" y="5833872"/>
            <a:ext cx="2103120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3EEFF">
                  <a:alpha val="100000"/>
                </a:srgbClr>
              </a:gs>
              <a:gs pos="100000">
                <a:srgbClr val="FBEF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1293" y="5833872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训练-推理分离</a:t>
            </a:r>
            <a:endParaRPr sz="1350" b="0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222467" y="2139696"/>
            <a:ext cx="530352" cy="530352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5CFF">
                  <a:alpha val="100000"/>
                </a:srgbClr>
              </a:gs>
              <a:gs pos="100000">
                <a:srgbClr val="B1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2467" y="213969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2467" y="2889504"/>
            <a:ext cx="2716773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选型依据</a:t>
            </a:r>
            <a:endParaRPr sz="23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2467" y="3328415"/>
            <a:ext cx="2716773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重点评估中文语境下的敏感内容漏检率与误删率，兼顾识别的精准度与召回率，避免误伤。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22467" y="4553712"/>
            <a:ext cx="2716773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综合考量原文定位准确性、推理延迟以及硬件资源占用成本，平衡性能与部署门槛。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222467" y="5833872"/>
            <a:ext cx="2103120" cy="40233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EFFF">
                  <a:alpha val="100000"/>
                </a:srgbClr>
              </a:gs>
              <a:gs pos="100000">
                <a:srgbClr val="EAF0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2467" y="5833872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多维度对比</a:t>
            </a:r>
            <a:endParaRPr sz="1350" b="0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方案假设 · 实际基座、训练记录及权重待补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7236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1384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系统设计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识别结果必须能回到原文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noFill/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6288328"/>
            <a:ext cx="10637489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734616"/>
            <a:ext cx="10637489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32104" y="2103120"/>
          <a:ext cx="10527761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4023360"/>
                <a:gridCol w="4218401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500" b="1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字段</a:t>
                      </a:r>
                      <a:endParaRPr sz="1500" b="1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12700" cap="flat" cmpd="sng" algn="ctr">
                      <a:solidFill>
                        <a:srgbClr val="C3D3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500" b="1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1500" b="1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12700" cap="flat" cmpd="sng" algn="ctr">
                      <a:solidFill>
                        <a:srgbClr val="C3D3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500" b="1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校验要求</a:t>
                      </a:r>
                      <a:endParaRPr sz="1500" b="1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12700" cap="flat" cmpd="sng" algn="ctr">
                      <a:solidFill>
                        <a:srgbClr val="C3D3FF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0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text</a:t>
                      </a:r>
                      <a:endParaRPr sz="160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5A64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原文中的敏感片段</a:t>
                      </a:r>
                      <a:endParaRPr sz="1600" b="0">
                        <a:solidFill>
                          <a:srgbClr val="5A647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必须能在原文中定位，字符级精确匹配</a:t>
                      </a:r>
                      <a:endParaRPr sz="1600" b="0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0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start / end</a:t>
                      </a:r>
                      <a:endParaRPr sz="160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5A64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片段在原文中的起止位置索引</a:t>
                      </a:r>
                      <a:endParaRPr sz="1600" b="0">
                        <a:solidFill>
                          <a:srgbClr val="5A647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根据起止位置切出的原文切片必须与 text 字段内容完全一致</a:t>
                      </a:r>
                      <a:endParaRPr sz="1600" b="0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0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category</a:t>
                      </a:r>
                      <a:endParaRPr sz="160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5A64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经确认的敏感类别标识</a:t>
                      </a:r>
                      <a:endParaRPr sz="1600" b="0">
                        <a:solidFill>
                          <a:srgbClr val="5A647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必须属于系统预设的冻结类别清单，不允许自定义或模糊分类</a:t>
                      </a:r>
                      <a:endParaRPr sz="1600" b="0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0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evidence</a:t>
                      </a:r>
                      <a:endParaRPr sz="160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5A64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判定依据或来源位置描述</a:t>
                      </a:r>
                      <a:endParaRPr sz="1600" b="0">
                        <a:solidFill>
                          <a:srgbClr val="5A647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内容必须真实可追溯，严禁包含虚构事实或逻辑错误的解释</a:t>
                      </a:r>
                      <a:endParaRPr sz="1600" b="0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noFill/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32104" y="5687568"/>
            <a:ext cx="10527761" cy="54864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" y="5687568"/>
            <a:ext cx="12801" cy="548640"/>
          </a:xfrm>
          <a:prstGeom prst="rect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50000">
                <a:srgbClr val="22D3EE">
                  <a:alpha val="55000"/>
                </a:srgbClr>
              </a:gs>
              <a:gs pos="100000">
                <a:srgbClr val="22D3EE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5687568"/>
            <a:ext cx="994254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412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格式错误、位置歧义或超长截断时暂停本轮，需人工介入校准后再继续</a:t>
            </a:r>
            <a:endParaRPr sz="1500" b="0">
              <a:solidFill>
                <a:srgbClr val="04125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7236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1384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核心机制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模型选择六类处理动作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86129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模型负责选动作，安全检查负责放行或暂停</a:t>
            </a:r>
            <a:endParaRPr sz="18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6288328"/>
            <a:ext cx="10637489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734616"/>
            <a:ext cx="10637489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1629" y="2121408"/>
            <a:ext cx="12801" cy="3785616"/>
          </a:xfrm>
          <a:prstGeom prst="rect">
            <a:avLst/>
          </a:prstGeom>
          <a:gradFill rotWithShape="1">
            <a:gsLst>
              <a:gs pos="0">
                <a:srgbClr val="2F6BFF">
                  <a:alpha val="75000"/>
                </a:srgbClr>
              </a:gs>
              <a:gs pos="50000">
                <a:srgbClr val="7C5CFF">
                  <a:alpha val="55000"/>
                </a:srgbClr>
              </a:gs>
              <a:gs pos="100000">
                <a:srgbClr val="7C5CFF">
                  <a:alpha val="1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60339" y="2121408"/>
            <a:ext cx="12801" cy="3785616"/>
          </a:xfrm>
          <a:prstGeom prst="rect">
            <a:avLst/>
          </a:prstGeom>
          <a:gradFill rotWithShape="1">
            <a:gsLst>
              <a:gs pos="0">
                <a:srgbClr val="2F6BFF">
                  <a:alpha val="75000"/>
                </a:srgbClr>
              </a:gs>
              <a:gs pos="50000">
                <a:srgbClr val="7C5CFF">
                  <a:alpha val="55000"/>
                </a:srgbClr>
              </a:gs>
              <a:gs pos="100000">
                <a:srgbClr val="7C5CFF">
                  <a:alpha val="1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" y="4014216"/>
            <a:ext cx="10564337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" y="2103120"/>
            <a:ext cx="512064" cy="512064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210312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45336" y="2121408"/>
            <a:ext cx="235710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</a:t>
            </a:r>
            <a:endParaRPr sz="2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45336" y="2505456"/>
            <a:ext cx="235710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DELETE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23544" y="2779776"/>
            <a:ext cx="2960613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识别并移除与当前任务无关的敏感片段，严格遵循数据最小化原则，直接阻断敏感信息的传递与处理。</a:t>
            </a:r>
            <a:endParaRPr sz="15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652253" y="2103120"/>
            <a:ext cx="512064" cy="512064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2F6B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2253" y="210312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74045" y="2121408"/>
            <a:ext cx="235710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本地聚合</a:t>
            </a:r>
            <a:endParaRPr sz="2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74045" y="2505456"/>
            <a:ext cx="235710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LOCAL_AGGREGATE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52253" y="2779776"/>
            <a:ext cx="2960613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在本地端对数据进行统计分析，仅输出经过安全合规检查的聚合结果，避免暴露原始明细数据。</a:t>
            </a:r>
            <a:endParaRPr sz="15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380963" y="2103120"/>
            <a:ext cx="512064" cy="512064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5CFF">
                  <a:alpha val="100000"/>
                </a:srgbClr>
              </a:gs>
              <a:gs pos="100000">
                <a:srgbClr val="B1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0963" y="210312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002755" y="2121408"/>
            <a:ext cx="235710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</a:t>
            </a:r>
            <a:endParaRPr sz="2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02755" y="2505456"/>
            <a:ext cx="235710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GENERALIZE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80963" y="2779776"/>
            <a:ext cx="2960613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主动降低地理位置、时间戳或数值的精度，模糊敏感信息的具体特征，在保证可用性的前提下保护隐私。</a:t>
            </a:r>
            <a:endParaRPr sz="15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3544" y="4398264"/>
            <a:ext cx="512064" cy="512064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43982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545336" y="4416552"/>
            <a:ext cx="235710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代号替换</a:t>
            </a:r>
            <a:endParaRPr sz="2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45336" y="4800600"/>
            <a:ext cx="235710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PSEUDONYMIZE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23544" y="5074920"/>
            <a:ext cx="2960613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使用替代标识符替换真实身份信息，同时保留用户与事件之间的关联关系，支持业务追踪而不泄露隐私。</a:t>
            </a:r>
            <a:endParaRPr sz="15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652253" y="4398264"/>
            <a:ext cx="512064" cy="512064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2F6B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52253" y="43982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274045" y="4416552"/>
            <a:ext cx="235710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</a:t>
            </a:r>
            <a:endParaRPr sz="2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274045" y="4800600"/>
            <a:ext cx="235710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RETAIN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652253" y="5074920"/>
            <a:ext cx="2960613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仅在明确的业务用途、合法身份验证及合规接收方的前提下，保留原始数据进行后续处理或分析。</a:t>
            </a:r>
            <a:endParaRPr sz="15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380963" y="4398264"/>
            <a:ext cx="512064" cy="512064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5CFF">
                  <a:alpha val="100000"/>
                </a:srgbClr>
              </a:gs>
              <a:gs pos="100000">
                <a:srgbClr val="B1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80963" y="439826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45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02755" y="4416552"/>
            <a:ext cx="2357109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暂停</a:t>
            </a:r>
            <a:endParaRPr sz="2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02755" y="4800600"/>
            <a:ext cx="235710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PAUSE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380963" y="5074920"/>
            <a:ext cx="2960613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当检测到模型异常、权限冲突、数据转换不可靠或合规风险时，立即暂停处理流程，防止风险扩散。</a:t>
            </a:r>
            <a:endParaRPr sz="15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7236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1384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核心机制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多轮对话中的保护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6528816" cy="4590288"/>
          </a:xfrm>
          <a:prstGeom prst="roundRect">
            <a:avLst>
              <a:gd name="adj" fmla="val 5976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6528816" cy="4590288"/>
          </a:xfrm>
          <a:prstGeom prst="roundRect">
            <a:avLst>
              <a:gd name="adj" fmla="val 5976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6288328"/>
            <a:ext cx="5980176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734616"/>
            <a:ext cx="5980176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75104"/>
            <a:ext cx="56692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500" b="1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08760" y="1810512"/>
            <a:ext cx="51023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每轮输入都检查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08760" y="2212848"/>
            <a:ext cx="5102352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不仅检查当前输入的新文字与附件，还将合并后的历史对话上下文纳入扫描范围，确保全链路无死角。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68680" y="2866644"/>
            <a:ext cx="5797296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122676"/>
            <a:ext cx="56692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500" b="1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08760" y="2958084"/>
            <a:ext cx="51023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同一实体保持代号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08760" y="3360420"/>
            <a:ext cx="5102352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在多轮交互中保留用户与实体的关联关系，本地代号映射仅在客户端生效，不会随外部提示泄露真实信息。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68680" y="4014216"/>
            <a:ext cx="5797296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270248"/>
            <a:ext cx="56692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500" b="1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08760" y="4105656"/>
            <a:ext cx="51023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成功后才提交历史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08760" y="4507992"/>
            <a:ext cx="5102352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回答内容必须通过安全复检后才会显示并写入对话历史，失败的轮次不会污染已有的对话上下文。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68680" y="5161788"/>
            <a:ext cx="5797296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5417820"/>
            <a:ext cx="56692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500" b="1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08760" y="5253228"/>
            <a:ext cx="51023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清除对话与删除材料分开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08760" y="5655564"/>
            <a:ext cx="5102352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本地删除文件或清空对话记录，不会撤回已经发送到服务器的内容，实现本地存储与云端记录的解耦管理。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178040" y="1719072"/>
            <a:ext cx="4511009" cy="4590288"/>
          </a:xfrm>
          <a:prstGeom prst="roundRect">
            <a:avLst>
              <a:gd name="adj" fmla="val 6081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78040" y="1719072"/>
            <a:ext cx="4511009" cy="4590288"/>
          </a:xfrm>
          <a:prstGeom prst="roundRect">
            <a:avLst>
              <a:gd name="adj" fmla="val 6081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52360" y="6288328"/>
            <a:ext cx="3962369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2360" y="1734616"/>
            <a:ext cx="3962369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07223" y="2048255"/>
            <a:ext cx="420624" cy="420624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07223" y="2048255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55863" y="2011679"/>
            <a:ext cx="326742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Round 01</a:t>
            </a:r>
            <a:endParaRPr sz="155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507223" y="2505456"/>
            <a:ext cx="3852641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输入内容与历史上下文全量安全预检</a:t>
            </a:r>
            <a:endParaRPr sz="15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507223" y="3249168"/>
            <a:ext cx="3852641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07223" y="3578352"/>
            <a:ext cx="420624" cy="420624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2F6B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07223" y="35783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055863" y="3541776"/>
            <a:ext cx="326742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Round 02</a:t>
            </a:r>
            <a:endParaRPr sz="155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507223" y="4035552"/>
            <a:ext cx="3852641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敏感实体映射保持输出内容复检</a:t>
            </a:r>
            <a:endParaRPr sz="15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507223" y="4779264"/>
            <a:ext cx="3852641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507223" y="5108448"/>
            <a:ext cx="420624" cy="420624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5CFF">
                  <a:alpha val="100000"/>
                </a:srgbClr>
              </a:gs>
              <a:gs pos="100000">
                <a:srgbClr val="B1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07223" y="510844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05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055863" y="5071872"/>
            <a:ext cx="326742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Round 03</a:t>
            </a:r>
            <a:endParaRPr sz="155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507223" y="5565648"/>
            <a:ext cx="3852641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历史记录固化归档本地缓存与云端同步</a:t>
            </a:r>
            <a:endParaRPr sz="15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7236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1384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核心机制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安全边界与外部 API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6455664" cy="4590288"/>
          </a:xfrm>
          <a:prstGeom prst="roundRect">
            <a:avLst>
              <a:gd name="adj" fmla="val 5976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6455664" cy="4590288"/>
          </a:xfrm>
          <a:prstGeom prst="roundRect">
            <a:avLst>
              <a:gd name="adj" fmla="val 5976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6288328"/>
            <a:ext cx="5907024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734616"/>
            <a:ext cx="5907024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048255"/>
            <a:ext cx="475488" cy="475488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2203704"/>
            <a:ext cx="118872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0472" y="2029967"/>
            <a:ext cx="506577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输入边界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90472" y="2487168"/>
            <a:ext cx="506577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检查真正发送的完整请求，包含处理后历史，确保请求参数合规、无恶意注入，从源头阻断非法调用风险。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8680" y="3249168"/>
            <a:ext cx="5724144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3578352"/>
            <a:ext cx="475488" cy="475488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2F6B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1560" y="3733800"/>
            <a:ext cx="118872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90472" y="3560064"/>
            <a:ext cx="506577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展示边界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90472" y="4017264"/>
            <a:ext cx="506577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回答复检通过后再显示和保存，严格过滤敏感信息与违规内容，防止不当信息泄露，保障输出安全可控。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68680" y="4779264"/>
            <a:ext cx="5724144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5108448"/>
            <a:ext cx="475488" cy="475488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5CFF">
                  <a:alpha val="100000"/>
                </a:srgbClr>
              </a:gs>
              <a:gs pos="100000">
                <a:srgbClr val="B1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5263896"/>
            <a:ext cx="118872" cy="155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90472" y="5090160"/>
            <a:ext cx="506577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工具边界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90472" y="5547360"/>
            <a:ext cx="506577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工具参数另行检查，真实外部工具集成待验收，严格校验第三方工具调用权限与参数完整性，避免越权操作。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104888" y="1719072"/>
            <a:ext cx="4584161" cy="4590288"/>
          </a:xfrm>
          <a:prstGeom prst="roundRect">
            <a:avLst>
              <a:gd name="adj" fmla="val 5984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104888" y="1719072"/>
            <a:ext cx="4584161" cy="4590288"/>
          </a:xfrm>
          <a:prstGeom prst="roundRect">
            <a:avLst>
              <a:gd name="adj" fmla="val 5984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79208" y="6288328"/>
            <a:ext cx="4035521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79208" y="1734616"/>
            <a:ext cx="4035521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0648" y="2029967"/>
            <a:ext cx="3852641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接入状态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70648" y="2706624"/>
            <a:ext cx="2609057" cy="9006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兼容客户端已有</a:t>
            </a:r>
            <a:endParaRPr sz="1550" b="0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0097993" y="2964942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2F6BFF">
              <a:alpha val="16000"/>
            </a:srgbClr>
          </a:solidFill>
          <a:ln w="12700">
            <a:solidFill>
              <a:srgbClr val="2F6BFF">
                <a:alpha val="55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97993" y="2964942"/>
            <a:ext cx="122529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就绪</a:t>
            </a:r>
            <a:endParaRPr sz="1250" b="1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470648" y="3607308"/>
            <a:ext cx="3852641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0648" y="3607308"/>
            <a:ext cx="2609057" cy="9006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真实连接验收待补</a:t>
            </a:r>
            <a:endParaRPr sz="1550" b="0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0097993" y="3865626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55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7993" y="3865626"/>
            <a:ext cx="122529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待验收</a:t>
            </a:r>
            <a:endParaRPr sz="12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470648" y="4507992"/>
            <a:ext cx="3852641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70648" y="4507992"/>
            <a:ext cx="2609057" cy="9006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密钥仅在本机配置</a:t>
            </a:r>
            <a:endParaRPr sz="1550" b="0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0097993" y="4766309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7C5CFF">
              <a:alpha val="16000"/>
            </a:srgbClr>
          </a:solidFill>
          <a:ln w="12700">
            <a:solidFill>
              <a:srgbClr val="7C5CFF">
                <a:alpha val="55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97993" y="4766309"/>
            <a:ext cx="122529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C5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</a:t>
            </a:r>
            <a:endParaRPr sz="1250" b="1">
              <a:solidFill>
                <a:srgbClr val="7C5C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7470648" y="5408676"/>
            <a:ext cx="3852641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70648" y="5408676"/>
            <a:ext cx="2609057" cy="9006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演示回复保留离线标识</a:t>
            </a:r>
            <a:endParaRPr sz="1550" b="0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0097993" y="5666994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8A93A6">
              <a:alpha val="16000"/>
            </a:srgbClr>
          </a:solidFill>
          <a:ln w="12700">
            <a:solidFill>
              <a:srgbClr val="8A93A6">
                <a:alpha val="55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97993" y="5666994"/>
            <a:ext cx="122529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演示模式</a:t>
            </a:r>
            <a:endParaRPr sz="1250" b="1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8760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2908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验证与数据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数据与人工复核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11186129" cy="932688"/>
          </a:xfrm>
          <a:prstGeom prst="roundRect">
            <a:avLst>
              <a:gd name="adj" fmla="val 29411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55000">
                <a:srgbClr val="7C5CFF">
                  <a:alpha val="100000"/>
                </a:srgbClr>
              </a:gs>
              <a:gs pos="100000">
                <a:srgbClr val="B1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237744" dist="64008" dir="5400000" rotWithShape="0">
              <a:srgbClr val="1B2C63">
                <a:alpha val="42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19072"/>
            <a:ext cx="11186129" cy="9326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人独立复核 + 1 人裁决</a:t>
            </a:r>
            <a:endParaRPr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2798064"/>
            <a:ext cx="5519912" cy="3511296"/>
          </a:xfrm>
          <a:prstGeom prst="roundRect">
            <a:avLst>
              <a:gd name="adj" fmla="val 7812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798064"/>
            <a:ext cx="5519912" cy="3511296"/>
          </a:xfrm>
          <a:prstGeom prst="roundRect">
            <a:avLst>
              <a:gd name="adj" fmla="val 7812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6288328"/>
            <a:ext cx="4971272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813608"/>
            <a:ext cx="4971272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962656"/>
            <a:ext cx="47883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标注实体与处理必要性</a:t>
            </a:r>
            <a:endParaRPr sz="2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3346704"/>
            <a:ext cx="4788392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首先确认文本中的敏感片段与关键实体，再依据业务规范判断当前任务允许的处理方式。重点核查标注的准确性、完整性及合规性，确保数据处理流程符合安全要求。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8680" y="4553712"/>
            <a:ext cx="4788392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18304"/>
            <a:ext cx="47883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保留原始意见与裁决依据</a:t>
            </a:r>
            <a:endParaRPr sz="2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4788392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全程记录实体位置、任务质量评分；重点排查漏检、误删等异常标注情况，并严格核查数据外发记录，确保每一步操作可追溯、无遗漏。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69136" y="2798064"/>
            <a:ext cx="5519912" cy="3511296"/>
          </a:xfrm>
          <a:prstGeom prst="roundRect">
            <a:avLst>
              <a:gd name="adj" fmla="val 7812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9136" y="2798064"/>
            <a:ext cx="5519912" cy="3511296"/>
          </a:xfrm>
          <a:prstGeom prst="roundRect">
            <a:avLst>
              <a:gd name="adj" fmla="val 7812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3456" y="6288328"/>
            <a:ext cx="4971272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3456" y="2813608"/>
            <a:ext cx="4971272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4896" y="3035808"/>
            <a:ext cx="478839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按源材料严格划分数据</a:t>
            </a:r>
            <a:endParaRPr sz="2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34896" y="3456432"/>
            <a:ext cx="4788392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严格执行训练集、验证集与测试集的物理隔离机制，确保各数据集相互独立。同类近似改写内容严禁跨集合分布，杜绝数据泄露风险。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34896" y="4626864"/>
            <a:ext cx="1388866" cy="1024128"/>
          </a:xfrm>
          <a:prstGeom prst="roundRect">
            <a:avLst>
              <a:gd name="adj" fmla="val 19642"/>
            </a:avLst>
          </a:prstGeom>
          <a:gradFill rotWithShape="1">
            <a:gsLst>
              <a:gs pos="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18872" dist="36576" dir="5400000" rotWithShape="0">
              <a:srgbClr val="1B2C63">
                <a:alpha val="24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4896" y="4846320"/>
            <a:ext cx="138886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412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训练集</a:t>
            </a:r>
            <a:endParaRPr sz="1900" b="1">
              <a:solidFill>
                <a:srgbClr val="04125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34896" y="5266944"/>
            <a:ext cx="13888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模型学习</a:t>
            </a:r>
            <a:endParaRPr sz="14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34659" y="4626864"/>
            <a:ext cx="1388866" cy="1024128"/>
          </a:xfrm>
          <a:prstGeom prst="roundRect">
            <a:avLst>
              <a:gd name="adj" fmla="val 19642"/>
            </a:avLst>
          </a:prstGeom>
          <a:gradFill rotWithShape="1">
            <a:gsLst>
              <a:gs pos="0">
                <a:srgbClr val="F3EEFF">
                  <a:alpha val="100000"/>
                </a:srgbClr>
              </a:gs>
              <a:gs pos="100000">
                <a:srgbClr val="FBEF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18872" dist="36576" dir="5400000" rotWithShape="0">
              <a:srgbClr val="1B2C63">
                <a:alpha val="24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4659" y="4846320"/>
            <a:ext cx="138886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412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验证集</a:t>
            </a:r>
            <a:endParaRPr sz="1900" b="1">
              <a:solidFill>
                <a:srgbClr val="04125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34659" y="5266944"/>
            <a:ext cx="13888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参数调优</a:t>
            </a:r>
            <a:endParaRPr sz="14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23763" y="4626864"/>
            <a:ext cx="310896" cy="1024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17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934422" y="4626864"/>
            <a:ext cx="1388866" cy="1024128"/>
          </a:xfrm>
          <a:prstGeom prst="roundRect">
            <a:avLst>
              <a:gd name="adj" fmla="val 19642"/>
            </a:avLst>
          </a:prstGeom>
          <a:gradFill rotWithShape="1">
            <a:gsLst>
              <a:gs pos="0">
                <a:srgbClr val="FBEFFF">
                  <a:alpha val="100000"/>
                </a:srgbClr>
              </a:gs>
              <a:gs pos="100000">
                <a:srgbClr val="EAF0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18872" dist="36576" dir="5400000" rotWithShape="0">
              <a:srgbClr val="1B2C63">
                <a:alpha val="24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34422" y="4846320"/>
            <a:ext cx="1388866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412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测试集</a:t>
            </a:r>
            <a:endParaRPr sz="1900" b="1">
              <a:solidFill>
                <a:srgbClr val="04125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934422" y="5266944"/>
            <a:ext cx="13888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效果评估</a:t>
            </a:r>
            <a:endParaRPr sz="14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623526" y="4626864"/>
            <a:ext cx="310896" cy="1024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17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复核流程确保标注质量与数据完整性，从源头把控数据安全与可用性。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8760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2908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验证与数据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实验比较与评价方法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6288328"/>
            <a:ext cx="10637489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734616"/>
            <a:ext cx="10637489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32104" y="2103120"/>
          <a:ext cx="10527761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7876001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500" b="1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评价维度</a:t>
                      </a:r>
                      <a:endParaRPr sz="1500" b="1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12700" cap="flat" cmpd="sng" algn="ctr">
                      <a:solidFill>
                        <a:srgbClr val="C3D3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500" b="1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需要回答的核心问题</a:t>
                      </a:r>
                      <a:endParaRPr sz="1500" b="1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12700" cap="flat" cmpd="sng" algn="ctr">
                      <a:solidFill>
                        <a:srgbClr val="C3D3FF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● 实体识别</a:t>
                      </a:r>
                      <a:endParaRPr sz="165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0">
                          <a:solidFill>
                            <a:srgbClr val="5A64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判断实体类别和原文位置是否同时正确，重点分析哪些类别容易被模型漏检或误判。</a:t>
                      </a:r>
                      <a:endParaRPr sz="1650" b="0">
                        <a:solidFill>
                          <a:srgbClr val="5A647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● 信息暴露</a:t>
                      </a:r>
                      <a:endParaRPr sz="165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0">
                          <a:solidFill>
                            <a:srgbClr val="5A64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验证敏感信息是否被严格隔离，确认不允许披露的内容是否到达输入层、展示层或工具边界。</a:t>
                      </a:r>
                      <a:endParaRPr sz="1650" b="0">
                        <a:solidFill>
                          <a:srgbClr val="5A647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● 任务可用性</a:t>
                      </a:r>
                      <a:endParaRPr sz="165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0">
                          <a:solidFill>
                            <a:srgbClr val="5A64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评估生成的纪要、统计报表与对外介绍内容，是否满足业务预设的完成标准与可读性要求。</a:t>
                      </a:r>
                      <a:endParaRPr sz="1650" b="0">
                        <a:solidFill>
                          <a:srgbClr val="5A647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● 运行成本</a:t>
                      </a:r>
                      <a:endParaRPr sz="165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solidFill>
                      <a:srgbClr val="F7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0">
                          <a:solidFill>
                            <a:srgbClr val="5A64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监测本地隐私保护处理延迟、端到端响应延迟，以及显存占用峰值与服务冷启动时间。</a:t>
                      </a:r>
                      <a:endParaRPr sz="1650" b="0">
                        <a:solidFill>
                          <a:srgbClr val="5A647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noFill/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32104" y="5760720"/>
            <a:ext cx="10527761" cy="54864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" y="5760720"/>
            <a:ext cx="12801" cy="548640"/>
          </a:xfrm>
          <a:prstGeom prst="rect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50000">
                <a:srgbClr val="22D3EE">
                  <a:alpha val="55000"/>
                </a:srgbClr>
              </a:gs>
              <a:gs pos="100000">
                <a:srgbClr val="22D3EE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5760720"/>
            <a:ext cx="9942545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00"/>
              </a:lnSpc>
            </a:pPr>
            <a:r>
              <a:rPr sz="1550" b="1">
                <a:solidFill>
                  <a:srgbClr val="0412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核心原则：</a:t>
            </a:r>
            <a:r>
              <a:rPr sz="155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必须使用同一批案例进行严格的配对比较，详细记录样本分母与失败案例的归因分析。</a:t>
            </a:r>
            <a:endParaRPr sz="155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8760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2908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验证与数据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现有原型的验证记录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3631173" cy="2523744"/>
          </a:xfrm>
          <a:prstGeom prst="roundRect">
            <a:avLst>
              <a:gd name="adj" fmla="val 10869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3631173" cy="2523744"/>
          </a:xfrm>
          <a:prstGeom prst="roundRect">
            <a:avLst>
              <a:gd name="adj" fmla="val 10869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21784"/>
            <a:ext cx="3082533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734616"/>
            <a:ext cx="3082533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1993391"/>
            <a:ext cx="2826501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8600"/>
              </a:lnSpc>
            </a:pPr>
            <a:r>
              <a:rPr sz="7600" b="1">
                <a:gradFill rotWithShape="1">
                  <a:gsLst>
                    <a:gs pos="0">
                      <a:srgbClr val="2F6BFF"/>
                    </a:gs>
                    <a:gs pos="100000">
                      <a:srgbClr val="7C5CFF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</a:t>
            </a:r>
            <a:endParaRPr sz="7600" b="1">
              <a:gradFill rotWithShape="1">
                <a:gsLst>
                  <a:gs pos="0">
                    <a:srgbClr val="2F6BFF"/>
                  </a:gs>
                  <a:gs pos="100000">
                    <a:srgbClr val="7C5CFF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05256" y="3200400"/>
            <a:ext cx="1371600" cy="18288"/>
          </a:xfrm>
          <a:prstGeom prst="rect">
            <a:avLst/>
          </a:prstGeom>
          <a:gradFill rotWithShape="1">
            <a:gsLst>
              <a:gs pos="0">
                <a:srgbClr val="2F6BFF">
                  <a:alpha val="95000"/>
                </a:srgbClr>
              </a:gs>
              <a:gs pos="55000">
                <a:srgbClr val="22D3EE">
                  <a:alpha val="60000"/>
                </a:srgbClr>
              </a:gs>
              <a:gs pos="100000">
                <a:srgbClr val="22D3EE">
                  <a:alpha val="45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401568"/>
            <a:ext cx="2826501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回归检查</a:t>
            </a:r>
            <a:endParaRPr sz="1800" b="0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256" y="3803904"/>
            <a:ext cx="282650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项已通过</a:t>
            </a:r>
            <a:endParaRPr sz="145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80397" y="1719072"/>
            <a:ext cx="3631173" cy="2523744"/>
          </a:xfrm>
          <a:prstGeom prst="roundRect">
            <a:avLst>
              <a:gd name="adj" fmla="val 10869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80397" y="1719072"/>
            <a:ext cx="3631173" cy="2523744"/>
          </a:xfrm>
          <a:prstGeom prst="roundRect">
            <a:avLst>
              <a:gd name="adj" fmla="val 10869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4717" y="4221784"/>
            <a:ext cx="3082533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54717" y="1734616"/>
            <a:ext cx="3082533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2733" y="1993391"/>
            <a:ext cx="2826501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8600"/>
              </a:lnSpc>
            </a:pPr>
            <a:r>
              <a:rPr sz="7600" b="1">
                <a:gradFill rotWithShape="1">
                  <a:gsLst>
                    <a:gs pos="0">
                      <a:srgbClr val="2F6BFF"/>
                    </a:gs>
                    <a:gs pos="100000">
                      <a:srgbClr val="7C5CFF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7600" b="1">
              <a:gradFill rotWithShape="1">
                <a:gsLst>
                  <a:gs pos="0">
                    <a:srgbClr val="2F6BFF"/>
                  </a:gs>
                  <a:gs pos="100000">
                    <a:srgbClr val="7C5CFF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682733" y="3200400"/>
            <a:ext cx="1371600" cy="18288"/>
          </a:xfrm>
          <a:prstGeom prst="rect">
            <a:avLst/>
          </a:prstGeom>
          <a:gradFill rotWithShape="1">
            <a:gsLst>
              <a:gs pos="0">
                <a:srgbClr val="2F6BFF">
                  <a:alpha val="95000"/>
                </a:srgbClr>
              </a:gs>
              <a:gs pos="55000">
                <a:srgbClr val="22D3EE">
                  <a:alpha val="60000"/>
                </a:srgbClr>
              </a:gs>
              <a:gs pos="100000">
                <a:srgbClr val="22D3EE">
                  <a:alpha val="45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2733" y="3401568"/>
            <a:ext cx="2826501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子检查</a:t>
            </a:r>
            <a:endParaRPr sz="1800" b="0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82733" y="3803904"/>
            <a:ext cx="282650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项覆盖</a:t>
            </a:r>
            <a:endParaRPr sz="145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57875" y="1719072"/>
            <a:ext cx="3631173" cy="2523744"/>
          </a:xfrm>
          <a:prstGeom prst="roundRect">
            <a:avLst>
              <a:gd name="adj" fmla="val 10869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57875" y="1719072"/>
            <a:ext cx="3631173" cy="2523744"/>
          </a:xfrm>
          <a:prstGeom prst="roundRect">
            <a:avLst>
              <a:gd name="adj" fmla="val 10869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32195" y="4221784"/>
            <a:ext cx="3082533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32195" y="1734616"/>
            <a:ext cx="3082533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0211" y="1993391"/>
            <a:ext cx="2826501" cy="11338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8600"/>
              </a:lnSpc>
            </a:pPr>
            <a:r>
              <a:rPr sz="7600" b="1">
                <a:gradFill rotWithShape="1">
                  <a:gsLst>
                    <a:gs pos="0">
                      <a:srgbClr val="2F6BFF"/>
                    </a:gs>
                    <a:gs pos="100000">
                      <a:srgbClr val="7C5CFF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7600" b="1">
              <a:gradFill rotWithShape="1">
                <a:gsLst>
                  <a:gs pos="0">
                    <a:srgbClr val="2F6BFF"/>
                  </a:gs>
                  <a:gs pos="100000">
                    <a:srgbClr val="7C5CFF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460211" y="3200400"/>
            <a:ext cx="1371600" cy="18288"/>
          </a:xfrm>
          <a:prstGeom prst="rect">
            <a:avLst/>
          </a:prstGeom>
          <a:gradFill rotWithShape="1">
            <a:gsLst>
              <a:gs pos="0">
                <a:srgbClr val="2F6BFF">
                  <a:alpha val="95000"/>
                </a:srgbClr>
              </a:gs>
              <a:gs pos="55000">
                <a:srgbClr val="22D3EE">
                  <a:alpha val="60000"/>
                </a:srgbClr>
              </a:gs>
              <a:gs pos="100000">
                <a:srgbClr val="22D3EE">
                  <a:alpha val="45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0211" y="3401568"/>
            <a:ext cx="2826501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冒烟检查</a:t>
            </a:r>
            <a:endParaRPr sz="1800" b="0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60211" y="3803904"/>
            <a:ext cx="282650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项通过</a:t>
            </a:r>
            <a:endParaRPr sz="145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02920" y="4389120"/>
            <a:ext cx="11186129" cy="1920240"/>
          </a:xfrm>
          <a:prstGeom prst="roundRect">
            <a:avLst>
              <a:gd name="adj" fmla="val 14285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4389120"/>
            <a:ext cx="11186129" cy="1920240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6288328"/>
            <a:ext cx="10637489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404664"/>
            <a:ext cx="10637489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7492" y="4681728"/>
            <a:ext cx="12801" cy="1335024"/>
          </a:xfrm>
          <a:prstGeom prst="rect">
            <a:avLst/>
          </a:prstGeom>
          <a:gradFill rotWithShape="1">
            <a:gsLst>
              <a:gs pos="0">
                <a:srgbClr val="22D3EE">
                  <a:alpha val="100000"/>
                </a:srgbClr>
              </a:gs>
              <a:gs pos="50000">
                <a:srgbClr val="7C5CFF">
                  <a:alpha val="55000"/>
                </a:srgbClr>
              </a:gs>
              <a:gs pos="100000">
                <a:srgbClr val="7C5CFF">
                  <a:alpha val="3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70001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动作分类器 Macro-F1 指标表现</a:t>
            </a:r>
            <a:endParaRPr sz="1800" b="0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66560" y="4480559"/>
            <a:ext cx="4392137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7600"/>
              </a:lnSpc>
            </a:pPr>
            <a:r>
              <a:rPr sz="6400" b="1">
                <a:gradFill rotWithShape="1">
                  <a:gsLst>
                    <a:gs pos="0">
                      <a:srgbClr val="2F6BFF"/>
                    </a:gs>
                    <a:gs pos="100000">
                      <a:srgbClr val="7C5CFF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0.9887</a:t>
            </a:r>
            <a:endParaRPr sz="6400" b="1">
              <a:gradFill rotWithShape="1">
                <a:gsLst>
                  <a:gs pos="0">
                    <a:srgbClr val="2F6BFF"/>
                  </a:gs>
                  <a:gs pos="100000">
                    <a:srgbClr val="7C5CFF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已有记录截至 2026年10月13日 · 来自合成弱标签分组验证，尚非目标识别模型的验收结果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8760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2908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验证与数据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目标版本正式评测结果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1186129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填写条件：冻结模型版本、独立测试集与 A/B/C 复核记录</a:t>
            </a:r>
            <a:endParaRPr sz="18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6288328"/>
            <a:ext cx="10637489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1734616"/>
            <a:ext cx="10637489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32104" y="2084831"/>
          <a:ext cx="1052776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0640"/>
                <a:gridCol w="2703560"/>
                <a:gridCol w="2703560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500" b="1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500" b="1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12700" cap="flat" cmpd="sng" algn="ctr">
                      <a:solidFill>
                        <a:srgbClr val="C3D3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sz="1500" b="1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完整方案</a:t>
                      </a:r>
                      <a:endParaRPr sz="1500" b="1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12700" cap="flat" cmpd="sng" algn="ctr">
                      <a:solidFill>
                        <a:srgbClr val="C3D3F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sz="1500" b="1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对照方案</a:t>
                      </a:r>
                      <a:endParaRPr sz="1500" b="1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12700" cap="flat" cmpd="sng" algn="ctr">
                      <a:solidFill>
                        <a:srgbClr val="C3D3FF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实体严格匹配 F1</a:t>
                      </a:r>
                      <a:endParaRPr sz="165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【待补】</a:t>
                      </a:r>
                      <a:endParaRPr sz="1600" b="0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8A93A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【待补】</a:t>
                      </a:r>
                      <a:endParaRPr sz="1600" b="0">
                        <a:solidFill>
                          <a:srgbClr val="8A93A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高风险类别召回率</a:t>
                      </a:r>
                      <a:endParaRPr sz="165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【待补】</a:t>
                      </a:r>
                      <a:endParaRPr sz="1600" b="0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8A93A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【待补】</a:t>
                      </a:r>
                      <a:endParaRPr sz="1600" b="0">
                        <a:solidFill>
                          <a:srgbClr val="8A93A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不允许披露事件 / 适用案例</a:t>
                      </a:r>
                      <a:endParaRPr sz="165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【待补】</a:t>
                      </a:r>
                      <a:endParaRPr sz="1600" b="0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8A93A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【待补】</a:t>
                      </a:r>
                      <a:endParaRPr sz="1600" b="0">
                        <a:solidFill>
                          <a:srgbClr val="8A93A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人工任务完成率 / 误拦率</a:t>
                      </a:r>
                      <a:endParaRPr sz="165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solidFill>
                      <a:srgbClr val="F7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【待补】</a:t>
                      </a:r>
                      <a:endParaRPr sz="1600" b="0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solidFill>
                      <a:srgbClr val="EA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8A93A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【待补】</a:t>
                      </a:r>
                      <a:endParaRPr sz="1600" b="0">
                        <a:solidFill>
                          <a:srgbClr val="8A93A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lnB w="9525" cap="flat" cmpd="sng" algn="ctr">
                      <a:solidFill>
                        <a:srgbClr val="E4E9F5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sz="1650" b="1">
                          <a:solidFill>
                            <a:srgbClr val="0B12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本地保护 P95 / 显存峰值</a:t>
                      </a:r>
                      <a:endParaRPr sz="1650" b="1">
                        <a:solidFill>
                          <a:srgbClr val="0B12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solidFill>
                      <a:srgbClr val="F7F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1F4CD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【待补】</a:t>
                      </a:r>
                      <a:endParaRPr sz="1600" b="0">
                        <a:solidFill>
                          <a:srgbClr val="1F4CD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solidFill>
                      <a:srgbClr val="EA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sz="1600" b="0">
                          <a:solidFill>
                            <a:srgbClr val="8A93A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【待补】</a:t>
                      </a:r>
                      <a:endParaRPr sz="1600" b="0">
                        <a:solidFill>
                          <a:srgbClr val="8A93A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01168" marR="146304" anchor="ctr"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647395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正式评测完成后填入上表，需附独立测试集与复核记录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8760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2908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贡献与计划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项目贡献与验证重点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11186129" cy="4590288"/>
          </a:xfrm>
          <a:prstGeom prst="roundRect">
            <a:avLst>
              <a:gd name="adj" fmla="val 5976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6288328"/>
            <a:ext cx="10637489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734616"/>
            <a:ext cx="10637489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1832" y="2145792"/>
            <a:ext cx="676656" cy="676656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45792"/>
            <a:ext cx="676656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92808" y="2029967"/>
            <a:ext cx="935732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任务条件下的模型动作</a:t>
            </a:r>
            <a:endParaRPr sz="23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92808" y="2523744"/>
            <a:ext cx="9357329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将任务目标、用户身份与接收方角色全面纳入模型决策前置条件，通过程序约束确保执行动作与场景权限严格匹配，避免越权操作与信息泄露风险。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5256" y="3249168"/>
            <a:ext cx="10381457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1832" y="3675888"/>
            <a:ext cx="676656" cy="676656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2F6B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675888"/>
            <a:ext cx="676656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92808" y="3560064"/>
            <a:ext cx="935732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材料与对话共享保护状态</a:t>
            </a:r>
            <a:endParaRPr sz="23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92808" y="4053840"/>
            <a:ext cx="9357329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针对附件解析、多轮连续追问场景进行状态锁定，实时同步对话上下文与文件权限标签，确保对外发送内容的代号关系与实际权限保持一致，杜绝信息错位。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05256" y="4779264"/>
            <a:ext cx="10381457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" y="5205984"/>
            <a:ext cx="676656" cy="676656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5CFF">
                  <a:alpha val="100000"/>
                </a:srgbClr>
              </a:gs>
              <a:gs pos="100000">
                <a:srgbClr val="B1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205984"/>
            <a:ext cx="676656" cy="676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92808" y="5090160"/>
            <a:ext cx="935732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边界可观察的复核流程</a:t>
            </a:r>
            <a:endParaRPr sz="23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92808" y="5583936"/>
            <a:ext cx="9357329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建立全链路可观测机制，分别对用户请求、模型生成展示内容及工具调用参数进行独立校验，完整留存每一步的判断证据与操作日志，实现责任可追溯。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8760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290827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贡献与计划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产品演示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6272784" cy="4590288"/>
          </a:xfrm>
          <a:prstGeom prst="roundRect">
            <a:avLst>
              <a:gd name="adj" fmla="val 5976"/>
            </a:avLst>
          </a:prstGeom>
          <a:solidFill>
            <a:srgbClr val="EAF0FF">
              <a:alpha val="80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6272784" cy="4590288"/>
          </a:xfrm>
          <a:prstGeom prst="roundRect">
            <a:avLst>
              <a:gd name="adj" fmla="val 5976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6288328"/>
            <a:ext cx="5724144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734616"/>
            <a:ext cx="5724144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97510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隐盾 - 真实运行监控面板</a:t>
            </a:r>
            <a:endParaRPr sz="135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50392" y="2340864"/>
            <a:ext cx="5577840" cy="10972"/>
          </a:xfrm>
          <a:prstGeom prst="rect">
            <a:avLst/>
          </a:prstGeom>
          <a:solidFill>
            <a:srgbClr val="C9D6F2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" y="2596896"/>
            <a:ext cx="5577840" cy="786384"/>
          </a:xfrm>
          <a:prstGeom prst="roundRect">
            <a:avLst>
              <a:gd name="adj" fmla="val 23255"/>
            </a:avLst>
          </a:prstGeom>
          <a:solidFill>
            <a:srgbClr val="FFFFFF">
              <a:alpha val="94000"/>
            </a:srgbClr>
          </a:solidFill>
          <a:ln w="13970">
            <a:solidFill>
              <a:srgbClr val="FFFFFF">
                <a:alpha val="98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" y="2770632"/>
            <a:ext cx="12801" cy="438912"/>
          </a:xfrm>
          <a:prstGeom prst="rect">
            <a:avLst/>
          </a:prstGeom>
          <a:gradFill rotWithShape="1">
            <a:gsLst>
              <a:gs pos="0">
                <a:srgbClr val="22D3EE">
                  <a:alpha val="100000"/>
                </a:srgbClr>
              </a:gs>
              <a:gs pos="50000">
                <a:srgbClr val="2F6BFF">
                  <a:alpha val="55000"/>
                </a:srgbClr>
              </a:gs>
              <a:gs pos="100000">
                <a:srgbClr val="2F6BFF">
                  <a:alpha val="6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596896"/>
            <a:ext cx="52120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用户：上传本周项目会议纪要，自动生成待办清单，并识别潜在的权限风险。</a:t>
            </a:r>
            <a:endParaRPr sz="15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50392" y="3511296"/>
            <a:ext cx="5577840" cy="786384"/>
          </a:xfrm>
          <a:prstGeom prst="roundRect">
            <a:avLst>
              <a:gd name="adj" fmla="val 23255"/>
            </a:avLst>
          </a:prstGeom>
          <a:solidFill>
            <a:srgbClr val="FFFFFF">
              <a:alpha val="94000"/>
            </a:srgbClr>
          </a:solidFill>
          <a:ln w="13970">
            <a:solidFill>
              <a:srgbClr val="FFFFFF">
                <a:alpha val="98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" y="3685032"/>
            <a:ext cx="12801" cy="438912"/>
          </a:xfrm>
          <a:prstGeom prst="rect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50000">
                <a:srgbClr val="7C5CFF">
                  <a:alpha val="55000"/>
                </a:srgbClr>
              </a:gs>
              <a:gs pos="100000">
                <a:srgbClr val="7C5CFF">
                  <a:alpha val="6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511296"/>
            <a:ext cx="52120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系统：已解析会议纪要，提取出5项关键任务，分配给对应负责人。</a:t>
            </a:r>
            <a:endParaRPr sz="15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50392" y="4425696"/>
            <a:ext cx="5577840" cy="786384"/>
          </a:xfrm>
          <a:prstGeom prst="roundRect">
            <a:avLst>
              <a:gd name="adj" fmla="val 23255"/>
            </a:avLst>
          </a:prstGeom>
          <a:solidFill>
            <a:srgbClr val="FFFFFF">
              <a:alpha val="94000"/>
            </a:srgbClr>
          </a:solidFill>
          <a:ln w="13970">
            <a:solidFill>
              <a:srgbClr val="FFFFFF">
                <a:alpha val="98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4599432"/>
            <a:ext cx="12801" cy="438912"/>
          </a:xfrm>
          <a:prstGeom prst="rect">
            <a:avLst/>
          </a:prstGeom>
          <a:gradFill rotWithShape="1">
            <a:gsLst>
              <a:gs pos="0">
                <a:srgbClr val="7C5CFF">
                  <a:alpha val="100000"/>
                </a:srgbClr>
              </a:gs>
              <a:gs pos="50000">
                <a:srgbClr val="B15CFF">
                  <a:alpha val="55000"/>
                </a:srgbClr>
              </a:gs>
              <a:gs pos="100000">
                <a:srgbClr val="B15CFF">
                  <a:alpha val="60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425696"/>
            <a:ext cx="521208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风控：检测到异常权限申请，已自动拦截并通知管理员介入审核。</a:t>
            </a:r>
            <a:endParaRPr sz="15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50392" y="5431536"/>
            <a:ext cx="5577840" cy="658368"/>
          </a:xfrm>
          <a:prstGeom prst="roundRect">
            <a:avLst>
              <a:gd name="adj" fmla="val 27777"/>
            </a:avLst>
          </a:prstGeom>
          <a:noFill/>
          <a:ln w="15240">
            <a:solidFill>
              <a:srgbClr val="7C8BFF">
                <a:alpha val="80000"/>
              </a:srgbClr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6424" y="5522975"/>
            <a:ext cx="510235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【待补 真实运行截图】</a:t>
            </a:r>
            <a:endParaRPr sz="13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06424" y="5779007"/>
            <a:ext cx="510235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支持上传材料 · 连续追问 · 实时查看处理结果</a:t>
            </a:r>
            <a:endParaRPr sz="13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22008" y="1719072"/>
            <a:ext cx="4767041" cy="4590288"/>
          </a:xfrm>
          <a:prstGeom prst="roundRect">
            <a:avLst>
              <a:gd name="adj" fmla="val 5976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22008" y="1719072"/>
            <a:ext cx="4767041" cy="4590288"/>
          </a:xfrm>
          <a:prstGeom prst="roundRect">
            <a:avLst>
              <a:gd name="adj" fmla="val 5976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96328" y="6288328"/>
            <a:ext cx="4218401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96328" y="1734616"/>
            <a:ext cx="4218401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69480" y="2048255"/>
            <a:ext cx="475488" cy="475488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2048255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54696" y="1975104"/>
            <a:ext cx="346859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第一轮：信息采集与整理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854696" y="2432304"/>
            <a:ext cx="3468593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上传会议纪要或沟通记录，系统自动进行语义解析与结构化处理，提取关键信息。</a:t>
            </a:r>
            <a:endParaRPr sz="15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269480" y="3249168"/>
            <a:ext cx="4072097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69480" y="3578352"/>
            <a:ext cx="475488" cy="475488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2F6B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35783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54696" y="3505200"/>
            <a:ext cx="346859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第二轮：任务拆解与分派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854696" y="3962400"/>
            <a:ext cx="3468593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根据内容自动识别待办事项，关联知识库中的人员信息，按负责人智能列出待办清单。</a:t>
            </a:r>
            <a:endParaRPr sz="15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269480" y="4779264"/>
            <a:ext cx="4072097" cy="10972"/>
          </a:xfrm>
          <a:prstGeom prst="rect">
            <a:avLst/>
          </a:prstGeom>
          <a:solidFill>
            <a:srgbClr val="E4E9F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269480" y="5108448"/>
            <a:ext cx="475488" cy="475488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7C5CFF">
                  <a:alpha val="100000"/>
                </a:srgbClr>
              </a:gs>
              <a:gs pos="100000">
                <a:srgbClr val="B15CFF">
                  <a:alpha val="100000"/>
                </a:srgbClr>
              </a:gs>
            </a:gsLst>
            <a:lin ang="2700000" scaled="0"/>
          </a:gradFill>
          <a:ln>
            <a:noFill/>
          </a:ln>
          <a:effectLst>
            <a:outerShdw blurRad="100584" dist="36576" dir="5400000" rotWithShape="0">
              <a:srgbClr val="1B2C63">
                <a:alpha val="3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9480" y="51084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54696" y="5035296"/>
            <a:ext cx="346859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第三轮：安全风控与阻断</a:t>
            </a:r>
            <a:endParaRPr sz="19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854696" y="5492496"/>
            <a:ext cx="3468593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实时扫描对话内容，识别越权请求或敏感信息泄露风险，自动暂停操作并触发告警。</a:t>
            </a:r>
            <a:endParaRPr sz="15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接入后的真实运行截图待补；保留模式、模型版本与必要的处理详情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45000">
                <a:srgbClr val="F7F9FF">
                  <a:alpha val="100000"/>
                </a:srgbClr>
              </a:gs>
              <a:gs pos="80000">
                <a:srgbClr val="EAF0FF">
                  <a:alpha val="100000"/>
                </a:srgbClr>
              </a:gs>
              <a:gs pos="100000">
                <a:srgbClr val="F3EEFF">
                  <a:alpha val="10000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108960" y="-3474720"/>
            <a:ext cx="11887200" cy="11887200"/>
          </a:xfrm>
          <a:prstGeom prst="ellipse">
            <a:avLst/>
          </a:prstGeom>
          <a:gradFill rotWithShape="0">
            <a:gsLst>
              <a:gs pos="0">
                <a:srgbClr val="DAD7FF">
                  <a:alpha val="62000"/>
                </a:srgbClr>
              </a:gs>
              <a:gs pos="55000">
                <a:srgbClr val="DAD7FF">
                  <a:alpha val="20000"/>
                </a:srgbClr>
              </a:gs>
              <a:gs pos="100000">
                <a:srgbClr val="DAD7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52160" y="-420624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A5F0FB">
                  <a:alpha val="34000"/>
                </a:srgbClr>
              </a:gs>
              <a:gs pos="55000">
                <a:srgbClr val="A5F0FB">
                  <a:alpha val="12000"/>
                </a:srgbClr>
              </a:gs>
              <a:gs pos="100000">
                <a:srgbClr val="A5F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3840480"/>
            <a:ext cx="11887200" cy="9144000"/>
          </a:xfrm>
          <a:prstGeom prst="ellipse">
            <a:avLst/>
          </a:prstGeom>
          <a:gradFill rotWithShape="0">
            <a:gsLst>
              <a:gs pos="0">
                <a:srgbClr val="FBEFFF">
                  <a:alpha val="62000"/>
                </a:srgbClr>
              </a:gs>
              <a:gs pos="55000">
                <a:srgbClr val="FBEFFF">
                  <a:alpha val="20000"/>
                </a:srgbClr>
              </a:gs>
              <a:gs pos="100000">
                <a:srgbClr val="FBE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0" y="3108960"/>
            <a:ext cx="7315200" cy="7315200"/>
          </a:xfrm>
          <a:prstGeom prst="ellipse">
            <a:avLst/>
          </a:prstGeom>
          <a:gradFill rotWithShape="0">
            <a:gsLst>
              <a:gs pos="0">
                <a:srgbClr val="A3A8FA">
                  <a:alpha val="26000"/>
                </a:srgbClr>
              </a:gs>
              <a:gs pos="55000">
                <a:srgbClr val="A3A8FA">
                  <a:alpha val="9000"/>
                </a:srgbClr>
              </a:gs>
              <a:gs pos="100000">
                <a:srgbClr val="A3A8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29184"/>
            <a:ext cx="1752599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0664" y="44805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29184"/>
            <a:ext cx="1167383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 STEPS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694944"/>
            <a:ext cx="11186129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交付与后续验收</a:t>
            </a:r>
            <a:endParaRPr sz="4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5519912" cy="1847088"/>
          </a:xfrm>
          <a:prstGeom prst="roundRect">
            <a:avLst>
              <a:gd name="adj" fmla="val 14851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2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719072"/>
            <a:ext cx="5519912" cy="1847088"/>
          </a:xfrm>
          <a:prstGeom prst="roundRect">
            <a:avLst>
              <a:gd name="adj" fmla="val 14851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45128"/>
            <a:ext cx="4971272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1734616"/>
            <a:ext cx="4971272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1993391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100" b="1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36776" y="1975104"/>
            <a:ext cx="4020296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统一对话与安全执行链路</a:t>
            </a:r>
            <a:endParaRPr sz="21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86968" y="2542032"/>
            <a:ext cx="4751816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已有原型，持续迭代优化，确保交互流程顺畅与安全策略的无缝衔接。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69136" y="1719072"/>
            <a:ext cx="5519912" cy="1847088"/>
          </a:xfrm>
          <a:prstGeom prst="roundRect">
            <a:avLst>
              <a:gd name="adj" fmla="val 14851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2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9136" y="1719072"/>
            <a:ext cx="5519912" cy="1847088"/>
          </a:xfrm>
          <a:prstGeom prst="roundRect">
            <a:avLst>
              <a:gd name="adj" fmla="val 14851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3456" y="3545128"/>
            <a:ext cx="4971272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3456" y="1734616"/>
            <a:ext cx="4971272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184" y="1993391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100" b="1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02992" y="1975104"/>
            <a:ext cx="4020296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本地识别模块</a:t>
            </a:r>
            <a:endParaRPr sz="21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53184" y="2542032"/>
            <a:ext cx="4751816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冻结模型权重、提示词、类别体系与量化方式，重跑完整回归测试以验证稳定性。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3712464"/>
            <a:ext cx="5519912" cy="1847088"/>
          </a:xfrm>
          <a:prstGeom prst="roundRect">
            <a:avLst>
              <a:gd name="adj" fmla="val 14851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2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712464"/>
            <a:ext cx="5519912" cy="1847088"/>
          </a:xfrm>
          <a:prstGeom prst="roundRect">
            <a:avLst>
              <a:gd name="adj" fmla="val 14851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538520"/>
            <a:ext cx="4971272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728008"/>
            <a:ext cx="4971272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398678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100" b="1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36776" y="3968496"/>
            <a:ext cx="4020296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真实服务与人工效果</a:t>
            </a:r>
            <a:endParaRPr sz="21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6968" y="4535424"/>
            <a:ext cx="4751816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确认生产环境API连通性，完成双人交叉复核与分歧案例裁决，确保效果达标。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169136" y="3712464"/>
            <a:ext cx="5519912" cy="1847088"/>
          </a:xfrm>
          <a:prstGeom prst="roundRect">
            <a:avLst>
              <a:gd name="adj" fmla="val 14851"/>
            </a:avLst>
          </a:prstGeom>
          <a:solidFill>
            <a:srgbClr val="FFFFFF">
              <a:alpha val="74000"/>
            </a:srgbClr>
          </a:solidFill>
          <a:ln w="15875">
            <a:solidFill>
              <a:srgbClr val="FFFFFF">
                <a:alpha val="96000"/>
              </a:srgbClr>
            </a:solidFill>
          </a:ln>
          <a:effectLst>
            <a:outerShdw blurRad="274320" dist="64008" dir="5400000" rotWithShape="0">
              <a:srgbClr val="1B2C63">
                <a:alpha val="22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69136" y="3712464"/>
            <a:ext cx="5519912" cy="1847088"/>
          </a:xfrm>
          <a:prstGeom prst="roundRect">
            <a:avLst>
              <a:gd name="adj" fmla="val 14851"/>
            </a:avLst>
          </a:prstGeom>
          <a:gradFill rotWithShape="1">
            <a:gsLst>
              <a:gs pos="0">
                <a:srgbClr val="FFFFFF">
                  <a:alpha val="42000"/>
                </a:srgbClr>
              </a:gs>
              <a:gs pos="48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81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3456" y="5538520"/>
            <a:ext cx="4971272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3456" y="3728008"/>
            <a:ext cx="4971272" cy="13716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45000">
                <a:srgbClr val="FFFFFF">
                  <a:alpha val="9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3184" y="398678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F6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100" b="1">
              <a:solidFill>
                <a:srgbClr val="2F6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02992" y="3968496"/>
            <a:ext cx="4020296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第二台电脑部署</a:t>
            </a:r>
            <a:endParaRPr sz="21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53184" y="4535424"/>
            <a:ext cx="4751816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记录系统依赖、资源占用情况，重点监控启动流程与异常失败行为的日志分析。</a:t>
            </a:r>
            <a:endParaRPr sz="1600" b="0">
              <a:solidFill>
                <a:srgbClr val="5A6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2920" y="5705856"/>
            <a:ext cx="11186129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B12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 · 欢迎提问</a:t>
            </a:r>
            <a:endParaRPr sz="3000" b="1">
              <a:solidFill>
                <a:srgbClr val="0B12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31920" y="6345936"/>
            <a:ext cx="4325112" cy="16459"/>
          </a:xfrm>
          <a:prstGeom prst="rect">
            <a:avLst/>
          </a:prstGeom>
          <a:gradFill rotWithShape="1">
            <a:gsLst>
              <a:gs pos="0">
                <a:srgbClr val="2F6BFF">
                  <a:alpha val="95000"/>
                </a:srgbClr>
              </a:gs>
              <a:gs pos="55000">
                <a:srgbClr val="7C5CFF">
                  <a:alpha val="60000"/>
                </a:srgbClr>
              </a:gs>
              <a:gs pos="100000">
                <a:srgbClr val="7C5CFF">
                  <a:alpha val="20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96926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团队信息、实际权重、训练日志、正式评测与视频链接待补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287000" y="6473952"/>
            <a:ext cx="140204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100" b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409" cy="6949440"/>
          </a:xfrm>
          <a:prstGeom prst="rect">
            <a:avLst/>
          </a:prstGeom>
          <a:gradFill rotWithShape="1">
            <a:gsLst>
              <a:gs pos="0">
                <a:srgbClr val="070B14">
                  <a:alpha val="100000"/>
                </a:srgbClr>
              </a:gs>
              <a:gs pos="42000">
                <a:srgbClr val="0D1733">
                  <a:alpha val="100000"/>
                </a:srgbClr>
              </a:gs>
              <a:gs pos="78000">
                <a:srgbClr val="1B2C63">
                  <a:alpha val="100000"/>
                </a:srgbClr>
              </a:gs>
              <a:gs pos="100000">
                <a:srgbClr val="3A2A6E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3291840"/>
            <a:ext cx="10515600" cy="10515600"/>
          </a:xfrm>
          <a:prstGeom prst="ellipse">
            <a:avLst/>
          </a:prstGeom>
          <a:gradFill rotWithShape="0">
            <a:gsLst>
              <a:gs pos="0">
                <a:srgbClr val="7C5CFF">
                  <a:alpha val="44000"/>
                </a:srgbClr>
              </a:gs>
              <a:gs pos="55000">
                <a:srgbClr val="7C5CFF">
                  <a:alpha val="15000"/>
                </a:srgbClr>
              </a:gs>
              <a:gs pos="100000">
                <a:srgbClr val="7C5C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474720" y="-2743200"/>
            <a:ext cx="10972800" cy="10972800"/>
          </a:xfrm>
          <a:prstGeom prst="ellipse">
            <a:avLst/>
          </a:prstGeom>
          <a:gradFill rotWithShape="0">
            <a:gsLst>
              <a:gs pos="0">
                <a:srgbClr val="2F6BFF">
                  <a:alpha val="46000"/>
                </a:srgbClr>
              </a:gs>
              <a:gs pos="55000">
                <a:srgbClr val="2F6BFF">
                  <a:alpha val="16000"/>
                </a:srgbClr>
              </a:gs>
              <a:gs pos="100000">
                <a:srgbClr val="2F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77440" y="3657600"/>
            <a:ext cx="12344400" cy="8686800"/>
          </a:xfrm>
          <a:prstGeom prst="ellipse">
            <a:avLst/>
          </a:prstGeom>
          <a:gradFill rotWithShape="0">
            <a:gsLst>
              <a:gs pos="0">
                <a:srgbClr val="22D3EE">
                  <a:alpha val="18000"/>
                </a:srgbClr>
              </a:gs>
              <a:gs pos="55000">
                <a:srgbClr val="22D3EE">
                  <a:alpha val="6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35240" y="1097280"/>
            <a:ext cx="10058400" cy="10058400"/>
          </a:xfrm>
          <a:prstGeom prst="ellipse">
            <a:avLst/>
          </a:prstGeom>
          <a:noFill/>
          <a:ln w="12700">
            <a:solidFill>
              <a:srgbClr val="22D3EE">
                <a:alpha val="18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64423" y="1426464"/>
            <a:ext cx="7680960" cy="7680960"/>
          </a:xfrm>
          <a:prstGeom prst="ellipse">
            <a:avLst/>
          </a:prstGeom>
          <a:noFill/>
          <a:ln w="12700">
            <a:solidFill>
              <a:srgbClr val="2F6BFF">
                <a:alpha val="24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93608" y="1755648"/>
            <a:ext cx="5486400" cy="5486400"/>
          </a:xfrm>
          <a:prstGeom prst="ellipse">
            <a:avLst/>
          </a:prstGeom>
          <a:noFill/>
          <a:ln w="12700">
            <a:solidFill>
              <a:srgbClr val="7C5CFF">
                <a:alpha val="28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3108960" y="2194560"/>
            <a:ext cx="8595360" cy="8595360"/>
          </a:xfrm>
          <a:prstGeom prst="ellipse">
            <a:avLst/>
          </a:prstGeom>
          <a:noFill/>
          <a:ln w="12700">
            <a:solidFill>
              <a:srgbClr val="2F6BFF">
                <a:alpha val="20000"/>
              </a:srgbClr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914400"/>
            <a:ext cx="457200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316736"/>
            <a:ext cx="457200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719072"/>
            <a:ext cx="457200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121408"/>
            <a:ext cx="457200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523744"/>
            <a:ext cx="457200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926080"/>
            <a:ext cx="457200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3328416"/>
            <a:ext cx="457200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4937760"/>
            <a:ext cx="457200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5340096"/>
            <a:ext cx="4572000" cy="9144"/>
          </a:xfrm>
          <a:prstGeom prst="rect">
            <a:avLst/>
          </a:prstGeom>
          <a:solidFill>
            <a:srgbClr val="22D3EE">
              <a:alpha val="9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914400"/>
            <a:ext cx="9144" cy="482803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23376" y="914400"/>
            <a:ext cx="9144" cy="482803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08592" y="914400"/>
            <a:ext cx="9144" cy="482803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93808" y="914400"/>
            <a:ext cx="9144" cy="482803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79024" y="914400"/>
            <a:ext cx="9144" cy="482803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064240" y="914400"/>
            <a:ext cx="9144" cy="482803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649456" y="914400"/>
            <a:ext cx="9144" cy="482803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234672" y="914400"/>
            <a:ext cx="9144" cy="4828032"/>
          </a:xfrm>
          <a:prstGeom prst="rect">
            <a:avLst/>
          </a:prstGeom>
          <a:solidFill>
            <a:srgbClr val="22D3EE">
              <a:alpha val="8000"/>
            </a:srgbClr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94560" y="1005840"/>
            <a:ext cx="9144000" cy="4572000"/>
          </a:xfrm>
          <a:prstGeom prst="ellipse">
            <a:avLst/>
          </a:prstGeom>
          <a:gradFill rotWithShape="0">
            <a:gsLst>
              <a:gs pos="0">
                <a:srgbClr val="22D3EE">
                  <a:alpha val="13000"/>
                </a:srgbClr>
              </a:gs>
              <a:gs pos="55000">
                <a:srgbClr val="22D3EE">
                  <a:alpha val="5000"/>
                </a:srgbClr>
              </a:gs>
              <a:gs pos="10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20624"/>
            <a:ext cx="1645919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0000"/>
            </a:srgbClr>
          </a:solidFill>
          <a:ln w="13970">
            <a:solidFill>
              <a:srgbClr val="FFFFFF">
                <a:alpha val="96000"/>
              </a:srgbClr>
            </a:solidFill>
          </a:ln>
          <a:effectLst>
            <a:outerShdw blurRad="146304" dist="36576" dir="5400000" rotWithShape="0">
              <a:srgbClr val="1B2C63">
                <a:alpha val="26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0664" y="539496"/>
            <a:ext cx="109728" cy="109728"/>
          </a:xfrm>
          <a:prstGeom prst="ellipse">
            <a:avLst/>
          </a:prstGeom>
          <a:gradFill rotWithShape="1">
            <a:gsLst>
              <a:gs pos="0">
                <a:srgbClr val="2F6BFF">
                  <a:alpha val="100000"/>
                </a:srgbClr>
              </a:gs>
              <a:gs pos="100000">
                <a:srgbClr val="7C5CFF">
                  <a:alpha val="100000"/>
                </a:srgbClr>
              </a:gs>
            </a:gsLst>
            <a:lin ang="270000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420624"/>
            <a:ext cx="1060703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C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</a:t>
            </a:r>
            <a:endParaRPr sz="1200" b="1">
              <a:solidFill>
                <a:srgbClr val="1F4C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3192" y="1152144"/>
            <a:ext cx="91440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9400"/>
              </a:lnSpc>
            </a:pPr>
            <a:r>
              <a:rPr sz="8400" b="1">
                <a:gradFill rotWithShape="1">
                  <a:gsLst>
                    <a:gs pos="0">
                      <a:srgbClr val="FFFFFF"/>
                    </a:gs>
                    <a:gs pos="4800000">
                      <a:srgbClr val="FFFFFF"/>
                    </a:gs>
                    <a:gs pos="8000000">
                      <a:srgbClr val="A5F0FB"/>
                    </a:gs>
                    <a:gs pos="10000000">
                      <a:srgbClr val="B15CFF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8400" b="1">
              <a:gradFill rotWithShape="1">
                <a:gsLst>
                  <a:gs pos="0">
                    <a:srgbClr val="FFFFFF"/>
                  </a:gs>
                  <a:gs pos="4800000">
                    <a:srgbClr val="FFFFFF"/>
                  </a:gs>
                  <a:gs pos="8000000">
                    <a:srgbClr val="A5F0FB"/>
                  </a:gs>
                  <a:gs pos="10000000">
                    <a:srgbClr val="B15CFF"/>
                  </a:gs>
                </a:gsLst>
                <a:lin ang="2700000"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2920" y="2578608"/>
            <a:ext cx="914400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C6D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敬请指正 · 欢迎提问</a:t>
            </a:r>
            <a:endParaRPr sz="3000" b="1">
              <a:solidFill>
                <a:srgbClr val="C6D6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2920" y="3218688"/>
            <a:ext cx="3840480" cy="18288"/>
          </a:xfrm>
          <a:prstGeom prst="rect">
            <a:avLst/>
          </a:prstGeom>
          <a:gradFill rotWithShape="1">
            <a:gsLst>
              <a:gs pos="0">
                <a:srgbClr val="2F6BFF">
                  <a:alpha val="95000"/>
                </a:srgbClr>
              </a:gs>
              <a:gs pos="55000">
                <a:srgbClr val="B15CFF">
                  <a:alpha val="60000"/>
                </a:srgbClr>
              </a:gs>
              <a:gs pos="100000">
                <a:srgbClr val="B15CFF">
                  <a:alpha val="15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40664" y="5867704"/>
            <a:ext cx="10710641" cy="12801"/>
          </a:xfrm>
          <a:prstGeom prst="rect">
            <a:avLst/>
          </a:prstGeom>
          <a:gradFill rotWithShape="1">
            <a:gsLst>
              <a:gs pos="0">
                <a:srgbClr val="7C8BFF">
                  <a:alpha val="0"/>
                </a:srgbClr>
              </a:gs>
              <a:gs pos="50000">
                <a:srgbClr val="7C8BFF">
                  <a:alpha val="34000"/>
                </a:srgbClr>
              </a:gs>
              <a:gs pos="100000">
                <a:srgbClr val="7C8B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6053328"/>
            <a:ext cx="1118612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FA6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智能安全实验室　·　隐盾项目组　·　2026</a:t>
            </a:r>
            <a:endParaRPr sz="1450" b="0">
              <a:solidFill>
                <a:srgbClr val="8FA6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931920" y="6455664"/>
            <a:ext cx="4325112" cy="16459"/>
          </a:xfrm>
          <a:prstGeom prst="rect">
            <a:avLst/>
          </a:prstGeom>
          <a:gradFill rotWithShape="1">
            <a:gsLst>
              <a:gs pos="0">
                <a:srgbClr val="2F6BFF">
                  <a:alpha val="90000"/>
                </a:srgbClr>
              </a:gs>
              <a:gs pos="55000">
                <a:srgbClr val="7C5CFF">
                  <a:alpha val="60000"/>
                </a:srgbClr>
              </a:gs>
              <a:gs pos="100000">
                <a:srgbClr val="7C5CFF">
                  <a:alpha val="25000"/>
                </a:srgbClr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2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3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4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5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6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7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8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9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10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11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12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13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ags/tag14.xml><?xml version="1.0" encoding="utf-8"?>
<p:tagLst xmlns:p="http://schemas.openxmlformats.org/presentationml/2006/main">
  <p:tag name="KSO_WM_DIAGRAM_VIRTUALLY_FRAME" val="{&quot;height&quot;:199.44000000000003,&quot;left&quot;:71.28,&quot;top&quot;:200.88,&quot;width&quot;:400.3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4414</Words>
  <Application>WPS 演示</Application>
  <PresentationFormat>On-screen Show (4:3)</PresentationFormat>
  <Paragraphs>610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Ltyyyyy</cp:lastModifiedBy>
  <cp:revision>2</cp:revision>
  <dcterms:created xsi:type="dcterms:W3CDTF">2013-01-27T09:14:00Z</dcterms:created>
  <dcterms:modified xsi:type="dcterms:W3CDTF">2026-10-15T14:04:52Z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393B8720529D44389FB215B773C72883_12</vt:lpwstr>
  </property>
</Properties>
</file>
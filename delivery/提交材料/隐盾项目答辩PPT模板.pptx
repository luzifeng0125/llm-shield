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5c020566a84a8b" /><Relationship Type="http://schemas.openxmlformats.org/officeDocument/2006/relationships/extended-properties" Target="/docProps/app.xml" Id="Ra73bea5e3dbf41b5" /><Relationship Type="http://schemas.openxmlformats.org/officeDocument/2006/relationships/officeDocument" Target="/ppt/presentation.xml" Id="R87e982e5302c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ef8df1f87c4ec3"/>
  </p:sldMasterIdLst>
  <p:notesMasterIdLst>
    <p:notesMasterId xmlns:r="http://schemas.openxmlformats.org/officeDocument/2006/relationships" r:id="Rf48f011be1ac4d54"/>
  </p:notesMasterIdLst>
  <p:sldIdLst>
    <p:sldId xmlns:r="http://schemas.openxmlformats.org/officeDocument/2006/relationships" id="256" r:id="Rbde981f9fa094493"/>
    <p:sldId xmlns:r="http://schemas.openxmlformats.org/officeDocument/2006/relationships" id="257" r:id="Rdb5a790f50da4b8f"/>
    <p:sldId xmlns:r="http://schemas.openxmlformats.org/officeDocument/2006/relationships" id="258" r:id="R9358b07fac7f4d41"/>
    <p:sldId xmlns:r="http://schemas.openxmlformats.org/officeDocument/2006/relationships" id="259" r:id="R75bdfaebb5f64ec6"/>
    <p:sldId xmlns:r="http://schemas.openxmlformats.org/officeDocument/2006/relationships" id="260" r:id="R586958afd20a4614"/>
    <p:sldId xmlns:r="http://schemas.openxmlformats.org/officeDocument/2006/relationships" id="261" r:id="R1f7ca2bfec2a4ef3"/>
    <p:sldId xmlns:r="http://schemas.openxmlformats.org/officeDocument/2006/relationships" id="262" r:id="R7f6c8d31abf045ce"/>
    <p:sldId xmlns:r="http://schemas.openxmlformats.org/officeDocument/2006/relationships" id="263" r:id="Rbaacf42f5e2e44c4"/>
    <p:sldId xmlns:r="http://schemas.openxmlformats.org/officeDocument/2006/relationships" id="264" r:id="R66e642d484ba4e39"/>
    <p:sldId xmlns:r="http://schemas.openxmlformats.org/officeDocument/2006/relationships" id="265" r:id="Reea2f882f89c4b08"/>
    <p:sldId xmlns:r="http://schemas.openxmlformats.org/officeDocument/2006/relationships" id="266" r:id="R0436abfd069b4aa5"/>
    <p:sldId xmlns:r="http://schemas.openxmlformats.org/officeDocument/2006/relationships" id="267" r:id="R31127a17a10049ae"/>
    <p:sldId xmlns:r="http://schemas.openxmlformats.org/officeDocument/2006/relationships" id="268" r:id="R03d81b8b4afc4bed"/>
    <p:sldId xmlns:r="http://schemas.openxmlformats.org/officeDocument/2006/relationships" id="269" r:id="R2768610cfc544ec3"/>
    <p:sldId xmlns:r="http://schemas.openxmlformats.org/officeDocument/2006/relationships" id="270" r:id="Rb2e3aeb388ac4ff1"/>
    <p:sldId xmlns:r="http://schemas.openxmlformats.org/officeDocument/2006/relationships" id="271" r:id="R2390183215e94b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ff9a9d2d0d44ed" /><Relationship Type="http://schemas.openxmlformats.org/officeDocument/2006/relationships/slideMaster" Target="/ppt/slideMasters/slideMaster1.xml" Id="R42ef8df1f87c4ec3" /><Relationship Type="http://schemas.openxmlformats.org/officeDocument/2006/relationships/notesMaster" Target="/ppt/notesMasters/notesMaster1.xml" Id="Rf48f011be1ac4d54" /><Relationship Type="http://schemas.openxmlformats.org/officeDocument/2006/relationships/presProps" Target="/ppt/presProps.xml" Id="R8f9326eeb3aa451d" /><Relationship Type="http://schemas.openxmlformats.org/officeDocument/2006/relationships/tableStyles" Target="/ppt/tableStyles.xml" Id="Ra3beee73be2b4461" /><Relationship Type="http://schemas.openxmlformats.org/officeDocument/2006/relationships/slide" Target="/ppt/slides/slide1.xml" Id="Rbde981f9fa094493" /><Relationship Type="http://schemas.openxmlformats.org/officeDocument/2006/relationships/slide" Target="/ppt/slides/slide2.xml" Id="Rdb5a790f50da4b8f" /><Relationship Type="http://schemas.openxmlformats.org/officeDocument/2006/relationships/slide" Target="/ppt/slides/slide3.xml" Id="R9358b07fac7f4d41" /><Relationship Type="http://schemas.openxmlformats.org/officeDocument/2006/relationships/slide" Target="/ppt/slides/slide4.xml" Id="R75bdfaebb5f64ec6" /><Relationship Type="http://schemas.openxmlformats.org/officeDocument/2006/relationships/slide" Target="/ppt/slides/slide5.xml" Id="R586958afd20a4614" /><Relationship Type="http://schemas.openxmlformats.org/officeDocument/2006/relationships/slide" Target="/ppt/slides/slide6.xml" Id="R1f7ca2bfec2a4ef3" /><Relationship Type="http://schemas.openxmlformats.org/officeDocument/2006/relationships/slide" Target="/ppt/slides/slide7.xml" Id="R7f6c8d31abf045ce" /><Relationship Type="http://schemas.openxmlformats.org/officeDocument/2006/relationships/slide" Target="/ppt/slides/slide8.xml" Id="Rbaacf42f5e2e44c4" /><Relationship Type="http://schemas.openxmlformats.org/officeDocument/2006/relationships/slide" Target="/ppt/slides/slide9.xml" Id="R66e642d484ba4e39" /><Relationship Type="http://schemas.openxmlformats.org/officeDocument/2006/relationships/slide" Target="/ppt/slides/slide10.xml" Id="Reea2f882f89c4b08" /><Relationship Type="http://schemas.openxmlformats.org/officeDocument/2006/relationships/slide" Target="/ppt/slides/slide11.xml" Id="R0436abfd069b4aa5" /><Relationship Type="http://schemas.openxmlformats.org/officeDocument/2006/relationships/slide" Target="/ppt/slides/slide12.xml" Id="R31127a17a10049ae" /><Relationship Type="http://schemas.openxmlformats.org/officeDocument/2006/relationships/slide" Target="/ppt/slides/slide13.xml" Id="R03d81b8b4afc4bed" /><Relationship Type="http://schemas.openxmlformats.org/officeDocument/2006/relationships/slide" Target="/ppt/slides/slide14.xml" Id="R2768610cfc544ec3" /><Relationship Type="http://schemas.openxmlformats.org/officeDocument/2006/relationships/slide" Target="/ppt/slides/slide15.xml" Id="Rb2e3aeb388ac4ff1" /><Relationship Type="http://schemas.openxmlformats.org/officeDocument/2006/relationships/slide" Target="/ppt/slides/slide16.xml" Id="R2390183215e94b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a5343aaa274c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8fee545ee54e58" /><Relationship Type="http://schemas.openxmlformats.org/officeDocument/2006/relationships/notesMaster" Target="/ppt/notesMasters/notesMaster1.xml" Id="R7443039e70b14b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ae4fd728a448e0" /><Relationship Type="http://schemas.openxmlformats.org/officeDocument/2006/relationships/notesMaster" Target="/ppt/notesMasters/notesMaster1.xml" Id="R810c62b3d4d242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3a0e0d129847eb" /><Relationship Type="http://schemas.openxmlformats.org/officeDocument/2006/relationships/notesMaster" Target="/ppt/notesMasters/notesMaster1.xml" Id="Rf11a7350366742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d878f727ab467f" /><Relationship Type="http://schemas.openxmlformats.org/officeDocument/2006/relationships/notesMaster" Target="/ppt/notesMasters/notesMaster1.xml" Id="R99687302d42e49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ca4adc5ead4a26" /><Relationship Type="http://schemas.openxmlformats.org/officeDocument/2006/relationships/notesMaster" Target="/ppt/notesMasters/notesMaster1.xml" Id="Rae91a136910a4e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d14214fc7a4f68" /><Relationship Type="http://schemas.openxmlformats.org/officeDocument/2006/relationships/notesMaster" Target="/ppt/notesMasters/notesMaster1.xml" Id="R29895cd287f34e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538164323a4281" /><Relationship Type="http://schemas.openxmlformats.org/officeDocument/2006/relationships/notesMaster" Target="/ppt/notesMasters/notesMaster1.xml" Id="R704f47203b1b4a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991a1ac50946fb" /><Relationship Type="http://schemas.openxmlformats.org/officeDocument/2006/relationships/notesMaster" Target="/ppt/notesMasters/notesMaster1.xml" Id="R8284f4dc987944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a3f148218e41db" /><Relationship Type="http://schemas.openxmlformats.org/officeDocument/2006/relationships/notesMaster" Target="/ppt/notesMasters/notesMaster1.xml" Id="R907c21a1b38940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5e271bd46846e8" /><Relationship Type="http://schemas.openxmlformats.org/officeDocument/2006/relationships/notesMaster" Target="/ppt/notesMasters/notesMaster1.xml" Id="Rcb9da99cd1b34b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037255b8904ab1" /><Relationship Type="http://schemas.openxmlformats.org/officeDocument/2006/relationships/notesMaster" Target="/ppt/notesMasters/notesMaster1.xml" Id="R01ac713cb68c4d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d8a8436e6e44f7" /><Relationship Type="http://schemas.openxmlformats.org/officeDocument/2006/relationships/notesMaster" Target="/ppt/notesMasters/notesMaster1.xml" Id="R438c8fba53d345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0b4ea0c2b04e1c" /><Relationship Type="http://schemas.openxmlformats.org/officeDocument/2006/relationships/notesMaster" Target="/ppt/notesMasters/notesMaster1.xml" Id="R41c57ceba83444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6b3c6093464a63" /><Relationship Type="http://schemas.openxmlformats.org/officeDocument/2006/relationships/notesMaster" Target="/ppt/notesMasters/notesMaster1.xml" Id="Rf9ff7cefd1444d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61238a3458456b" /><Relationship Type="http://schemas.openxmlformats.org/officeDocument/2006/relationships/notesMaster" Target="/ppt/notesMasters/notesMaster1.xml" Id="R7ea49c54b59140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9719efb4584e94" /><Relationship Type="http://schemas.openxmlformats.org/officeDocument/2006/relationships/notesMaster" Target="/ppt/notesMasters/notesMaster1.xml" Id="R70d33eafc60240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30秒。隐盾服务于使用大模型处理中文材料的团队，把敏感信息识别与处理放在本地，在同一个窗口完成材料上传和连续追问。本次汇报说明完整系统方案及已有原型证据。本地专项模型和正式人工效果尚待补齐，不能把方案页当作已完成的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35秒。主要对象是学生组织、课程项目和科研团队。以纪要为例，任务需要负责人和事项对应，却通常不需要私人电话。我们的目标是尽量保留任务结构，同时减少无必要外发。以下场景来自项目需求，不是已经完成的用户调研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来源：隐盾整合交付_20261012/验证结果/验证摘要.json、模型元信息.json及现有代码。记录日期2026年10月13日。</a:t>
            </a:r>
          </a:p>
          <a:p xmlns:a="http://schemas.openxmlformats.org/drawingml/2006/main">
            <a:r>
              <a:t>建议讲解35秒。左侧是现有原型的真实离线界面截图：材料管理、任务设置和消息都在同一页。材料脱敏发生在每一轮发送内部。此截图证明交互形态，不证明新本地大模型效果，也不是云端生成质量证据。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方案假设：本地小型大模型尚待训练与接入验证。本页说明目标设计，不表示已有训练成果。</a:t>
            </a:r>
          </a:p>
          <a:p xmlns:a="http://schemas.openxmlformats.org/drawingml/2006/main">
            <a:r>
              <a:t>建议讲解40秒。本地小型模型识别片段，已有动作分类器决定如何处理。权限和发送前校验由程序执行。外部生成服务只看通过检查的载荷，不接收本地原值映射。当前实体检测还是规则与启发式，新识别模块接入后需要重跑全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方案假设：本地小型大模型尚待训练与接入验证。本页说明目标设计，不表示已有训练成果。</a:t>
            </a:r>
          </a:p>
          <a:p xmlns:a="http://schemas.openxmlformats.org/drawingml/2006/main">
            <a:r>
              <a:t>建议讲解40秒。本地模型用于敏感信息识别和类别判定，不承担通用问答。以Qwen3-1.7B微调作为报告中的示例路线，实际选型仍需与UIE和GLiNER比较。训练在云端GPU，本机做推理。来源：https://huggingface.co/Qwen/Qwen3-1.7B；https://github.com/hiyouga/LlamaFac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方案假设：本地小型大模型尚待训练与接入验证。本页说明目标设计，不表示已有训练成果。</a:t>
            </a:r>
          </a:p>
          <a:p xmlns:a="http://schemas.openxmlformats.org/drawingml/2006/main">
            <a:r>
              <a:t>建议讲解30秒。模型输出只有通过程序核对才能使用。start/end采用Unicode字符串下标，左闭右开。模型给错坐标、生成不存在的词、输出截断，都不能当成没有敏感信息。自报置信度不能作为经过校准的概率。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来源：隐盾整合交付_20261012/验证结果/验证摘要.json、模型元信息.json及现有代码。记录日期2026年10月13日。</a:t>
            </a:r>
          </a:p>
          <a:p xmlns:a="http://schemas.openxmlformats.org/drawingml/2006/main">
            <a:r>
              <a:t>建议讲解40秒。识别到一个名字不意味着一定删除，模型根据任务和接收方选择动作。现有动作分类器是TF-IDF加逻辑回归。程序校验只能放行或暂停，不按旧规则改选另一个动作。模型缺失、概率异常、最高分并列时暂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来源：隐盾整合交付_20261012/验证结果/验证摘要.json、模型元信息.json及现有代码。记录日期2026年10月13日。</a:t>
            </a:r>
          </a:p>
          <a:p xmlns:a="http://schemas.openxmlformats.org/drawingml/2006/main">
            <a:r>
              <a:t>建议讲解40秒。每轮处理新输入，合并历史后再检查实际完整载荷。同一个已确认人物在一个会话中用同一代号。第三轮要求还原私人信息时仍需权限校验。现有记录是20轮上限、闲置30分钟过期；同名歧义和语义重识别仍需专项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来源：隐盾整合交付_20261012/验证结果/验证摘要.json、模型元信息.json及现有代码。记录日期2026年10月13日。</a:t>
            </a:r>
          </a:p>
          <a:p xmlns:a="http://schemas.openxmlformats.org/drawingml/2006/main">
            <a:r>
              <a:t>建议讲解35秒。已有兼容聊天接口客户端，服务地址和模型通过本机配置。当前记录尚未完成真实连接验收。不要把网关配置当作验证了某个供应商的实际模型，也不要在截图中显示密钥。B3工具边界有代码设计，真实工具集成尚需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35秒。团队已确认两名独立复核者和一名裁决者。A/B先判断原文与任务，再看系统结果，减少系统答案造成的影响。C解决分歧。现有9个合成单元是试标准备，正式42个单元仍是计划，不能写为已完成标注。来源：https://github.com/doccano/doccano；随包人工复核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40秒。比较时固定材料、任务、生成模型与设置。统一遮盖、固定类别和现有模型策略作为对照，目标识别模块替换后测量变化。无保护基线只使用虚构或允许的材料。漏检、任务完成和误拦分别统计，暂停不能计作完成，零次观测泄露也不能证明零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来源：隐盾整合交付_20261012/验证结果/验证摘要.json、模型元信息.json及现有代码。记录日期2026年10月13日。</a:t>
            </a:r>
          </a:p>
          <a:p xmlns:a="http://schemas.openxmlformats.org/drawingml/2006/main">
            <a:r>
              <a:t>建议讲解40秒。三项计数分别按记录展示，不相加为总测试数。动作模型Accuracy0.9922、Macro-F1 0.9887只衡量合成弱标签的复现情况，不是目标小型大模型的识别效果。90例离线代理结果中固定类别基线同样100%，不能据此宣称本方案优于对照。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方案假设：本地小型大模型尚待训练与接入验证。本页说明目标设计，不表示已有训练成果。</a:t>
            </a:r>
          </a:p>
          <a:p xmlns:a="http://schemas.openxmlformats.org/drawingml/2006/main">
            <a:r>
              <a:t>此页是结果填写模板，建议真实评测完成后再据数据讲解。所有待补字段必须由实验记录支持。至少提供测试材料数、实体数、模型版本、测试设备和生成服务设置。不得把上一页的动作分类器分数复制到这里作为识别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建议讲解35秒。创新落在具体的方法组合、中文任务适配和可复核实验。开源基础模型、本地运行、代号替换均有先例，不写首创。只有完成同条件对照后，才能报告任务完成提升或者泄露降低。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于1分20秒实机演示。录屏先上传虚构纪要，再要求按负责人列待办，最后尝试索要私人电话。展示稳定代号和暂停行为。此页预留给运行截图，不要使用合成界面冒充真实运行。若仍是mock，讲清楚这是流程演示。可复制此页用于补充其他真实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35秒。项目已有统一流程和检查工具，完整方案包含本地识别、模型动作、会话保护与外部生成服务。近期补齐模型权重、训练记录、真实API、多轮录像和独立人工评测，再完成第二台电脑部署验收。当前不宣称生产级安全、零泄露、专利或真实用户规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16595dd8af49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08629936846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2505da21540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4488a55494d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f339b445e45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6c4feafba48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EB0948-836C-4CAC-98BE-2761E11406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3550AF-DF85-44F6-B6C6-AD251C6B50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EB4B3D-09BD-4263-AC43-CAA393259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7A77A0-2162-406F-A539-4E3C969D7B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D13D54-AF65-468B-9023-ECE5BB4E87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15C3D5-C26E-49BE-8E30-FB83D9EC35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DA51C0-C76D-4709-A2B6-8BC7E6E5BE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E3508B-FEB2-4FEB-B147-E05EE19B11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34466D-41DE-49CC-9821-D2E6107D8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730AC3-1E05-4B60-B857-78BFF8A0EF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7dea85c8c944d2" /><Relationship Type="http://schemas.openxmlformats.org/officeDocument/2006/relationships/slideLayout" Target="/ppt/slideLayouts/slideLayout1.xml" Id="R91f4f5d11be64e1d" /><Relationship Type="http://schemas.openxmlformats.org/officeDocument/2006/relationships/slideLayout" Target="/ppt/slideLayouts/slideLayout2.xml" Id="Rd26c25fac62d4f47" /><Relationship Type="http://schemas.openxmlformats.org/officeDocument/2006/relationships/slideLayout" Target="/ppt/slideLayouts/slideLayout3.xml" Id="R7843ee632d15477c" /><Relationship Type="http://schemas.openxmlformats.org/officeDocument/2006/relationships/slideLayout" Target="/ppt/slideLayouts/slideLayout4.xml" Id="Rc9daa189b7b242cd" /><Relationship Type="http://schemas.openxmlformats.org/officeDocument/2006/relationships/slideLayout" Target="/ppt/slideLayouts/slideLayout5.xml" Id="R0d2777d9a82546c5" /><Relationship Type="http://schemas.openxmlformats.org/officeDocument/2006/relationships/slideLayout" Target="/ppt/slideLayouts/slideLayout6.xml" Id="Rd6fb2fbe371f45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f4f5d11be64e1d"/>
    <p:sldLayoutId xmlns:r="http://schemas.openxmlformats.org/officeDocument/2006/relationships" id="2147483650" r:id="Rd26c25fac62d4f47"/>
    <p:sldLayoutId xmlns:r="http://schemas.openxmlformats.org/officeDocument/2006/relationships" id="2147483651" r:id="R7843ee632d15477c"/>
    <p:sldLayoutId xmlns:r="http://schemas.openxmlformats.org/officeDocument/2006/relationships" id="2147483652" r:id="Rc9daa189b7b242cd"/>
    <p:sldLayoutId xmlns:r="http://schemas.openxmlformats.org/officeDocument/2006/relationships" id="2147483653" r:id="R0d2777d9a82546c5"/>
    <p:sldLayoutId xmlns:r="http://schemas.openxmlformats.org/officeDocument/2006/relationships" id="2147483654" r:id="Rd6fb2fbe371f45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55c0cacf7d4f21" /><Relationship Type="http://schemas.openxmlformats.org/officeDocument/2006/relationships/notesSlide" Target="/ppt/notesSlides/notesSlide1.xml" Id="R8a6fb976bd1348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d12329ffb423d" /><Relationship Type="http://schemas.openxmlformats.org/officeDocument/2006/relationships/notesSlide" Target="/ppt/notesSlides/notesSlide2.xml" Id="Rdf5f24b7e7cc42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81080eb3d4999" /><Relationship Type="http://schemas.openxmlformats.org/officeDocument/2006/relationships/image" Target="/ppt/media/image.png" Id="R1c561b15a8844e07" /><Relationship Type="http://schemas.openxmlformats.org/officeDocument/2006/relationships/notesSlide" Target="/ppt/notesSlides/notesSlide3.xml" Id="R883a5f8772e44f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4854e80a6643d5" /><Relationship Type="http://schemas.openxmlformats.org/officeDocument/2006/relationships/notesSlide" Target="/ppt/notesSlides/notesSlide4.xml" Id="R070175664f454d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d88070cfdf4d22" /><Relationship Type="http://schemas.openxmlformats.org/officeDocument/2006/relationships/notesSlide" Target="/ppt/notesSlides/notesSlide5.xml" Id="R508aeed287814f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22d44160b4072" /><Relationship Type="http://schemas.openxmlformats.org/officeDocument/2006/relationships/notesSlide" Target="/ppt/notesSlides/notesSlide6.xml" Id="R100ccfde64a84f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0e0b2e66a4601" /><Relationship Type="http://schemas.openxmlformats.org/officeDocument/2006/relationships/notesSlide" Target="/ppt/notesSlides/notesSlide7.xml" Id="R22cc7ade12db47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4ef7f447b54745" /><Relationship Type="http://schemas.openxmlformats.org/officeDocument/2006/relationships/notesSlide" Target="/ppt/notesSlides/notesSlide8.xml" Id="R238427fefbe742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21e3cd2b44f04" /><Relationship Type="http://schemas.openxmlformats.org/officeDocument/2006/relationships/notesSlide" Target="/ppt/notesSlides/notesSlide9.xml" Id="R1d926fab72e246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b1e5cc52c495e" /><Relationship Type="http://schemas.openxmlformats.org/officeDocument/2006/relationships/notesSlide" Target="/ppt/notesSlides/notesSlide10.xml" Id="R1d820735cac94e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55ddb13bf4f5f" /><Relationship Type="http://schemas.openxmlformats.org/officeDocument/2006/relationships/notesSlide" Target="/ppt/notesSlides/notesSlide11.xml" Id="Ra0532996fcf849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99faee6c944b2" /><Relationship Type="http://schemas.openxmlformats.org/officeDocument/2006/relationships/notesSlide" Target="/ppt/notesSlides/notesSlide12.xml" Id="Rd2a6be341a3d4b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c5768552043df" /><Relationship Type="http://schemas.openxmlformats.org/officeDocument/2006/relationships/notesSlide" Target="/ppt/notesSlides/notesSlide13.xml" Id="R120574d6f44645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5392eaf1b4c2a" /><Relationship Type="http://schemas.openxmlformats.org/officeDocument/2006/relationships/notesSlide" Target="/ppt/notesSlides/notesSlide14.xml" Id="R58bbee27baf14b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c6f263fe7447e" /><Relationship Type="http://schemas.openxmlformats.org/officeDocument/2006/relationships/notesSlide" Target="/ppt/notesSlides/notesSlide15.xml" Id="R99bc684f1a004c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d5a438870d43ca" /><Relationship Type="http://schemas.openxmlformats.org/officeDocument/2006/relationships/notesSlide" Target="/ppt/notesSlides/notesSlide16.xml" Id="R50a9187d996d4e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隐盾">
            <a:extLst xmlns:a="http://schemas.openxmlformats.org/drawingml/2006/main">
              <a:ext uri="{FF2B5EF4-FFF2-40B4-BE49-F238E27FC236}">
                <a16:creationId xmlns:a16="http://schemas.microsoft.com/office/drawing/2014/main" id="{26814F0A-A082-48AF-B4D9-D1F0E994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隐盾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8A24EC9E-234B-48CB-8212-A3BA2254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项目方案与阶段证据   2026 年 10 ">
            <a:extLst xmlns:a="http://schemas.openxmlformats.org/drawingml/2006/main">
              <a:ext uri="{FF2B5EF4-FFF2-40B4-BE49-F238E27FC236}">
                <a16:creationId xmlns:a16="http://schemas.microsoft.com/office/drawing/2014/main" id="{9DABFC68-2BFF-4536-83DB-0EC429D6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rPr>
              <a:t>项目方案与阶段证据   2026 年 10 月 14 日</a:t>
            </a:r>
          </a:p>
        </p:txBody>
      </p:sp>
      <p:sp>
        <p:nvSpPr>
          <p:cNvPr id="4" name="本地模型支持的&#10;隐私保护对话系统">
            <a:extLst xmlns:a="http://schemas.openxmlformats.org/drawingml/2006/main">
              <a:ext uri="{FF2B5EF4-FFF2-40B4-BE49-F238E27FC236}">
                <a16:creationId xmlns:a16="http://schemas.microsoft.com/office/drawing/2014/main" id="{59221DB4-2BCF-42D5-9C57-6735CF01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7156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本地模型支持的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隐私保护对话系统</a:t>
            </a:r>
          </a:p>
        </p:txBody>
      </p:sp>
      <p:sp>
        <p:nvSpPr>
          <p:cNvPr id="5" name="中文材料处理与多轮对话，共用一个保护流程">
            <a:extLst xmlns:a="http://schemas.openxmlformats.org/drawingml/2006/main">
              <a:ext uri="{FF2B5EF4-FFF2-40B4-BE49-F238E27FC236}">
                <a16:creationId xmlns:a16="http://schemas.microsoft.com/office/drawing/2014/main" id="{1EC283AD-273F-42C1-B120-BDB2BC6D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rPr>
              <a:t>中文材料处理与多轮对话，共用一个保护流程</a:t>
            </a:r>
          </a:p>
        </p:txBody>
      </p:sp>
      <p:sp>
        <p:nvSpPr>
          <p:cNvPr id="6" name="【待补 学校与团队】     【待补 汇报人">
            <a:extLst xmlns:a="http://schemas.openxmlformats.org/drawingml/2006/main">
              <a:ext uri="{FF2B5EF4-FFF2-40B4-BE49-F238E27FC236}">
                <a16:creationId xmlns:a16="http://schemas.microsoft.com/office/drawing/2014/main" id="{DC8CC38B-E370-4B17-915A-DD6B8710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0E1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0E1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0E1E6"/>
                </a:solidFill>
                <a:latin typeface="Microsoft YaHei"/>
                <a:ea typeface="Microsoft YaHei"/>
                <a:cs typeface="Microsoft YaHei"/>
              </a:rPr>
              <a:t>【待补 学校与团队】     【待补 汇报人】</a:t>
            </a:r>
          </a:p>
        </p:txBody>
      </p:sp>
    </p:spTree>
    <p:extLst>
      <p:ext uri="{BB962C8B-B14F-4D97-AF65-F5344CB8AC3E}">
        <p14:creationId xmlns:p14="http://schemas.microsoft.com/office/powerpoint/2010/main" val="1951389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服务对象与具体问题">
            <a:extLst xmlns:a="http://schemas.openxmlformats.org/drawingml/2006/main">
              <a:ext uri="{FF2B5EF4-FFF2-40B4-BE49-F238E27FC236}">
                <a16:creationId xmlns:a16="http://schemas.microsoft.com/office/drawing/2014/main" id="{19304CCA-E122-4524-B211-D868CB6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服务对象与具体问题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223BCBD7-CCE3-4A47-96C6-C2AA93C6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材料包含的个人信息，常常超过任务实际需要">
            <a:extLst xmlns:a="http://schemas.openxmlformats.org/drawingml/2006/main">
              <a:ext uri="{FF2B5EF4-FFF2-40B4-BE49-F238E27FC236}">
                <a16:creationId xmlns:a16="http://schemas.microsoft.com/office/drawing/2014/main" id="{5CA4B06D-0E7C-4C63-96A8-4868C44F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材料包含的个人信息，常常超过任务实际需要</a:t>
            </a:r>
          </a:p>
        </p:txBody>
      </p:sp>
      <p:sp>
        <p:nvSpPr>
          <p:cNvPr id="4" name="学生组织">
            <a:extLst xmlns:a="http://schemas.openxmlformats.org/drawingml/2006/main">
              <a:ext uri="{FF2B5EF4-FFF2-40B4-BE49-F238E27FC236}">
                <a16:creationId xmlns:a16="http://schemas.microsoft.com/office/drawing/2014/main" id="{755C2969-A930-42CA-B9B5-87837EAF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学生组织</a:t>
            </a:r>
          </a:p>
        </p:txBody>
      </p:sp>
      <p:sp>
        <p:nvSpPr>
          <p:cNvPr id="5" name="活动名单与人数统计，避免名单随问题一起外发">
            <a:extLst xmlns:a="http://schemas.openxmlformats.org/drawingml/2006/main">
              <a:ext uri="{FF2B5EF4-FFF2-40B4-BE49-F238E27FC236}">
                <a16:creationId xmlns:a16="http://schemas.microsoft.com/office/drawing/2014/main" id="{110C3C15-CC44-48EC-AC5F-CBA20D83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活动名单与人数统计，避免名单随问题一起外发</a:t>
            </a:r>
          </a:p>
        </p:txBody>
      </p:sp>
      <p:sp>
        <p:nvSpPr>
          <p:cNvPr id="6" name="课程与项目团队">
            <a:extLst xmlns:a="http://schemas.openxmlformats.org/drawingml/2006/main">
              <a:ext uri="{FF2B5EF4-FFF2-40B4-BE49-F238E27FC236}">
                <a16:creationId xmlns:a16="http://schemas.microsoft.com/office/drawing/2014/main" id="{C1202766-7D35-4F0A-9F02-2F971B2E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课程与项目团队</a:t>
            </a:r>
          </a:p>
        </p:txBody>
      </p:sp>
      <p:sp>
        <p:nvSpPr>
          <p:cNvPr id="7" name="整理纪要和分工，保留人物与事项的对应">
            <a:extLst xmlns:a="http://schemas.openxmlformats.org/drawingml/2006/main">
              <a:ext uri="{FF2B5EF4-FFF2-40B4-BE49-F238E27FC236}">
                <a16:creationId xmlns:a16="http://schemas.microsoft.com/office/drawing/2014/main" id="{89BF9CBE-1707-45E1-AD91-8BAA7FC6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整理纪要和分工，保留人物与事项的对应</a:t>
            </a:r>
          </a:p>
        </p:txBody>
      </p:sp>
      <p:sp>
        <p:nvSpPr>
          <p:cNvPr id="8" name="后续使用对象">
            <a:extLst xmlns:a="http://schemas.openxmlformats.org/drawingml/2006/main">
              <a:ext uri="{FF2B5EF4-FFF2-40B4-BE49-F238E27FC236}">
                <a16:creationId xmlns:a16="http://schemas.microsoft.com/office/drawing/2014/main" id="{CB1E21D0-C567-4608-A883-839FB345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后续使用对象</a:t>
            </a:r>
          </a:p>
        </p:txBody>
      </p:sp>
      <p:sp>
        <p:nvSpPr>
          <p:cNvPr id="9" name="教师、科研团队与类似组织，迁移前重新确认权限">
            <a:extLst xmlns:a="http://schemas.openxmlformats.org/drawingml/2006/main">
              <a:ext uri="{FF2B5EF4-FFF2-40B4-BE49-F238E27FC236}">
                <a16:creationId xmlns:a16="http://schemas.microsoft.com/office/drawing/2014/main" id="{E79972D4-952E-498F-AB7C-7409FF1E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教师、科研团队与类似组织，迁移前重新确认权限</a:t>
            </a:r>
          </a:p>
        </p:txBody>
      </p:sp>
    </p:spTree>
    <p:extLst>
      <p:ext uri="{BB962C8B-B14F-4D97-AF65-F5344CB8AC3E}">
        <p14:creationId xmlns:p14="http://schemas.microsoft.com/office/powerpoint/2010/main" val="2137364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一个对话入口">
            <a:extLst xmlns:a="http://schemas.openxmlformats.org/drawingml/2006/main">
              <a:ext uri="{FF2B5EF4-FFF2-40B4-BE49-F238E27FC236}">
                <a16:creationId xmlns:a16="http://schemas.microsoft.com/office/drawing/2014/main" id="{AA06590D-F9AE-439F-84B7-AF22CC85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一个对话入口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5ABE5ED5-1265-4E98-820C-52789242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现有原型截图，离线演示模式">
            <a:extLst xmlns:a="http://schemas.openxmlformats.org/drawingml/2006/main">
              <a:ext uri="{FF2B5EF4-FFF2-40B4-BE49-F238E27FC236}">
                <a16:creationId xmlns:a16="http://schemas.microsoft.com/office/drawing/2014/main" id="{7F546A73-B97D-480B-8735-75AA556D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现有原型截图，离线演示模式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DC384-5214-4D48-A7F6-AD92C278CB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61b15a8844e07"/>
          <a:stretch xmlns:a="http://schemas.openxmlformats.org/drawingml/2006/main"/>
        </p:blipFill>
        <p:spPr>
          <a:xfrm xmlns:a="http://schemas.openxmlformats.org/drawingml/2006/main">
            <a:off x="733842" y="1524000"/>
            <a:ext cx="6057066" cy="4610100"/>
          </a:xfrm>
          <a:prstGeom xmlns:a="http://schemas.openxmlformats.org/drawingml/2006/main" prst="rect">
            <a:avLst/>
          </a:prstGeom>
        </p:spPr>
      </p:pic>
      <p:sp>
        <p:nvSpPr>
          <p:cNvPr id="5" name="上传材料并直接提问">
            <a:extLst xmlns:a="http://schemas.openxmlformats.org/drawingml/2006/main">
              <a:ext uri="{FF2B5EF4-FFF2-40B4-BE49-F238E27FC236}">
                <a16:creationId xmlns:a16="http://schemas.microsoft.com/office/drawing/2014/main" id="{CA2E8AC2-21D9-4506-BC90-DAFC2CC2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414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上传材料并直接提问</a:t>
            </a:r>
          </a:p>
        </p:txBody>
      </p:sp>
      <p:sp>
        <p:nvSpPr>
          <p:cNvPr id="6" name="文字与附件进入同一条处理链路">
            <a:extLst xmlns:a="http://schemas.openxmlformats.org/drawingml/2006/main">
              <a:ext uri="{FF2B5EF4-FFF2-40B4-BE49-F238E27FC236}">
                <a16:creationId xmlns:a16="http://schemas.microsoft.com/office/drawing/2014/main" id="{57393D2C-CD7D-4BF8-9DF1-AD1209BF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90750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文字与附件进入同一条处理链路</a:t>
            </a:r>
          </a:p>
        </p:txBody>
      </p:sp>
      <p:sp>
        <p:nvSpPr>
          <p:cNvPr id="7" name="继续追问">
            <a:extLst xmlns:a="http://schemas.openxmlformats.org/drawingml/2006/main">
              <a:ext uri="{FF2B5EF4-FFF2-40B4-BE49-F238E27FC236}">
                <a16:creationId xmlns:a16="http://schemas.microsoft.com/office/drawing/2014/main" id="{1379AA49-7649-4A42-8015-35CCC5A2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86100"/>
            <a:ext cx="414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继续追问</a:t>
            </a:r>
          </a:p>
        </p:txBody>
      </p:sp>
      <p:sp>
        <p:nvSpPr>
          <p:cNvPr id="8" name="沿用已处理历史和本地代号映射">
            <a:extLst xmlns:a="http://schemas.openxmlformats.org/drawingml/2006/main">
              <a:ext uri="{FF2B5EF4-FFF2-40B4-BE49-F238E27FC236}">
                <a16:creationId xmlns:a16="http://schemas.microsoft.com/office/drawing/2014/main" id="{E66A5C4D-DB5C-465A-924E-3F8CD7A9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24250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沿用已处理历史和本地代号映射</a:t>
            </a:r>
          </a:p>
        </p:txBody>
      </p:sp>
      <p:sp>
        <p:nvSpPr>
          <p:cNvPr id="9" name="检查失败则暂停">
            <a:extLst xmlns:a="http://schemas.openxmlformats.org/drawingml/2006/main">
              <a:ext uri="{FF2B5EF4-FFF2-40B4-BE49-F238E27FC236}">
                <a16:creationId xmlns:a16="http://schemas.microsoft.com/office/drawing/2014/main" id="{81E46AE1-CB28-4F84-91C4-134D6538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19600"/>
            <a:ext cx="414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检查失败则暂停</a:t>
            </a:r>
          </a:p>
        </p:txBody>
      </p:sp>
      <p:sp>
        <p:nvSpPr>
          <p:cNvPr id="10" name="本轮停止，不覆盖此前成功历史">
            <a:extLst xmlns:a="http://schemas.openxmlformats.org/drawingml/2006/main">
              <a:ext uri="{FF2B5EF4-FFF2-40B4-BE49-F238E27FC236}">
                <a16:creationId xmlns:a16="http://schemas.microsoft.com/office/drawing/2014/main" id="{AD6DF367-A49C-4141-AD53-83C499EB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57750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本轮停止，不覆盖此前成功历史</a:t>
            </a:r>
          </a:p>
        </p:txBody>
      </p:sp>
    </p:spTree>
    <p:extLst>
      <p:ext uri="{BB962C8B-B14F-4D97-AF65-F5344CB8AC3E}">
        <p14:creationId xmlns:p14="http://schemas.microsoft.com/office/powerpoint/2010/main" val="2044803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系统分工">
            <a:extLst xmlns:a="http://schemas.openxmlformats.org/drawingml/2006/main">
              <a:ext uri="{FF2B5EF4-FFF2-40B4-BE49-F238E27FC236}">
                <a16:creationId xmlns:a16="http://schemas.microsoft.com/office/drawing/2014/main" id="{E724FC0F-B193-4842-A757-0DE55C09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系统分工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648CC4D5-0D7E-4224-909D-B22491BD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EA511-B87B-4216-8C15-773C37E394ED}"/>
              </a:ext>
            </a:extLst>
          </p:cNvPr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585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3857625"/>
                <a:gridCol w="5429250"/>
              </a:tblGrid>
              <a:tr h="681990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</a:tr>
              <a:tr h="681990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材料解析与会话管理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统一输入，保留任务和历史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小型识别模型〔方案〕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识别敏感片段、类别及位置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681990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动作模型与安全检查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选择动作，校验并执行转换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外部服务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生成模型 API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依据检查后的上下文作答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4" name="原文映射留在本机，回答通过复检后才进入对话">
            <a:extLst xmlns:a="http://schemas.openxmlformats.org/drawingml/2006/main">
              <a:ext uri="{FF2B5EF4-FFF2-40B4-BE49-F238E27FC236}">
                <a16:creationId xmlns:a16="http://schemas.microsoft.com/office/drawing/2014/main" id="{2CE028FE-FD92-4A4E-B284-ABBA9E85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原文映射留在本机，回答通过复检后才进入对话</a:t>
            </a:r>
          </a:p>
        </p:txBody>
      </p:sp>
    </p:spTree>
    <p:extLst>
      <p:ext uri="{BB962C8B-B14F-4D97-AF65-F5344CB8AC3E}">
        <p14:creationId xmlns:p14="http://schemas.microsoft.com/office/powerpoint/2010/main" val="1544529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本地小型模型方案">
            <a:extLst xmlns:a="http://schemas.openxmlformats.org/drawingml/2006/main">
              <a:ext uri="{FF2B5EF4-FFF2-40B4-BE49-F238E27FC236}">
                <a16:creationId xmlns:a16="http://schemas.microsoft.com/office/drawing/2014/main" id="{C3EC3016-D1F0-4EF6-8E5E-6306AB31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本地小型模型方案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D34D9603-3D38-453B-8E2B-1500CFF5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方案假设   实际基座、训练记录及权重待补">
            <a:extLst xmlns:a="http://schemas.openxmlformats.org/drawingml/2006/main">
              <a:ext uri="{FF2B5EF4-FFF2-40B4-BE49-F238E27FC236}">
                <a16:creationId xmlns:a16="http://schemas.microsoft.com/office/drawing/2014/main" id="{976E7E53-00C8-4638-8E79-D887683D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rPr>
              <a:t>方案假设   实际基座、训练记录及权重待补</a:t>
            </a:r>
          </a:p>
        </p:txBody>
      </p:sp>
      <p:sp>
        <p:nvSpPr>
          <p:cNvPr id="4" name="专门识别敏感片段与类别">
            <a:extLst xmlns:a="http://schemas.openxmlformats.org/drawingml/2006/main">
              <a:ext uri="{FF2B5EF4-FFF2-40B4-BE49-F238E27FC236}">
                <a16:creationId xmlns:a16="http://schemas.microsoft.com/office/drawing/2014/main" id="{61386563-97F5-40EF-A2E2-E9E1420A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rPr>
              <a:t>专门识别敏感片段与类别</a:t>
            </a:r>
          </a:p>
        </p:txBody>
      </p:sp>
      <p:sp>
        <p:nvSpPr>
          <p:cNvPr id="5" name="基座与微调">
            <a:extLst xmlns:a="http://schemas.openxmlformats.org/drawingml/2006/main">
              <a:ext uri="{FF2B5EF4-FFF2-40B4-BE49-F238E27FC236}">
                <a16:creationId xmlns:a16="http://schemas.microsoft.com/office/drawing/2014/main" id="{E377AF73-924A-4EBD-8938-CD28043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rPr>
              <a:t>基座与微调</a:t>
            </a:r>
          </a:p>
        </p:txBody>
      </p:sp>
      <p:sp>
        <p:nvSpPr>
          <p:cNvPr id="6" name="Qwen3-1.7B 示例路线，LoRA 或">
            <a:extLst xmlns:a="http://schemas.openxmlformats.org/drawingml/2006/main">
              <a:ext uri="{FF2B5EF4-FFF2-40B4-BE49-F238E27FC236}">
                <a16:creationId xmlns:a16="http://schemas.microsoft.com/office/drawing/2014/main" id="{B234D2C2-BEB7-44A0-A063-E6B7DA82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rPr>
              <a:t>Qwen3-1.7B 示例路线，LoRA 或 QLoRA 领域微调</a:t>
            </a:r>
          </a:p>
        </p:txBody>
      </p:sp>
      <p:sp>
        <p:nvSpPr>
          <p:cNvPr id="7" name="训练与运行">
            <a:extLst xmlns:a="http://schemas.openxmlformats.org/drawingml/2006/main">
              <a:ext uri="{FF2B5EF4-FFF2-40B4-BE49-F238E27FC236}">
                <a16:creationId xmlns:a16="http://schemas.microsoft.com/office/drawing/2014/main" id="{D78620D5-AB5C-44B4-AF02-89010A10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rPr>
              <a:t>训练与运行</a:t>
            </a:r>
          </a:p>
        </p:txBody>
      </p:sp>
      <p:sp>
        <p:nvSpPr>
          <p:cNvPr id="8" name="云端 GPU 训练，本机推理，冻结提示与输出">
            <a:extLst xmlns:a="http://schemas.openxmlformats.org/drawingml/2006/main">
              <a:ext uri="{FF2B5EF4-FFF2-40B4-BE49-F238E27FC236}">
                <a16:creationId xmlns:a16="http://schemas.microsoft.com/office/drawing/2014/main" id="{3D58A5AA-0524-4DB8-BCF4-86904D30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rPr>
              <a:t>云端 GPU 训练，本机推理，冻结提示与输出格式</a:t>
            </a:r>
          </a:p>
        </p:txBody>
      </p:sp>
      <p:sp>
        <p:nvSpPr>
          <p:cNvPr id="9" name="选型依据">
            <a:extLst xmlns:a="http://schemas.openxmlformats.org/drawingml/2006/main">
              <a:ext uri="{FF2B5EF4-FFF2-40B4-BE49-F238E27FC236}">
                <a16:creationId xmlns:a16="http://schemas.microsoft.com/office/drawing/2014/main" id="{742E095D-AB38-4AF1-9F95-BA98B398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rPr>
              <a:t>选型依据</a:t>
            </a:r>
          </a:p>
        </p:txBody>
      </p:sp>
      <p:sp>
        <p:nvSpPr>
          <p:cNvPr id="10" name="比较中文漏检、误删、原文定位、延迟及资源占用">
            <a:extLst xmlns:a="http://schemas.openxmlformats.org/drawingml/2006/main">
              <a:ext uri="{FF2B5EF4-FFF2-40B4-BE49-F238E27FC236}">
                <a16:creationId xmlns:a16="http://schemas.microsoft.com/office/drawing/2014/main" id="{5CA2DFD0-20B3-499D-9308-3AF0B388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rPr>
              <a:t>比较中文漏检、误删、原文定位、延迟及资源占用</a:t>
            </a:r>
          </a:p>
        </p:txBody>
      </p:sp>
    </p:spTree>
    <p:extLst>
      <p:ext uri="{BB962C8B-B14F-4D97-AF65-F5344CB8AC3E}">
        <p14:creationId xmlns:p14="http://schemas.microsoft.com/office/powerpoint/2010/main" val="12952485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识别结果必须能回到原文">
            <a:extLst xmlns:a="http://schemas.openxmlformats.org/drawingml/2006/main">
              <a:ext uri="{FF2B5EF4-FFF2-40B4-BE49-F238E27FC236}">
                <a16:creationId xmlns:a16="http://schemas.microsoft.com/office/drawing/2014/main" id="{B2C99DBD-B0D6-455F-92E5-954A60BC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识别结果必须能回到原文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B68E8551-E92E-4B43-8525-D731899C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0A9B6-0264-4DD8-BFB6-F9DB4B02711E}"/>
              </a:ext>
            </a:extLst>
          </p:cNvPr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857625"/>
                <a:gridCol w="4667250"/>
              </a:tblGrid>
              <a:tr h="666750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校验要求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</a:tr>
              <a:tr h="666750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text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原文中的敏感片段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必须能在原文中定位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start / end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片段起止位置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原文切片与 text 一致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666750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经确认的敏感类别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必须属于冻结类别清单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局部依据或来源位置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可追溯，不包含虚构事实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4" name="格式错误、位置歧义或超长截断时暂停本轮">
            <a:extLst xmlns:a="http://schemas.openxmlformats.org/drawingml/2006/main">
              <a:ext uri="{FF2B5EF4-FFF2-40B4-BE49-F238E27FC236}">
                <a16:creationId xmlns:a16="http://schemas.microsoft.com/office/drawing/2014/main" id="{56AC2D25-4422-4E2E-A8C8-D8C92E9C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格式错误、位置歧义或超长截断时暂停本轮</a:t>
            </a:r>
          </a:p>
        </p:txBody>
      </p:sp>
    </p:spTree>
    <p:extLst>
      <p:ext uri="{BB962C8B-B14F-4D97-AF65-F5344CB8AC3E}">
        <p14:creationId xmlns:p14="http://schemas.microsoft.com/office/powerpoint/2010/main" val="20090016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模型选择六类处理动作">
            <a:extLst xmlns:a="http://schemas.openxmlformats.org/drawingml/2006/main">
              <a:ext uri="{FF2B5EF4-FFF2-40B4-BE49-F238E27FC236}">
                <a16:creationId xmlns:a16="http://schemas.microsoft.com/office/drawing/2014/main" id="{F07F39C1-D106-428B-826B-F91A9D2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模型选择六类处理动作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778DEA57-1366-4C43-B950-21B0B1A9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模型负责选动作，安全检查负责放行或暂停">
            <a:extLst xmlns:a="http://schemas.openxmlformats.org/drawingml/2006/main">
              <a:ext uri="{FF2B5EF4-FFF2-40B4-BE49-F238E27FC236}">
                <a16:creationId xmlns:a16="http://schemas.microsoft.com/office/drawing/2014/main" id="{5D782953-3632-461F-8A04-13A6FA50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模型负责选动作，安全检查负责放行或暂停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C08D4-BDDA-4DE0-BCDA-0A5662F79536}"/>
              </a:ext>
            </a:extLst>
          </p:cNvPr>
          <p:cNvGraphicFramePr/>
          <p:nvPr/>
        </p:nvGraphicFramePr>
        <p:xfrm>
          <a:off xmlns:a="http://schemas.openxmlformats.org/drawingml/2006/main" x="666750" y="1600200"/>
          <a:ext xmlns:a="http://schemas.openxmlformats.org/drawingml/2006/main" cx="108585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381750"/>
              </a:tblGrid>
              <a:tr h="6191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</a:tr>
              <a:tr h="6191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 DELETE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去掉与任务无关的敏感片段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本地聚合 LOCAL_AGGREGATE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只提供检查通过的统计信息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6191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泛化 GENERALIZE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降低位置或其他信息的精度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代号替换 PSEUDONYMIZE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保持人物和事项之间的关系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6191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RETAIN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仅在用途、身份和接收方允许时使用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 PAUSE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模型异常、权限冲突或转换不可靠时停止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6382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多轮对话中的保护">
            <a:extLst xmlns:a="http://schemas.openxmlformats.org/drawingml/2006/main">
              <a:ext uri="{FF2B5EF4-FFF2-40B4-BE49-F238E27FC236}">
                <a16:creationId xmlns:a16="http://schemas.microsoft.com/office/drawing/2014/main" id="{87BCCDA8-AC23-4E8E-96E2-F2ECC52E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多轮对话中的保护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1316240A-B4B7-440F-8A0D-01FEF218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每轮输入都检查">
            <a:extLst xmlns:a="http://schemas.openxmlformats.org/drawingml/2006/main">
              <a:ext uri="{FF2B5EF4-FFF2-40B4-BE49-F238E27FC236}">
                <a16:creationId xmlns:a16="http://schemas.microsoft.com/office/drawing/2014/main" id="{806E1A1B-686A-4383-A9E6-27EC371E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每轮输入都检查</a:t>
            </a:r>
          </a:p>
        </p:txBody>
      </p:sp>
      <p:sp>
        <p:nvSpPr>
          <p:cNvPr id="4" name="新文字、新附件以及合并后的历史都进入检查范围">
            <a:extLst xmlns:a="http://schemas.openxmlformats.org/drawingml/2006/main">
              <a:ext uri="{FF2B5EF4-FFF2-40B4-BE49-F238E27FC236}">
                <a16:creationId xmlns:a16="http://schemas.microsoft.com/office/drawing/2014/main" id="{8D628207-65C0-4E81-8210-92CA1DEF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新文字、新附件以及合并后的历史都进入检查范围</a:t>
            </a:r>
          </a:p>
        </p:txBody>
      </p:sp>
      <p:sp>
        <p:nvSpPr>
          <p:cNvPr id="5" name="同一实体保持代号">
            <a:extLst xmlns:a="http://schemas.openxmlformats.org/drawingml/2006/main">
              <a:ext uri="{FF2B5EF4-FFF2-40B4-BE49-F238E27FC236}">
                <a16:creationId xmlns:a16="http://schemas.microsoft.com/office/drawing/2014/main" id="{44A9F663-F898-4F6B-9E3A-F533CF7A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同一实体保持代号</a:t>
            </a:r>
          </a:p>
        </p:txBody>
      </p:sp>
      <p:sp>
        <p:nvSpPr>
          <p:cNvPr id="6" name="保留负责人关系，本地映射不进入外部提示">
            <a:extLst xmlns:a="http://schemas.openxmlformats.org/drawingml/2006/main">
              <a:ext uri="{FF2B5EF4-FFF2-40B4-BE49-F238E27FC236}">
                <a16:creationId xmlns:a16="http://schemas.microsoft.com/office/drawing/2014/main" id="{223C8E93-2429-49E9-A85D-02E75AD3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保留负责人关系，本地映射不进入外部提示</a:t>
            </a:r>
          </a:p>
        </p:txBody>
      </p:sp>
      <p:sp>
        <p:nvSpPr>
          <p:cNvPr id="7" name="成功后才提交历史">
            <a:extLst xmlns:a="http://schemas.openxmlformats.org/drawingml/2006/main">
              <a:ext uri="{FF2B5EF4-FFF2-40B4-BE49-F238E27FC236}">
                <a16:creationId xmlns:a16="http://schemas.microsoft.com/office/drawing/2014/main" id="{D2B39824-F078-4B17-B6E4-66805E6A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成功后才提交历史</a:t>
            </a:r>
          </a:p>
        </p:txBody>
      </p:sp>
      <p:sp>
        <p:nvSpPr>
          <p:cNvPr id="8" name="回答通过复检再显示，失败轮不污染已有对话">
            <a:extLst xmlns:a="http://schemas.openxmlformats.org/drawingml/2006/main">
              <a:ext uri="{FF2B5EF4-FFF2-40B4-BE49-F238E27FC236}">
                <a16:creationId xmlns:a16="http://schemas.microsoft.com/office/drawing/2014/main" id="{4843987E-B217-4849-A694-A179511B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回答通过复检再显示，失败轮不污染已有对话</a:t>
            </a:r>
          </a:p>
        </p:txBody>
      </p:sp>
      <p:sp>
        <p:nvSpPr>
          <p:cNvPr id="9" name="清除对话与删除材料分开">
            <a:extLst xmlns:a="http://schemas.openxmlformats.org/drawingml/2006/main">
              <a:ext uri="{FF2B5EF4-FFF2-40B4-BE49-F238E27FC236}">
                <a16:creationId xmlns:a16="http://schemas.microsoft.com/office/drawing/2014/main" id="{7EA1E0ED-D864-4ABA-8560-281313F5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清除对话与删除材料分开</a:t>
            </a:r>
          </a:p>
        </p:txBody>
      </p:sp>
      <p:sp>
        <p:nvSpPr>
          <p:cNvPr id="10" name="删除本机文件不会撤回已经发送的内容">
            <a:extLst xmlns:a="http://schemas.openxmlformats.org/drawingml/2006/main">
              <a:ext uri="{FF2B5EF4-FFF2-40B4-BE49-F238E27FC236}">
                <a16:creationId xmlns:a16="http://schemas.microsoft.com/office/drawing/2014/main" id="{3CCBD3A4-B798-4874-BB57-AF6A558E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删除本机文件不会撤回已经发送的内容</a:t>
            </a:r>
          </a:p>
        </p:txBody>
      </p:sp>
    </p:spTree>
    <p:extLst>
      <p:ext uri="{BB962C8B-B14F-4D97-AF65-F5344CB8AC3E}">
        <p14:creationId xmlns:p14="http://schemas.microsoft.com/office/powerpoint/2010/main" val="451831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安全边界与外部 API">
            <a:extLst xmlns:a="http://schemas.openxmlformats.org/drawingml/2006/main">
              <a:ext uri="{FF2B5EF4-FFF2-40B4-BE49-F238E27FC236}">
                <a16:creationId xmlns:a16="http://schemas.microsoft.com/office/drawing/2014/main" id="{A852D826-B826-4DD5-AF10-9BEA0A2A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安全边界与外部 API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139B4E42-2515-4AF5-B43A-9A5F1464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输入边界">
            <a:extLst xmlns:a="http://schemas.openxmlformats.org/drawingml/2006/main">
              <a:ext uri="{FF2B5EF4-FFF2-40B4-BE49-F238E27FC236}">
                <a16:creationId xmlns:a16="http://schemas.microsoft.com/office/drawing/2014/main" id="{C04879B8-E04A-49C9-95A6-777C422B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输入边界</a:t>
            </a:r>
          </a:p>
        </p:txBody>
      </p:sp>
      <p:sp>
        <p:nvSpPr>
          <p:cNvPr id="4" name="检查真正发送的完整请求，包含处理后历史">
            <a:extLst xmlns:a="http://schemas.openxmlformats.org/drawingml/2006/main">
              <a:ext uri="{FF2B5EF4-FFF2-40B4-BE49-F238E27FC236}">
                <a16:creationId xmlns:a16="http://schemas.microsoft.com/office/drawing/2014/main" id="{23658F71-E151-4D5B-949B-EB01EC9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检查真正发送的完整请求，包含处理后历史</a:t>
            </a:r>
          </a:p>
        </p:txBody>
      </p:sp>
      <p:sp>
        <p:nvSpPr>
          <p:cNvPr id="5" name="展示边界">
            <a:extLst xmlns:a="http://schemas.openxmlformats.org/drawingml/2006/main">
              <a:ext uri="{FF2B5EF4-FFF2-40B4-BE49-F238E27FC236}">
                <a16:creationId xmlns:a16="http://schemas.microsoft.com/office/drawing/2014/main" id="{E5438723-ED7D-4A13-A922-181CD766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展示边界</a:t>
            </a:r>
          </a:p>
        </p:txBody>
      </p:sp>
      <p:sp>
        <p:nvSpPr>
          <p:cNvPr id="6" name="回答复检通过后再显示和保存">
            <a:extLst xmlns:a="http://schemas.openxmlformats.org/drawingml/2006/main">
              <a:ext uri="{FF2B5EF4-FFF2-40B4-BE49-F238E27FC236}">
                <a16:creationId xmlns:a16="http://schemas.microsoft.com/office/drawing/2014/main" id="{C51034E4-DE52-4F7B-A30A-A9A77E60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回答复检通过后再显示和保存</a:t>
            </a:r>
          </a:p>
        </p:txBody>
      </p:sp>
      <p:sp>
        <p:nvSpPr>
          <p:cNvPr id="7" name="工具边界">
            <a:extLst xmlns:a="http://schemas.openxmlformats.org/drawingml/2006/main">
              <a:ext uri="{FF2B5EF4-FFF2-40B4-BE49-F238E27FC236}">
                <a16:creationId xmlns:a16="http://schemas.microsoft.com/office/drawing/2014/main" id="{44F81E0F-C5D0-44B8-A4DB-915AF260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工具边界</a:t>
            </a:r>
          </a:p>
        </p:txBody>
      </p:sp>
      <p:sp>
        <p:nvSpPr>
          <p:cNvPr id="8" name="工具参数另行检查，真实外部工具集成待验收">
            <a:extLst xmlns:a="http://schemas.openxmlformats.org/drawingml/2006/main">
              <a:ext uri="{FF2B5EF4-FFF2-40B4-BE49-F238E27FC236}">
                <a16:creationId xmlns:a16="http://schemas.microsoft.com/office/drawing/2014/main" id="{54FE452B-2B24-4DCB-BA5E-2532DEFD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工具参数另行检查，真实外部工具集成待验收</a:t>
            </a:r>
          </a:p>
        </p:txBody>
      </p:sp>
      <p:sp>
        <p:nvSpPr>
          <p:cNvPr id="9" name="API 接入状态">
            <a:extLst xmlns:a="http://schemas.openxmlformats.org/drawingml/2006/main">
              <a:ext uri="{FF2B5EF4-FFF2-40B4-BE49-F238E27FC236}">
                <a16:creationId xmlns:a16="http://schemas.microsoft.com/office/drawing/2014/main" id="{EACE62BF-28B3-4FFE-B029-81FA6B14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API 接入状态</a:t>
            </a:r>
          </a:p>
        </p:txBody>
      </p:sp>
      <p:sp>
        <p:nvSpPr>
          <p:cNvPr id="10" name="兼容客户端已有&#10;真实连接验收待补&#10;&#10;密钥仅在">
            <a:extLst xmlns:a="http://schemas.openxmlformats.org/drawingml/2006/main">
              <a:ext uri="{FF2B5EF4-FFF2-40B4-BE49-F238E27FC236}">
                <a16:creationId xmlns:a16="http://schemas.microsoft.com/office/drawing/2014/main" id="{BB149BA7-FA55-4654-9F00-5B4CF633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400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兼容客户端已有</a:t>
            </a:r>
          </a:p>
          <a:p xmlns:a="http://schemas.openxmlformats.org/drawingml/2006/main">
            <a:pPr algn="l">
              <a:defRPr sz="2025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真实连接验收待补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密钥仅在本机配置</a:t>
            </a:r>
          </a:p>
          <a:p xmlns:a="http://schemas.openxmlformats.org/drawingml/2006/main">
            <a:pPr algn="l">
              <a:defRPr sz="2025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演示回复保留离线标识</a:t>
            </a:r>
          </a:p>
        </p:txBody>
      </p:sp>
    </p:spTree>
    <p:extLst>
      <p:ext uri="{BB962C8B-B14F-4D97-AF65-F5344CB8AC3E}">
        <p14:creationId xmlns:p14="http://schemas.microsoft.com/office/powerpoint/2010/main" val="1562574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数据与人工复核">
            <a:extLst xmlns:a="http://schemas.openxmlformats.org/drawingml/2006/main">
              <a:ext uri="{FF2B5EF4-FFF2-40B4-BE49-F238E27FC236}">
                <a16:creationId xmlns:a16="http://schemas.microsoft.com/office/drawing/2014/main" id="{FF43871D-5AFD-45AF-B8FF-43883FF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数据与人工复核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A0EB4230-07B2-4E91-A77D-E47B1AFD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2 人独立复核 + 1 人裁决">
            <a:extLst xmlns:a="http://schemas.openxmlformats.org/drawingml/2006/main">
              <a:ext uri="{FF2B5EF4-FFF2-40B4-BE49-F238E27FC236}">
                <a16:creationId xmlns:a16="http://schemas.microsoft.com/office/drawing/2014/main" id="{E55275CB-D8D4-4EBA-8FF2-1751ED72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2 人独立复核 + 1 人裁决</a:t>
            </a:r>
          </a:p>
        </p:txBody>
      </p:sp>
      <p:sp>
        <p:nvSpPr>
          <p:cNvPr id="4" name="标注实体与处理必要性">
            <a:extLst xmlns:a="http://schemas.openxmlformats.org/drawingml/2006/main">
              <a:ext uri="{FF2B5EF4-FFF2-40B4-BE49-F238E27FC236}">
                <a16:creationId xmlns:a16="http://schemas.microsoft.com/office/drawing/2014/main" id="{C96E888F-95A0-44FE-811B-724BB355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标注实体与处理必要性</a:t>
            </a:r>
          </a:p>
        </p:txBody>
      </p:sp>
      <p:sp>
        <p:nvSpPr>
          <p:cNvPr id="5" name="先确认敏感片段，再判断当前任务允许如何处理">
            <a:extLst xmlns:a="http://schemas.openxmlformats.org/drawingml/2006/main">
              <a:ext uri="{FF2B5EF4-FFF2-40B4-BE49-F238E27FC236}">
                <a16:creationId xmlns:a16="http://schemas.microsoft.com/office/drawing/2014/main" id="{978837A1-ADEF-43DE-AA07-36F027DE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先确认敏感片段，再判断当前任务允许如何处理</a:t>
            </a:r>
          </a:p>
        </p:txBody>
      </p:sp>
      <p:sp>
        <p:nvSpPr>
          <p:cNvPr id="6" name="保留原始意见与裁决依据">
            <a:extLst xmlns:a="http://schemas.openxmlformats.org/drawingml/2006/main">
              <a:ext uri="{FF2B5EF4-FFF2-40B4-BE49-F238E27FC236}">
                <a16:creationId xmlns:a16="http://schemas.microsoft.com/office/drawing/2014/main" id="{96CD4384-7634-471F-B5EE-8327F9B4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保留原始意见与裁决依据</a:t>
            </a:r>
          </a:p>
        </p:txBody>
      </p:sp>
      <p:sp>
        <p:nvSpPr>
          <p:cNvPr id="7" name="实体位置、任务质量、漏检误删和外发记录分别检">
            <a:extLst xmlns:a="http://schemas.openxmlformats.org/drawingml/2006/main">
              <a:ext uri="{FF2B5EF4-FFF2-40B4-BE49-F238E27FC236}">
                <a16:creationId xmlns:a16="http://schemas.microsoft.com/office/drawing/2014/main" id="{C2B0B5F7-F5B6-43CC-8700-54234A0B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实体位置、任务质量、漏检误删和外发记录分别检查</a:t>
            </a:r>
          </a:p>
        </p:txBody>
      </p:sp>
      <p:sp>
        <p:nvSpPr>
          <p:cNvPr id="8" name="按源材料划分数据">
            <a:extLst xmlns:a="http://schemas.openxmlformats.org/drawingml/2006/main">
              <a:ext uri="{FF2B5EF4-FFF2-40B4-BE49-F238E27FC236}">
                <a16:creationId xmlns:a16="http://schemas.microsoft.com/office/drawing/2014/main" id="{8F3A479A-A18A-4FCA-8747-07496B4F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按源材料划分数据</a:t>
            </a:r>
          </a:p>
        </p:txBody>
      </p:sp>
      <p:sp>
        <p:nvSpPr>
          <p:cNvPr id="9" name="训练、验证和测试隔离，近似改写不跨集合">
            <a:extLst xmlns:a="http://schemas.openxmlformats.org/drawingml/2006/main">
              <a:ext uri="{FF2B5EF4-FFF2-40B4-BE49-F238E27FC236}">
                <a16:creationId xmlns:a16="http://schemas.microsoft.com/office/drawing/2014/main" id="{C61C72BE-98AA-4536-ADC7-D5F6D44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训练、验证和测试隔离，近似改写不跨集合</a:t>
            </a:r>
          </a:p>
        </p:txBody>
      </p:sp>
    </p:spTree>
    <p:extLst>
      <p:ext uri="{BB962C8B-B14F-4D97-AF65-F5344CB8AC3E}">
        <p14:creationId xmlns:p14="http://schemas.microsoft.com/office/powerpoint/2010/main" val="8391661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实验比较与评价方法">
            <a:extLst xmlns:a="http://schemas.openxmlformats.org/drawingml/2006/main">
              <a:ext uri="{FF2B5EF4-FFF2-40B4-BE49-F238E27FC236}">
                <a16:creationId xmlns:a16="http://schemas.microsoft.com/office/drawing/2014/main" id="{FE548AC2-5273-4017-B4B9-2317F5D1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实验比较与评价方法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91FC01A2-ED90-468A-B058-7A29AE18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4C355-82D0-4023-90DC-3143581329FD}"/>
              </a:ext>
            </a:extLst>
          </p:cNvPr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585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048625"/>
              </a:tblGrid>
              <a:tr h="6953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评价维度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需要回答的问题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</a:tr>
              <a:tr h="6953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实体识别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类别和原文位置是否同时正确，哪些类别容易漏检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信息暴露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不允许披露的信息是否到达输入、展示或工具边界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6953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任务可用性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纪要、统计与对外介绍能否满足预设完成标准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运行成本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本地保护延迟、端到端延迟、显存与冷启动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4" name="同一批案例进行配对比较，报告分母与失败案例">
            <a:extLst xmlns:a="http://schemas.openxmlformats.org/drawingml/2006/main">
              <a:ext uri="{FF2B5EF4-FFF2-40B4-BE49-F238E27FC236}">
                <a16:creationId xmlns:a16="http://schemas.microsoft.com/office/drawing/2014/main" id="{C6C389C0-86D3-416F-8896-F51DF4C5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同一批案例进行配对比较，报告分母与失败案例</a:t>
            </a:r>
          </a:p>
        </p:txBody>
      </p:sp>
    </p:spTree>
    <p:extLst>
      <p:ext uri="{BB962C8B-B14F-4D97-AF65-F5344CB8AC3E}">
        <p14:creationId xmlns:p14="http://schemas.microsoft.com/office/powerpoint/2010/main" val="16822756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现有原型的验证记录">
            <a:extLst xmlns:a="http://schemas.openxmlformats.org/drawingml/2006/main">
              <a:ext uri="{FF2B5EF4-FFF2-40B4-BE49-F238E27FC236}">
                <a16:creationId xmlns:a16="http://schemas.microsoft.com/office/drawing/2014/main" id="{B1255CB9-C75B-4FE9-9272-EF12633B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现有原型的验证记录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BCA13018-7840-4998-996F-34217009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已有记录截至 2026 年 10 月 13 ">
            <a:extLst xmlns:a="http://schemas.openxmlformats.org/drawingml/2006/main">
              <a:ext uri="{FF2B5EF4-FFF2-40B4-BE49-F238E27FC236}">
                <a16:creationId xmlns:a16="http://schemas.microsoft.com/office/drawing/2014/main" id="{F633837F-9A9E-42E5-BC21-674C92EF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已有记录截至 2026 年 10 月 13 日，尚非目标识别模型的验收结果</a:t>
            </a:r>
          </a:p>
        </p:txBody>
      </p:sp>
      <p:sp>
        <p:nvSpPr>
          <p:cNvPr id="4" name="81">
            <a:extLst xmlns:a="http://schemas.openxmlformats.org/drawingml/2006/main">
              <a:ext uri="{FF2B5EF4-FFF2-40B4-BE49-F238E27FC236}">
                <a16:creationId xmlns:a16="http://schemas.microsoft.com/office/drawing/2014/main" id="{3D2BBC32-DE27-4892-9540-F4C8025D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81</a:t>
            </a:r>
          </a:p>
        </p:txBody>
      </p:sp>
      <p:sp>
        <p:nvSpPr>
          <p:cNvPr id="5" name="回归检查">
            <a:extLst xmlns:a="http://schemas.openxmlformats.org/drawingml/2006/main">
              <a:ext uri="{FF2B5EF4-FFF2-40B4-BE49-F238E27FC236}">
                <a16:creationId xmlns:a16="http://schemas.microsoft.com/office/drawing/2014/main" id="{68382ACF-FEEF-4A78-A4C9-F4D4940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回归检查</a:t>
            </a:r>
          </a:p>
        </p:txBody>
      </p:sp>
      <p:sp>
        <p:nvSpPr>
          <p:cNvPr id="6" name="27">
            <a:extLst xmlns:a="http://schemas.openxmlformats.org/drawingml/2006/main">
              <a:ext uri="{FF2B5EF4-FFF2-40B4-BE49-F238E27FC236}">
                <a16:creationId xmlns:a16="http://schemas.microsoft.com/office/drawing/2014/main" id="{042B32F8-30FE-437A-8C50-B4BCB504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0020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7" name="子检查">
            <a:extLst xmlns:a="http://schemas.openxmlformats.org/drawingml/2006/main">
              <a:ext uri="{FF2B5EF4-FFF2-40B4-BE49-F238E27FC236}">
                <a16:creationId xmlns:a16="http://schemas.microsoft.com/office/drawing/2014/main" id="{AD0A6B6B-4E35-426C-B948-3314EA6B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765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子检查</a:t>
            </a:r>
          </a:p>
        </p:txBody>
      </p:sp>
      <p:sp>
        <p:nvSpPr>
          <p:cNvPr id="8" name="38">
            <a:extLst xmlns:a="http://schemas.openxmlformats.org/drawingml/2006/main">
              <a:ext uri="{FF2B5EF4-FFF2-40B4-BE49-F238E27FC236}">
                <a16:creationId xmlns:a16="http://schemas.microsoft.com/office/drawing/2014/main" id="{F5EA974D-5056-4C51-9CE8-36259571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0020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9" name="冒烟检查">
            <a:extLst xmlns:a="http://schemas.openxmlformats.org/drawingml/2006/main">
              <a:ext uri="{FF2B5EF4-FFF2-40B4-BE49-F238E27FC236}">
                <a16:creationId xmlns:a16="http://schemas.microsoft.com/office/drawing/2014/main" id="{878A3513-E02B-4D89-AC23-DE3B157D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765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冒烟检查</a:t>
            </a:r>
          </a:p>
        </p:txBody>
      </p:sp>
      <p:sp>
        <p:nvSpPr>
          <p:cNvPr id="10" name="动作分类器 Macro-F1   0.988">
            <a:extLst xmlns:a="http://schemas.openxmlformats.org/drawingml/2006/main">
              <a:ext uri="{FF2B5EF4-FFF2-40B4-BE49-F238E27FC236}">
                <a16:creationId xmlns:a16="http://schemas.microsoft.com/office/drawing/2014/main" id="{4BDFE998-ABB7-4922-AD85-C321E3C0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动作分类器 Macro-F1   0.9887</a:t>
            </a:r>
          </a:p>
        </p:txBody>
      </p:sp>
      <p:sp>
        <p:nvSpPr>
          <p:cNvPr id="11" name="来自合成弱标签分组验证，不能视为真实材料准确">
            <a:extLst xmlns:a="http://schemas.openxmlformats.org/drawingml/2006/main">
              <a:ext uri="{FF2B5EF4-FFF2-40B4-BE49-F238E27FC236}">
                <a16:creationId xmlns:a16="http://schemas.microsoft.com/office/drawing/2014/main" id="{1AEF48E1-9F67-4D43-BC8C-063FA5EF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来自合成弱标签分组验证，不能视为真实材料准确率</a:t>
            </a:r>
          </a:p>
        </p:txBody>
      </p:sp>
    </p:spTree>
    <p:extLst>
      <p:ext uri="{BB962C8B-B14F-4D97-AF65-F5344CB8AC3E}">
        <p14:creationId xmlns:p14="http://schemas.microsoft.com/office/powerpoint/2010/main" val="2607955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目标版本正式评测结果">
            <a:extLst xmlns:a="http://schemas.openxmlformats.org/drawingml/2006/main">
              <a:ext uri="{FF2B5EF4-FFF2-40B4-BE49-F238E27FC236}">
                <a16:creationId xmlns:a16="http://schemas.microsoft.com/office/drawing/2014/main" id="{191BAE8F-B463-4227-8072-9D7D4A4A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目标版本正式评测结果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1D0BA736-97C2-4D50-8445-7318E14C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填写条件：冻结模型版本、独立测试集与 A/B">
            <a:extLst xmlns:a="http://schemas.openxmlformats.org/drawingml/2006/main">
              <a:ext uri="{FF2B5EF4-FFF2-40B4-BE49-F238E27FC236}">
                <a16:creationId xmlns:a16="http://schemas.microsoft.com/office/drawing/2014/main" id="{929F9BCD-055F-444E-9775-A10A44EF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填写条件：冻结模型版本、独立测试集与 A/B/C 复核记录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38092-E124-4010-8C5A-71B37283DD0A}"/>
              </a:ext>
            </a:extLst>
          </p:cNvPr>
          <p:cNvGraphicFramePr/>
          <p:nvPr/>
        </p:nvGraphicFramePr>
        <p:xfrm>
          <a:off xmlns:a="http://schemas.openxmlformats.org/drawingml/2006/main" x="666750" y="1600200"/>
          <a:ext xmlns:a="http://schemas.openxmlformats.org/drawingml/2006/main" cx="10858500" cy="4219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571750"/>
                <a:gridCol w="2571750"/>
              </a:tblGrid>
              <a:tr h="703263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完整方案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对照方案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T w="6668">
                      <a:solidFill>
                        <a:srgbClr val="D2DEE4"/>
                      </a:solidFill>
                      <a:prstDash val="solid"/>
                    </a:lnT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</a:tr>
              <a:tr h="703263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实体严格匹配 F1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9651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【待补】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9651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【待补】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3263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高风险类别召回率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9651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【待补】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9651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【待补】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703263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不允许披露事件 / 适用案例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9651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【待补】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9651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【待补】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3263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人工任务完成率 / 误拦率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9651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【待补】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9651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【待补】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703263"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B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本地保护 P95 / 显存峰值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EE4"/>
                      </a:solidFill>
                      <a:prstDash val="solid"/>
                    </a:lnL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9651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【待补】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9651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【待补】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EE4"/>
                      </a:solidFill>
                      <a:prstDash val="solid"/>
                    </a:lnR>
                    <a:lnB w="6668">
                      <a:solidFill>
                        <a:srgbClr val="D2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5929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项目贡献与验证重点">
            <a:extLst xmlns:a="http://schemas.openxmlformats.org/drawingml/2006/main">
              <a:ext uri="{FF2B5EF4-FFF2-40B4-BE49-F238E27FC236}">
                <a16:creationId xmlns:a16="http://schemas.microsoft.com/office/drawing/2014/main" id="{AE923013-B4F6-4BD9-83C9-379F2FE5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项目贡献与验证重点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EE9844B4-B95A-44AE-A92D-43C3DA87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任务条件下的模型动作">
            <a:extLst xmlns:a="http://schemas.openxmlformats.org/drawingml/2006/main">
              <a:ext uri="{FF2B5EF4-FFF2-40B4-BE49-F238E27FC236}">
                <a16:creationId xmlns:a16="http://schemas.microsoft.com/office/drawing/2014/main" id="{541CFA07-AB7C-4419-A2DC-D71FD4BD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任务条件下的模型动作</a:t>
            </a:r>
          </a:p>
        </p:txBody>
      </p:sp>
      <p:sp>
        <p:nvSpPr>
          <p:cNvPr id="4" name="将任务、身份与接收方纳入决策，再由程序约束执">
            <a:extLst xmlns:a="http://schemas.openxmlformats.org/drawingml/2006/main">
              <a:ext uri="{FF2B5EF4-FFF2-40B4-BE49-F238E27FC236}">
                <a16:creationId xmlns:a16="http://schemas.microsoft.com/office/drawing/2014/main" id="{D6E2032E-BD20-41D6-BC84-E0D9F9FD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将任务、身份与接收方纳入决策，再由程序约束执行</a:t>
            </a:r>
          </a:p>
        </p:txBody>
      </p:sp>
      <p:sp>
        <p:nvSpPr>
          <p:cNvPr id="5" name="材料与对话共享保护状态">
            <a:extLst xmlns:a="http://schemas.openxmlformats.org/drawingml/2006/main">
              <a:ext uri="{FF2B5EF4-FFF2-40B4-BE49-F238E27FC236}">
                <a16:creationId xmlns:a16="http://schemas.microsoft.com/office/drawing/2014/main" id="{2A6E5358-4336-471B-AEDD-586F006F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材料与对话共享保护状态</a:t>
            </a:r>
          </a:p>
        </p:txBody>
      </p:sp>
      <p:sp>
        <p:nvSpPr>
          <p:cNvPr id="6" name="处理附件和连续追问，保持代号关系与实际外发一">
            <a:extLst xmlns:a="http://schemas.openxmlformats.org/drawingml/2006/main">
              <a:ext uri="{FF2B5EF4-FFF2-40B4-BE49-F238E27FC236}">
                <a16:creationId xmlns:a16="http://schemas.microsoft.com/office/drawing/2014/main" id="{1CBC3A16-FD48-44A8-8F7A-8D27EEA8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处理附件和连续追问，保持代号关系与实际外发一致</a:t>
            </a:r>
          </a:p>
        </p:txBody>
      </p:sp>
      <p:sp>
        <p:nvSpPr>
          <p:cNvPr id="7" name="边界可观察的复核流程">
            <a:extLst xmlns:a="http://schemas.openxmlformats.org/drawingml/2006/main">
              <a:ext uri="{FF2B5EF4-FFF2-40B4-BE49-F238E27FC236}">
                <a16:creationId xmlns:a16="http://schemas.microsoft.com/office/drawing/2014/main" id="{5A8832EA-FC60-4C75-947D-947A6D7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边界可观察的复核流程</a:t>
            </a:r>
          </a:p>
        </p:txBody>
      </p:sp>
      <p:sp>
        <p:nvSpPr>
          <p:cNvPr id="8" name="分别检查请求、展示和工具参数，保存独立判断证">
            <a:extLst xmlns:a="http://schemas.openxmlformats.org/drawingml/2006/main">
              <a:ext uri="{FF2B5EF4-FFF2-40B4-BE49-F238E27FC236}">
                <a16:creationId xmlns:a16="http://schemas.microsoft.com/office/drawing/2014/main" id="{7F67C061-57CE-42A3-B31C-404BFFCF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分别检查请求、展示和工具参数，保存独立判断证据</a:t>
            </a:r>
          </a:p>
        </p:txBody>
      </p:sp>
    </p:spTree>
    <p:extLst>
      <p:ext uri="{BB962C8B-B14F-4D97-AF65-F5344CB8AC3E}">
        <p14:creationId xmlns:p14="http://schemas.microsoft.com/office/powerpoint/2010/main" val="11151163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产品演示与截图替换页">
            <a:extLst xmlns:a="http://schemas.openxmlformats.org/drawingml/2006/main">
              <a:ext uri="{FF2B5EF4-FFF2-40B4-BE49-F238E27FC236}">
                <a16:creationId xmlns:a16="http://schemas.microsoft.com/office/drawing/2014/main" id="{A0194EC8-2C46-441D-8BE3-64AF27FE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4E"/>
                </a:solidFill>
                <a:latin typeface="Microsoft YaHei"/>
                <a:ea typeface="Microsoft YaHei"/>
                <a:cs typeface="Microsoft YaHei"/>
              </a:rPr>
              <a:t>产品演示与截图替换页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B036EF65-18DF-4B17-A954-CFEADFBC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【待补】接入后的真实运行截图；保留模式、模型">
            <a:extLst xmlns:a="http://schemas.openxmlformats.org/drawingml/2006/main">
              <a:ext uri="{FF2B5EF4-FFF2-40B4-BE49-F238E27FC236}">
                <a16:creationId xmlns:a16="http://schemas.microsoft.com/office/drawing/2014/main" id="{FFEEF71B-15A8-4802-B3BE-81D286F8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【待补】接入后的真实运行截图；保留模式、模型版本与必要的处理详情</a:t>
            </a:r>
          </a:p>
        </p:txBody>
      </p:sp>
      <p:sp>
        <p:nvSpPr>
          <p:cNvPr id="4" name="真实截图替换位置">
            <a:extLst xmlns:a="http://schemas.openxmlformats.org/drawingml/2006/main">
              <a:ext uri="{FF2B5EF4-FFF2-40B4-BE49-F238E27FC236}">
                <a16:creationId xmlns:a16="http://schemas.microsoft.com/office/drawing/2014/main" id="{51D70B33-6B34-4FB5-9C86-5A3F37E5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296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9525">
            <a:solidFill>
              <a:srgbClr val="B8CAD2"/>
            </a:solidFill>
            <a:prstDash val="dash"/>
          </a:ln>
        </p:spPr>
        <p:txBody>
          <a:bodyPr xmlns:a="http://schemas.openxmlformats.org/drawingml/2006/main" lIns="190500" tIns="190500" rIns="190500" bIns="190500" anchor="ctr"/>
          <a:lstStyle xmlns:a="http://schemas.openxmlformats.org/drawingml/2006/main">
            <a:defPPr algn="ctr">
              <a:defRPr sz="2025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【待补 真实运行截图】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上传材料   连续追问   查看处理结果</a:t>
            </a:r>
          </a:p>
        </p:txBody>
      </p:sp>
      <p:sp>
        <p:nvSpPr>
          <p:cNvPr id="5" name="第一轮">
            <a:extLst xmlns:a="http://schemas.openxmlformats.org/drawingml/2006/main">
              <a:ext uri="{FF2B5EF4-FFF2-40B4-BE49-F238E27FC236}">
                <a16:creationId xmlns:a16="http://schemas.microsoft.com/office/drawing/2014/main" id="{2AA7C3BF-A3D3-44BF-833D-8043A458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57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第一轮</a:t>
            </a:r>
          </a:p>
        </p:txBody>
      </p:sp>
      <p:sp>
        <p:nvSpPr>
          <p:cNvPr id="6" name="上传纪要并整理">
            <a:extLst xmlns:a="http://schemas.openxmlformats.org/drawingml/2006/main">
              <a:ext uri="{FF2B5EF4-FFF2-40B4-BE49-F238E27FC236}">
                <a16:creationId xmlns:a16="http://schemas.microsoft.com/office/drawing/2014/main" id="{2130EF15-2CC0-4AD1-956A-C3DBF409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955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上传纪要并整理</a:t>
            </a:r>
          </a:p>
        </p:txBody>
      </p:sp>
      <p:sp>
        <p:nvSpPr>
          <p:cNvPr id="7" name="第二轮">
            <a:extLst xmlns:a="http://schemas.openxmlformats.org/drawingml/2006/main">
              <a:ext uri="{FF2B5EF4-FFF2-40B4-BE49-F238E27FC236}">
                <a16:creationId xmlns:a16="http://schemas.microsoft.com/office/drawing/2014/main" id="{9E7E90C5-5C3A-4FF5-8B20-8CB04169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95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第二轮</a:t>
            </a:r>
          </a:p>
        </p:txBody>
      </p:sp>
      <p:sp>
        <p:nvSpPr>
          <p:cNvPr id="8" name="按负责人列出待办">
            <a:extLst xmlns:a="http://schemas.openxmlformats.org/drawingml/2006/main">
              <a:ext uri="{FF2B5EF4-FFF2-40B4-BE49-F238E27FC236}">
                <a16:creationId xmlns:a16="http://schemas.microsoft.com/office/drawing/2014/main" id="{5A5EDFA2-B65A-4EC5-B6BC-C5C92D9D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337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按负责人列出待办</a:t>
            </a:r>
          </a:p>
        </p:txBody>
      </p:sp>
      <p:sp>
        <p:nvSpPr>
          <p:cNvPr id="9" name="第三轮">
            <a:extLst xmlns:a="http://schemas.openxmlformats.org/drawingml/2006/main">
              <a:ext uri="{FF2B5EF4-FFF2-40B4-BE49-F238E27FC236}">
                <a16:creationId xmlns:a16="http://schemas.microsoft.com/office/drawing/2014/main" id="{FB2DC244-812A-4319-9EE6-A88C5D68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338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83"/>
                </a:solidFill>
                <a:latin typeface="Microsoft YaHei"/>
                <a:ea typeface="Microsoft YaHei"/>
                <a:cs typeface="Microsoft YaHei"/>
              </a:rPr>
              <a:t>第三轮</a:t>
            </a:r>
          </a:p>
        </p:txBody>
      </p:sp>
      <p:sp>
        <p:nvSpPr>
          <p:cNvPr id="10" name="检查越权请求暂停">
            <a:extLst xmlns:a="http://schemas.openxmlformats.org/drawingml/2006/main">
              <a:ext uri="{FF2B5EF4-FFF2-40B4-BE49-F238E27FC236}">
                <a16:creationId xmlns:a16="http://schemas.microsoft.com/office/drawing/2014/main" id="{5E126FE7-C37D-4E1F-BE7B-6933979C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720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4"/>
                </a:solidFill>
                <a:latin typeface="Microsoft YaHei"/>
                <a:ea typeface="Microsoft YaHei"/>
                <a:cs typeface="Microsoft YaHei"/>
              </a:rPr>
              <a:t>检查越权请求暂停</a:t>
            </a:r>
          </a:p>
        </p:txBody>
      </p:sp>
    </p:spTree>
    <p:extLst>
      <p:ext uri="{BB962C8B-B14F-4D97-AF65-F5344CB8AC3E}">
        <p14:creationId xmlns:p14="http://schemas.microsoft.com/office/powerpoint/2010/main" val="9989709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交付与后续验收">
            <a:extLst xmlns:a="http://schemas.openxmlformats.org/drawingml/2006/main">
              <a:ext uri="{FF2B5EF4-FFF2-40B4-BE49-F238E27FC236}">
                <a16:creationId xmlns:a16="http://schemas.microsoft.com/office/drawing/2014/main" id="{1913FDDE-BD76-49BC-9A07-5CA15F5C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交付与后续验收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56A1D543-9BB0-44A3-B06C-01933AE9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团队信息、实际权重、训练日志、正式评测与视频">
            <a:extLst xmlns:a="http://schemas.openxmlformats.org/drawingml/2006/main">
              <a:ext uri="{FF2B5EF4-FFF2-40B4-BE49-F238E27FC236}">
                <a16:creationId xmlns:a16="http://schemas.microsoft.com/office/drawing/2014/main" id="{FCC336AA-7207-4704-A6A9-B6CFBAA2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DC4CE"/>
                </a:solidFill>
                <a:latin typeface="Microsoft YaHei"/>
                <a:ea typeface="Microsoft YaHei"/>
                <a:cs typeface="Microsoft YaHei"/>
              </a:rPr>
              <a:t>团队信息、实际权重、训练日志、正式评测与视频链接待补</a:t>
            </a:r>
          </a:p>
        </p:txBody>
      </p:sp>
      <p:sp>
        <p:nvSpPr>
          <p:cNvPr id="4" name="统一对话与安全执行链路已有原型">
            <a:extLst xmlns:a="http://schemas.openxmlformats.org/drawingml/2006/main">
              <a:ext uri="{FF2B5EF4-FFF2-40B4-BE49-F238E27FC236}">
                <a16:creationId xmlns:a16="http://schemas.microsoft.com/office/drawing/2014/main" id="{D3856043-D6BA-46A8-BDA6-AF17B13D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rPr>
              <a:t>统一对话与安全执行链路已有原型</a:t>
            </a:r>
          </a:p>
        </p:txBody>
      </p:sp>
      <p:sp>
        <p:nvSpPr>
          <p:cNvPr id="5" name="本地识别模块">
            <a:extLst xmlns:a="http://schemas.openxmlformats.org/drawingml/2006/main">
              <a:ext uri="{FF2B5EF4-FFF2-40B4-BE49-F238E27FC236}">
                <a16:creationId xmlns:a16="http://schemas.microsoft.com/office/drawing/2014/main" id="{AEED437A-347E-40CC-9462-1928DBC9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rPr>
              <a:t>本地识别模块</a:t>
            </a:r>
          </a:p>
        </p:txBody>
      </p:sp>
      <p:sp>
        <p:nvSpPr>
          <p:cNvPr id="6" name="冻结权重、提示、类别与量化方式，重跑完整回归">
            <a:extLst xmlns:a="http://schemas.openxmlformats.org/drawingml/2006/main">
              <a:ext uri="{FF2B5EF4-FFF2-40B4-BE49-F238E27FC236}">
                <a16:creationId xmlns:a16="http://schemas.microsoft.com/office/drawing/2014/main" id="{72A01943-CA6B-4BA3-A291-83A8C3D1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rPr>
              <a:t>冻结权重、提示、类别与量化方式，重跑完整回归</a:t>
            </a:r>
          </a:p>
        </p:txBody>
      </p:sp>
      <p:sp>
        <p:nvSpPr>
          <p:cNvPr id="7" name="真实服务与人工效果">
            <a:extLst xmlns:a="http://schemas.openxmlformats.org/drawingml/2006/main">
              <a:ext uri="{FF2B5EF4-FFF2-40B4-BE49-F238E27FC236}">
                <a16:creationId xmlns:a16="http://schemas.microsoft.com/office/drawing/2014/main" id="{BDD7A6AD-58C3-4C5F-AF75-A6FD537F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rPr>
              <a:t>真实服务与人工效果</a:t>
            </a:r>
          </a:p>
        </p:txBody>
      </p:sp>
      <p:sp>
        <p:nvSpPr>
          <p:cNvPr id="8" name="确认 API 连通，完成双人复核与分歧裁决">
            <a:extLst xmlns:a="http://schemas.openxmlformats.org/drawingml/2006/main">
              <a:ext uri="{FF2B5EF4-FFF2-40B4-BE49-F238E27FC236}">
                <a16:creationId xmlns:a16="http://schemas.microsoft.com/office/drawing/2014/main" id="{BB52C5EB-83E3-489B-B5B7-533FA597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rPr>
              <a:t>确认 API 连通，完成双人复核与分歧裁决</a:t>
            </a:r>
          </a:p>
        </p:txBody>
      </p:sp>
      <p:sp>
        <p:nvSpPr>
          <p:cNvPr id="9" name="第二台电脑部署">
            <a:extLst xmlns:a="http://schemas.openxmlformats.org/drawingml/2006/main">
              <a:ext uri="{FF2B5EF4-FFF2-40B4-BE49-F238E27FC236}">
                <a16:creationId xmlns:a16="http://schemas.microsoft.com/office/drawing/2014/main" id="{B2A04255-540B-40B0-8DB7-8A283C37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1D8C9"/>
                </a:solidFill>
                <a:latin typeface="Microsoft YaHei"/>
                <a:ea typeface="Microsoft YaHei"/>
                <a:cs typeface="Microsoft YaHei"/>
              </a:rPr>
              <a:t>第二台电脑部署</a:t>
            </a:r>
          </a:p>
        </p:txBody>
      </p:sp>
      <p:sp>
        <p:nvSpPr>
          <p:cNvPr id="10" name="记录依赖、资源占用、启动与失败行为">
            <a:extLst xmlns:a="http://schemas.openxmlformats.org/drawingml/2006/main">
              <a:ext uri="{FF2B5EF4-FFF2-40B4-BE49-F238E27FC236}">
                <a16:creationId xmlns:a16="http://schemas.microsoft.com/office/drawing/2014/main" id="{5821E453-BCC0-4B38-9BA3-B27569FE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1EDF0"/>
                </a:solidFill>
                <a:latin typeface="Microsoft YaHei"/>
                <a:ea typeface="Microsoft YaHei"/>
                <a:cs typeface="Microsoft YaHei"/>
              </a:rPr>
              <a:t>记录依赖、资源占用、启动与失败行为</a:t>
            </a:r>
          </a:p>
        </p:txBody>
      </p:sp>
    </p:spTree>
    <p:extLst>
      <p:ext uri="{BB962C8B-B14F-4D97-AF65-F5344CB8AC3E}">
        <p14:creationId xmlns:p14="http://schemas.microsoft.com/office/powerpoint/2010/main" val="1457338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2026-10-13T17:51:09.4750000Z</dcterms:created>
  <dcterms:modified xsi:type="dcterms:W3CDTF">2026-10-13T17:51:09.4750000Z</dcterms:modified>
</coreProperties>
</file>
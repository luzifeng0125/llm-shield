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8116af9bd43ca" /><Relationship Type="http://schemas.openxmlformats.org/officeDocument/2006/relationships/extended-properties" Target="/docProps/app.xml" Id="Rf8be1561b0a3412d" /><Relationship Type="http://schemas.openxmlformats.org/officeDocument/2006/relationships/officeDocument" Target="/ppt/presentation.xml" Id="R2310aec373d7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dd8d82f934a79"/>
  </p:sldMasterIdLst>
  <p:notesMasterIdLst>
    <p:notesMasterId xmlns:r="http://schemas.openxmlformats.org/officeDocument/2006/relationships" r:id="R38205110be8f45fd"/>
  </p:notesMasterIdLst>
  <p:sldIdLst>
    <p:sldId xmlns:r="http://schemas.openxmlformats.org/officeDocument/2006/relationships" id="256" r:id="R9840f4bff0984300"/>
    <p:sldId xmlns:r="http://schemas.openxmlformats.org/officeDocument/2006/relationships" id="257" r:id="Rf19c235c36534348"/>
    <p:sldId xmlns:r="http://schemas.openxmlformats.org/officeDocument/2006/relationships" id="258" r:id="R9ea629db32c54f0e"/>
    <p:sldId xmlns:r="http://schemas.openxmlformats.org/officeDocument/2006/relationships" id="259" r:id="R982cd10e738843cf"/>
    <p:sldId xmlns:r="http://schemas.openxmlformats.org/officeDocument/2006/relationships" id="260" r:id="R09d3e84329bb4cc2"/>
    <p:sldId xmlns:r="http://schemas.openxmlformats.org/officeDocument/2006/relationships" id="261" r:id="Ref85d3ead2c5466d"/>
    <p:sldId xmlns:r="http://schemas.openxmlformats.org/officeDocument/2006/relationships" id="262" r:id="Rc486fcde5e294b0a"/>
    <p:sldId xmlns:r="http://schemas.openxmlformats.org/officeDocument/2006/relationships" id="263" r:id="R97420860e2b34307"/>
    <p:sldId xmlns:r="http://schemas.openxmlformats.org/officeDocument/2006/relationships" id="264" r:id="Rfca6aa5bb5744cbc"/>
    <p:sldId xmlns:r="http://schemas.openxmlformats.org/officeDocument/2006/relationships" id="265" r:id="R2b3d3aeb7b124dd5"/>
    <p:sldId xmlns:r="http://schemas.openxmlformats.org/officeDocument/2006/relationships" id="266" r:id="R63b75b2b7fc54905"/>
    <p:sldId xmlns:r="http://schemas.openxmlformats.org/officeDocument/2006/relationships" id="267" r:id="R1ad0de562b4e4b73"/>
    <p:sldId xmlns:r="http://schemas.openxmlformats.org/officeDocument/2006/relationships" id="268" r:id="R67c763c94e6b4e40"/>
    <p:sldId xmlns:r="http://schemas.openxmlformats.org/officeDocument/2006/relationships" id="269" r:id="R1f3872e0990e429f"/>
    <p:sldId xmlns:r="http://schemas.openxmlformats.org/officeDocument/2006/relationships" id="270" r:id="R4b8a3f4b3540441a"/>
    <p:sldId xmlns:r="http://schemas.openxmlformats.org/officeDocument/2006/relationships" id="271" r:id="Rcfa419ea9e614fea"/>
    <p:sldId xmlns:r="http://schemas.openxmlformats.org/officeDocument/2006/relationships" id="272" r:id="R09f93004b51746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9e5669fca431e" /><Relationship Type="http://schemas.openxmlformats.org/officeDocument/2006/relationships/slideMaster" Target="/ppt/slideMasters/slideMaster1.xml" Id="R0addd8d82f934a79" /><Relationship Type="http://schemas.openxmlformats.org/officeDocument/2006/relationships/notesMaster" Target="/ppt/notesMasters/notesMaster1.xml" Id="R38205110be8f45fd" /><Relationship Type="http://schemas.openxmlformats.org/officeDocument/2006/relationships/presProps" Target="/ppt/presProps.xml" Id="R9e701582af834377" /><Relationship Type="http://schemas.openxmlformats.org/officeDocument/2006/relationships/tableStyles" Target="/ppt/tableStyles.xml" Id="R5c6afeaee2ac4e3f" /><Relationship Type="http://schemas.openxmlformats.org/officeDocument/2006/relationships/slide" Target="/ppt/slides/slide1.xml" Id="R9840f4bff0984300" /><Relationship Type="http://schemas.openxmlformats.org/officeDocument/2006/relationships/slide" Target="/ppt/slides/slide2.xml" Id="Rf19c235c36534348" /><Relationship Type="http://schemas.openxmlformats.org/officeDocument/2006/relationships/slide" Target="/ppt/slides/slide3.xml" Id="R9ea629db32c54f0e" /><Relationship Type="http://schemas.openxmlformats.org/officeDocument/2006/relationships/slide" Target="/ppt/slides/slide4.xml" Id="R982cd10e738843cf" /><Relationship Type="http://schemas.openxmlformats.org/officeDocument/2006/relationships/slide" Target="/ppt/slides/slide5.xml" Id="R09d3e84329bb4cc2" /><Relationship Type="http://schemas.openxmlformats.org/officeDocument/2006/relationships/slide" Target="/ppt/slides/slide6.xml" Id="Ref85d3ead2c5466d" /><Relationship Type="http://schemas.openxmlformats.org/officeDocument/2006/relationships/slide" Target="/ppt/slides/slide7.xml" Id="Rc486fcde5e294b0a" /><Relationship Type="http://schemas.openxmlformats.org/officeDocument/2006/relationships/slide" Target="/ppt/slides/slide8.xml" Id="R97420860e2b34307" /><Relationship Type="http://schemas.openxmlformats.org/officeDocument/2006/relationships/slide" Target="/ppt/slides/slide9.xml" Id="Rfca6aa5bb5744cbc" /><Relationship Type="http://schemas.openxmlformats.org/officeDocument/2006/relationships/slide" Target="/ppt/slides/slide10.xml" Id="R2b3d3aeb7b124dd5" /><Relationship Type="http://schemas.openxmlformats.org/officeDocument/2006/relationships/slide" Target="/ppt/slides/slide11.xml" Id="R63b75b2b7fc54905" /><Relationship Type="http://schemas.openxmlformats.org/officeDocument/2006/relationships/slide" Target="/ppt/slides/slide12.xml" Id="R1ad0de562b4e4b73" /><Relationship Type="http://schemas.openxmlformats.org/officeDocument/2006/relationships/slide" Target="/ppt/slides/slide13.xml" Id="R67c763c94e6b4e40" /><Relationship Type="http://schemas.openxmlformats.org/officeDocument/2006/relationships/slide" Target="/ppt/slides/slide14.xml" Id="R1f3872e0990e429f" /><Relationship Type="http://schemas.openxmlformats.org/officeDocument/2006/relationships/slide" Target="/ppt/slides/slide15.xml" Id="R4b8a3f4b3540441a" /><Relationship Type="http://schemas.openxmlformats.org/officeDocument/2006/relationships/slide" Target="/ppt/slides/slide16.xml" Id="Rcfa419ea9e614fea" /><Relationship Type="http://schemas.openxmlformats.org/officeDocument/2006/relationships/slide" Target="/ppt/slides/slide17.xml" Id="R09f93004b51746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ff9acd3efd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3b0f0b3064064" /><Relationship Type="http://schemas.openxmlformats.org/officeDocument/2006/relationships/notesMaster" Target="/ppt/notesMasters/notesMaster1.xml" Id="Rfd9b5cd4e2cd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7d592a1d29462e" /><Relationship Type="http://schemas.openxmlformats.org/officeDocument/2006/relationships/notesMaster" Target="/ppt/notesMasters/notesMaster1.xml" Id="R6b040ca234b2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1a2b74af74d0e" /><Relationship Type="http://schemas.openxmlformats.org/officeDocument/2006/relationships/notesMaster" Target="/ppt/notesMasters/notesMaster1.xml" Id="R3d1391aa5971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01925800c41f3" /><Relationship Type="http://schemas.openxmlformats.org/officeDocument/2006/relationships/notesMaster" Target="/ppt/notesMasters/notesMaster1.xml" Id="R91d9bcbce08b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9ab9fdb6934bb5" /><Relationship Type="http://schemas.openxmlformats.org/officeDocument/2006/relationships/notesMaster" Target="/ppt/notesMasters/notesMaster1.xml" Id="R8824dcfbc3c8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65835784c492b" /><Relationship Type="http://schemas.openxmlformats.org/officeDocument/2006/relationships/notesMaster" Target="/ppt/notesMasters/notesMaster1.xml" Id="R2e8208e9698d4b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69307709fb4ffb" /><Relationship Type="http://schemas.openxmlformats.org/officeDocument/2006/relationships/notesMaster" Target="/ppt/notesMasters/notesMaster1.xml" Id="Rdebad3d289c34b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ff5b43e7eb4c76" /><Relationship Type="http://schemas.openxmlformats.org/officeDocument/2006/relationships/notesMaster" Target="/ppt/notesMasters/notesMaster1.xml" Id="Re389b38dd526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9a9bdc4f66434c" /><Relationship Type="http://schemas.openxmlformats.org/officeDocument/2006/relationships/notesMaster" Target="/ppt/notesMasters/notesMaster1.xml" Id="R871921e4f9b844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def5410c7843be" /><Relationship Type="http://schemas.openxmlformats.org/officeDocument/2006/relationships/notesMaster" Target="/ppt/notesMasters/notesMaster1.xml" Id="R2b557af4a35f43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ade5b214ac43ac" /><Relationship Type="http://schemas.openxmlformats.org/officeDocument/2006/relationships/notesMaster" Target="/ppt/notesMasters/notesMaster1.xml" Id="Rd00c3b1b77a947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7b47496c6842d5" /><Relationship Type="http://schemas.openxmlformats.org/officeDocument/2006/relationships/notesMaster" Target="/ppt/notesMasters/notesMaster1.xml" Id="R931a1b03ccf84a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552a3ae2774236" /><Relationship Type="http://schemas.openxmlformats.org/officeDocument/2006/relationships/notesMaster" Target="/ppt/notesMasters/notesMaster1.xml" Id="R7157070cbbd743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bf5bb4a53b42b8" /><Relationship Type="http://schemas.openxmlformats.org/officeDocument/2006/relationships/notesMaster" Target="/ppt/notesMasters/notesMaster1.xml" Id="Rd1c1ee60862444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d125513a6f4563" /><Relationship Type="http://schemas.openxmlformats.org/officeDocument/2006/relationships/notesMaster" Target="/ppt/notesMasters/notesMaster1.xml" Id="R657012f7117548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8b741d52634ac4" /><Relationship Type="http://schemas.openxmlformats.org/officeDocument/2006/relationships/notesMaster" Target="/ppt/notesMasters/notesMaster1.xml" Id="R0eb931f9c85b45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2cf304657f43e3" /><Relationship Type="http://schemas.openxmlformats.org/officeDocument/2006/relationships/notesMaster" Target="/ppt/notesMasters/notesMaster1.xml" Id="R2e03958d7a20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各位评委好，我们的项目是隐盾，面向中文材料处理与多轮对话的隐私保护系统。我们关注一个具体问题：使用云端大模型时，怎样只发出完成任务所必需的信息。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  <a:p xmlns:a="http://schemas.openxmlformats.org/drawingml/2006/main">
            <a:r>
              <a:t>封面盾牌为概念插画，不是产品实物。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学生组织和课程团队整理纪要为例，任务需要知道谁负责什么、什么时候完成，但材料往往同时带着电话等个人信息。整份上传会多发信息，直接删除所有姓名又会破坏分工关系。隐盾希望在两者之间，保留完成任务所需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https://nxy.yangtzeu.edu.cn/info/1039/12343.htm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是一份两人的名单，如果任务是统计人数，外部模型只需要收到两人。如果任务是整理分工，就需要保留人员和事项的关系，用稳定代号替代真名。因此我们的决策单位是任务条件下的信息用途，不能只看有没有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目前原型的实际离线界面。用户上传材料后直接提问，再继续追问，不需要分别进入材料脱敏和聊天两个系统。每次发送都重新走本地保护流程。这里展示的是交互和安全处理流程，离线回复不代表真实云端模型的生成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截图：隐盾整合交付_20261012/验证结果/界面截图/chat-desktop.png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把隐私处理放在本机。先识别片段，再由动作模型选择处理方式，程序检查权限和最终发送内容。云端生成模型只接收通过检查的上下文。本地原值映射不随请求发送。当前客户端适配已经具备，真实服务连接还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动作模型可选择删除、本地统计、泛化、代号替换、保留或暂停。这里保留是有前提的，要满足任务必要性和可信权限。模型负责选择，安全检查只负责接受或暂停，不再使用旧规则来替模型兜底选动作。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实现：app/llm_shield/m3_decide 与 m4_necessity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风险也会发生在后续追问里。第一轮用人员甲替换姓名，第二轮修改期限时，需要继续对应同一个人。如果第三轮要求恢复原名给外部模型，不能因为前两轮已经放行就继续发送。暂停轮也不能污染此前成功的外发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创新集中在方法组合和验证方式。第一，把任务和接收方条件纳入动作决策，减少不必要披露。第二，让材料和多轮对话共享保护状态。第三，直接检查实际外发的内容，区分识别错误、决策错误和执行错误。这些优势需要通过同条件对照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本地小模型承担敏感片段识别与类别判断，通用内容生成仍交给外部服务。我们拟以 Qwen3 的一点七 B 模型为候选，采用参数高效微调，云端训练、本机推理。最终选型比较漏检、误删、定位、延迟和显存，当前还没有训练完成的专项权重。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https://huggingface.co/Qwen/Qwen3-1.7B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准备分成三个任务：五千一百条实体材料，一千四百四十条动作材料，以及三百六十段三轮对话。实体覆盖十四类，也包含负例和表格。数据目前主要是合成弱标签，另外保留八千条外部中文合成数据用于测试，避免把格式转换重复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  <a:p xmlns:a="http://schemas.openxmlformats.org/drawingml/2006/main">
            <a:r>
              <a:t>https://huggingface.co/datasets/wan9yu/pii-bench-zh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选定三批复核样本：训练一百二十八个、验证九十二个、封存测试九十二个。两人独立标注，第三人裁决，并抽查一致项。工具检查格式与差异，人判断语义、任务必要性和多轮风险。目前人工标注尚待执行，不能把候选答案当成人工金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当前记录包含八十一项回归检查、二十七项子检查和三十八项冒烟检查，它们按原始记录分别统计。原型已经具备统一对话、动作执行和失败暂停链路。这些检查证明工程流程可运行，正式识别效果、真实 API 和人工任务效果仍需独立验收。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先完成双人标注和裁决，获得可追溯答案，再训练候选模型，在独立验证集上选型，冻结后测试。最后在第二台电脑和真实服务上重跑完整链路。我们重点检查是否减少额外披露，同时保留分工、统计等任务所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隐盾希望让团队在使用大模型处理中文材料时，保留必要信息，减少额外披露。以上是我们的项目方案和阶段成果，谢谢各位评委。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实体输出以原文片段、Unicode 左闭右开索引、冻结类别为核心。程序核对文本切片与实体值。模型返回格式错误、索引越界、截断或不可用时，都不能解释为没有敏感信息。当前 14 类为 PERSON_NAME、PHONE、EMAIL、ID_CARD、BANK_CARD、STUDENT_ID、API_KEY、WECHAT、BUDGET、ORG、LOCATION、DORM、GRADE、SENSITIVE_ATTR。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两个已有分数衡量不同对象，不能直接横向比较。0.9887 是动作分类器在合成弱标签分组留出中的 Macro-F1，训练 7878 条、验证 2676 条，来源组无重叠。0.5501 是现有检测器在新合成验证集上的实体严格 F1，850 条材料、1100 个标准实体，标准答案仍为构造弱标签。正式评测需独立人工标准答案，同时报告各类别召回、禁止披露事件数及分母、任务完成率、误暂停和本机 P95 延迟与显存峰值。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本地：隐盾整合交付_20261012/数据集/隐盾数据集_v1/evaluation/current_detector_validation.json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项目已有 OpenAI 兼容客户端，但现有验证记录中的真实连接仍未验收。密钥只在本机配置，不放进 PPT。发送前检查完整外发载荷，回答复检后才显示和保存。工具参数需要独立检查，真实外部工具集成另行验收。清除本地材料或对话不会撤回已经发送的内容。系统不能承诺任意输入绝对无泄露，正式演示须保持离线或真实服务模式标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0510d562c44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15a675ad14d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c95644d2a45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62647d2964c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475ccd9e24a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7121de42346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DB88B3-2D01-4405-9AE1-EEAFC98F8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1A2E42-9761-4B54-A010-200CF7C803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71F879-BE48-4BCB-AB3A-7A873B756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24965A-78CA-469F-849D-63EB8743A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559932-7DD2-4C4F-94C3-E6E0F2978A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2D569F-E423-41F4-AF82-499F976E5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1AFB90-B73E-48C9-8547-7301003EA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89C5F7-0396-4FBA-A0A0-E2D034F0FB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2F6449-CB33-4498-82CF-A62114517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17071D-89B2-4BFB-B09E-4DFF9BCBC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c94000e40a44d4" /><Relationship Type="http://schemas.openxmlformats.org/officeDocument/2006/relationships/slideLayout" Target="/ppt/slideLayouts/slideLayout1.xml" Id="R0ff2aca0f0c6410f" /><Relationship Type="http://schemas.openxmlformats.org/officeDocument/2006/relationships/slideLayout" Target="/ppt/slideLayouts/slideLayout2.xml" Id="Rde456b2bdf5846b6" /><Relationship Type="http://schemas.openxmlformats.org/officeDocument/2006/relationships/slideLayout" Target="/ppt/slideLayouts/slideLayout3.xml" Id="R84317e01dc1d483d" /><Relationship Type="http://schemas.openxmlformats.org/officeDocument/2006/relationships/slideLayout" Target="/ppt/slideLayouts/slideLayout4.xml" Id="R75b3c8b6758f457f" /><Relationship Type="http://schemas.openxmlformats.org/officeDocument/2006/relationships/slideLayout" Target="/ppt/slideLayouts/slideLayout5.xml" Id="R387dd6fbff6f463e" /><Relationship Type="http://schemas.openxmlformats.org/officeDocument/2006/relationships/slideLayout" Target="/ppt/slideLayouts/slideLayout6.xml" Id="R6de684a1fb05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f2aca0f0c6410f"/>
    <p:sldLayoutId xmlns:r="http://schemas.openxmlformats.org/officeDocument/2006/relationships" id="2147483650" r:id="Rde456b2bdf5846b6"/>
    <p:sldLayoutId xmlns:r="http://schemas.openxmlformats.org/officeDocument/2006/relationships" id="2147483651" r:id="R84317e01dc1d483d"/>
    <p:sldLayoutId xmlns:r="http://schemas.openxmlformats.org/officeDocument/2006/relationships" id="2147483652" r:id="R75b3c8b6758f457f"/>
    <p:sldLayoutId xmlns:r="http://schemas.openxmlformats.org/officeDocument/2006/relationships" id="2147483653" r:id="R387dd6fbff6f463e"/>
    <p:sldLayoutId xmlns:r="http://schemas.openxmlformats.org/officeDocument/2006/relationships" id="2147483654" r:id="R6de684a1fb05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5b52971b140a6" /><Relationship Type="http://schemas.openxmlformats.org/officeDocument/2006/relationships/image" Target="/ppt/media/image.png" Id="R80a0248bdb4e4861" /><Relationship Type="http://schemas.openxmlformats.org/officeDocument/2006/relationships/notesSlide" Target="/ppt/notesSlides/notesSlide1.xml" Id="R39a01b5ef97f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6a4168b6e48cf" /><Relationship Type="http://schemas.openxmlformats.org/officeDocument/2006/relationships/notesSlide" Target="/ppt/notesSlides/notesSlide2.xml" Id="R316a988f0c75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76b13dc8b43cf" /><Relationship Type="http://schemas.openxmlformats.org/officeDocument/2006/relationships/notesSlide" Target="/ppt/notesSlides/notesSlide3.xml" Id="R4c74417088414d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56eb5d68444d0" /><Relationship Type="http://schemas.openxmlformats.org/officeDocument/2006/relationships/image" Target="/ppt/media/image2.png" Id="Ra1a67fb028844995" /><Relationship Type="http://schemas.openxmlformats.org/officeDocument/2006/relationships/notesSlide" Target="/ppt/notesSlides/notesSlide4.xml" Id="Rb49fc9b6f73f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6e8a11a0c4a90" /><Relationship Type="http://schemas.openxmlformats.org/officeDocument/2006/relationships/notesSlide" Target="/ppt/notesSlides/notesSlide5.xml" Id="R5c1beb497f4a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454296d0f49fe" /><Relationship Type="http://schemas.openxmlformats.org/officeDocument/2006/relationships/notesSlide" Target="/ppt/notesSlides/notesSlide6.xml" Id="Rde498172458841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01431645d4cef" /><Relationship Type="http://schemas.openxmlformats.org/officeDocument/2006/relationships/notesSlide" Target="/ppt/notesSlides/notesSlide7.xml" Id="R5b204a70cd9b41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1f5a303004feb" /><Relationship Type="http://schemas.openxmlformats.org/officeDocument/2006/relationships/notesSlide" Target="/ppt/notesSlides/notesSlide8.xml" Id="Rfaf977e21b6f44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744090b864373" /><Relationship Type="http://schemas.openxmlformats.org/officeDocument/2006/relationships/notesSlide" Target="/ppt/notesSlides/notesSlide9.xml" Id="Rc8b5dd83b04d44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4f1dc58e04a3d" /><Relationship Type="http://schemas.openxmlformats.org/officeDocument/2006/relationships/notesSlide" Target="/ppt/notesSlides/notesSlide10.xml" Id="Rd6126b02672748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fa7c24e644ddd" /><Relationship Type="http://schemas.openxmlformats.org/officeDocument/2006/relationships/chart" Target="/ppt/slides/charts/chart1.xml" Id="R2291d28513ce4610" /><Relationship Type="http://schemas.openxmlformats.org/officeDocument/2006/relationships/notesSlide" Target="/ppt/notesSlides/notesSlide11.xml" Id="R58fc4e6d9bcb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8c2074dd746c7" /><Relationship Type="http://schemas.openxmlformats.org/officeDocument/2006/relationships/notesSlide" Target="/ppt/notesSlides/notesSlide12.xml" Id="R80d591ced1ef4a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086ec9a014a8b" /><Relationship Type="http://schemas.openxmlformats.org/officeDocument/2006/relationships/notesSlide" Target="/ppt/notesSlides/notesSlide13.xml" Id="R3a0a310ad87d41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0615e409a4d42" /><Relationship Type="http://schemas.openxmlformats.org/officeDocument/2006/relationships/notesSlide" Target="/ppt/notesSlides/notesSlide14.xml" Id="R019dc874366844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9de7f10364834" /><Relationship Type="http://schemas.openxmlformats.org/officeDocument/2006/relationships/notesSlide" Target="/ppt/notesSlides/notesSlide15.xml" Id="R103f6fa248c04b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c40215d9d4b33" /><Relationship Type="http://schemas.openxmlformats.org/officeDocument/2006/relationships/notesSlide" Target="/ppt/notesSlides/notesSlide16.xml" Id="Re86e01b6c07b4f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d8c3a0d35460d" /><Relationship Type="http://schemas.openxmlformats.org/officeDocument/2006/relationships/notesSlide" Target="/ppt/notesSlides/notesSlide17.xml" Id="Re7dbe6c5c8a444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待复核单位</c:v>
          </c:tx>
          <c:spPr>
            <a:solidFill xmlns:a="http://schemas.openxmlformats.org/drawingml/2006/main">
              <a:srgbClr val="0066C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训练试标</c:v>
                </c:pt>
                <c:pt idx="1">
                  <c:v>独立验证</c:v>
                </c:pt>
                <c:pt idx="2">
                  <c:v>封存测试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128</c:v>
                </c:pt>
                <c:pt idx="1">
                  <c:v>92</c:v>
                </c:pt>
                <c:pt idx="2">
                  <c:v>92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1D1D1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96955F7-C3BF-424B-8DA4-0FDCF62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3D20E-60A7-4658-A6FE-E434D83F7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0248bdb4e4861"/>
          <a:stretch xmlns:a="http://schemas.openxmlformats.org/drawingml/2006/main"/>
        </p:blipFill>
        <p:spPr>
          <a:xfrm xmlns:a="http://schemas.openxmlformats.org/drawingml/2006/main">
            <a:off x="6153150" y="790575"/>
            <a:ext cx="5619750" cy="5619750"/>
          </a:xfrm>
          <a:prstGeom xmlns:a="http://schemas.openxmlformats.org/drawingml/2006/main" prst="rect">
            <a:avLst/>
          </a:prstGeom>
        </p:spPr>
      </p:pic>
      <p:sp>
        <p:nvSpPr>
          <p:cNvPr id="3" name="隐盾">
            <a:extLst xmlns:a="http://schemas.openxmlformats.org/drawingml/2006/main">
              <a:ext uri="{FF2B5EF4-FFF2-40B4-BE49-F238E27FC236}">
                <a16:creationId xmlns:a16="http://schemas.microsoft.com/office/drawing/2014/main" id="{BEB3BEAF-608B-4B5C-9FDB-69E1D40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5476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4" name="隐私保护对话系统">
            <a:extLst xmlns:a="http://schemas.openxmlformats.org/drawingml/2006/main">
              <a:ext uri="{FF2B5EF4-FFF2-40B4-BE49-F238E27FC236}">
                <a16:creationId xmlns:a16="http://schemas.microsoft.com/office/drawing/2014/main" id="{B496A549-C60A-4C02-94C0-2A036145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隐私保护对话系统</a:t>
            </a:r>
          </a:p>
        </p:txBody>
      </p:sp>
      <p:sp>
        <p:nvSpPr>
          <p:cNvPr id="5" name="中文材料与多轮对话的一体化保护">
            <a:extLst xmlns:a="http://schemas.openxmlformats.org/drawingml/2006/main">
              <a:ext uri="{FF2B5EF4-FFF2-40B4-BE49-F238E27FC236}">
                <a16:creationId xmlns:a16="http://schemas.microsoft.com/office/drawing/2014/main" id="{E60360F1-05F9-4803-A16E-55A149FD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中文材料与多轮对话的一体化保护</a:t>
            </a:r>
          </a:p>
        </p:txBody>
      </p:sp>
      <p:sp>
        <p:nvSpPr>
          <p:cNvPr id="6" name="挑战杯大学生课外学术科技作品竞赛">
            <a:extLst xmlns:a="http://schemas.openxmlformats.org/drawingml/2006/main">
              <a:ext uri="{FF2B5EF4-FFF2-40B4-BE49-F238E27FC236}">
                <a16:creationId xmlns:a16="http://schemas.microsoft.com/office/drawing/2014/main" id="{18AC93AD-C003-4D91-AC2A-DF66872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挑战杯大学生课外学术科技作品竞赛</a:t>
            </a:r>
          </a:p>
        </p:txBody>
      </p:sp>
    </p:spTree>
    <p:extLst>
      <p:ext uri="{BB962C8B-B14F-4D97-AF65-F5344CB8AC3E}">
        <p14:creationId xmlns:p14="http://schemas.microsoft.com/office/powerpoint/2010/main" val="1675627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纪要里的额外披露">
            <a:extLst xmlns:a="http://schemas.openxmlformats.org/drawingml/2006/main">
              <a:ext uri="{FF2B5EF4-FFF2-40B4-BE49-F238E27FC236}">
                <a16:creationId xmlns:a16="http://schemas.microsoft.com/office/drawing/2014/main" id="{F51737A5-83E2-49CD-A473-7B47B368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纪要里的额外披露</a:t>
            </a:r>
          </a:p>
        </p:txBody>
      </p:sp>
      <p:sp>
        <p:nvSpPr>
          <p:cNvPr id="2" name="合成场景示例。服务对象来自项目需求，尚非用户调研结论。">
            <a:extLst xmlns:a="http://schemas.openxmlformats.org/drawingml/2006/main">
              <a:ext uri="{FF2B5EF4-FFF2-40B4-BE49-F238E27FC236}">
                <a16:creationId xmlns:a16="http://schemas.microsoft.com/office/drawing/2014/main" id="{75D55AAE-77A1-4573-984A-9824A6D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合成场景示例。服务对象来自项目需求，尚非用户调研结论。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9C82E84A-B612-49B8-9844-DA17EE4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“请整理负责人和截止时间。”">
            <a:extLst xmlns:a="http://schemas.openxmlformats.org/drawingml/2006/main">
              <a:ext uri="{FF2B5EF4-FFF2-40B4-BE49-F238E27FC236}">
                <a16:creationId xmlns:a16="http://schemas.microsoft.com/office/drawing/2014/main" id="{9994565A-392A-4D21-97A1-0D7401C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“请整理负责人和截止时间。”</a:t>
            </a:r>
          </a:p>
        </p:txBody>
      </p:sp>
      <p:sp>
        <p:nvSpPr>
          <p:cNvPr id="5" name="原始材料">
            <a:extLst xmlns:a="http://schemas.openxmlformats.org/drawingml/2006/main">
              <a:ext uri="{FF2B5EF4-FFF2-40B4-BE49-F238E27FC236}">
                <a16:creationId xmlns:a16="http://schemas.microsoft.com/office/drawing/2014/main" id="{7E41E1C9-412D-4661-82EC-23BCDAC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6" name="卫乐安负责海报，周五完成。">
            <a:extLst xmlns:a="http://schemas.openxmlformats.org/drawingml/2006/main">
              <a:ext uri="{FF2B5EF4-FFF2-40B4-BE49-F238E27FC236}">
                <a16:creationId xmlns:a16="http://schemas.microsoft.com/office/drawing/2014/main" id="{3502C4EE-720C-431B-A408-489A418C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05100"/>
            <a:ext cx="852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卫乐安负责海报，周五完成。</a:t>
            </a:r>
          </a:p>
        </p:txBody>
      </p:sp>
      <p:sp>
        <p:nvSpPr>
          <p:cNvPr id="7" name="电话 13000000000">
            <a:extLst xmlns:a="http://schemas.openxmlformats.org/drawingml/2006/main">
              <a:ext uri="{FF2B5EF4-FFF2-40B4-BE49-F238E27FC236}">
                <a16:creationId xmlns:a16="http://schemas.microsoft.com/office/drawing/2014/main" id="{185C5EEF-357B-4615-BC1A-24E5C07B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852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电话 13000000000</a:t>
            </a:r>
          </a:p>
        </p:txBody>
      </p:sp>
      <p:sp>
        <p:nvSpPr>
          <p:cNvPr id="8" name="任务需要">
            <a:extLst xmlns:a="http://schemas.openxmlformats.org/drawingml/2006/main">
              <a:ext uri="{FF2B5EF4-FFF2-40B4-BE49-F238E27FC236}">
                <a16:creationId xmlns:a16="http://schemas.microsoft.com/office/drawing/2014/main" id="{0A5C3CAE-5D62-42D4-BB9E-49B6302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任务需要</a:t>
            </a:r>
          </a:p>
        </p:txBody>
      </p:sp>
      <p:sp>
        <p:nvSpPr>
          <p:cNvPr id="9" name="负责人关系、事项、期限">
            <a:extLst xmlns:a="http://schemas.openxmlformats.org/drawingml/2006/main">
              <a:ext uri="{FF2B5EF4-FFF2-40B4-BE49-F238E27FC236}">
                <a16:creationId xmlns:a16="http://schemas.microsoft.com/office/drawing/2014/main" id="{CEE20E67-91A8-4941-B315-2C704EB2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81525"/>
            <a:ext cx="852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负责人关系、事项、期限</a:t>
            </a:r>
          </a:p>
        </p:txBody>
      </p:sp>
    </p:spTree>
    <p:extLst>
      <p:ext uri="{BB962C8B-B14F-4D97-AF65-F5344CB8AC3E}">
        <p14:creationId xmlns:p14="http://schemas.microsoft.com/office/powerpoint/2010/main" val="5462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同一份名单，不同处理方式">
            <a:extLst xmlns:a="http://schemas.openxmlformats.org/drawingml/2006/main">
              <a:ext uri="{FF2B5EF4-FFF2-40B4-BE49-F238E27FC236}">
                <a16:creationId xmlns:a16="http://schemas.microsoft.com/office/drawing/2014/main" id="{25FF252C-9F91-4684-8FC7-8C01AC6A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同一份名单，不同处理方式</a:t>
            </a:r>
          </a:p>
        </p:txBody>
      </p:sp>
      <p:sp>
        <p:nvSpPr>
          <p:cNvPr id="2" name="处理结果为设计示例，体现不同任务下的信息必要性。">
            <a:extLst xmlns:a="http://schemas.openxmlformats.org/drawingml/2006/main">
              <a:ext uri="{FF2B5EF4-FFF2-40B4-BE49-F238E27FC236}">
                <a16:creationId xmlns:a16="http://schemas.microsoft.com/office/drawing/2014/main" id="{FEAEF6B7-6C99-41FD-AA5C-5EBA3B12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处理结果为设计示例，体现不同任务下的信息必要性。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8E07573-D118-4222-8E6C-790C19A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卫乐安负责海报，林雨禾负责场地">
            <a:extLst xmlns:a="http://schemas.openxmlformats.org/drawingml/2006/main">
              <a:ext uri="{FF2B5EF4-FFF2-40B4-BE49-F238E27FC236}">
                <a16:creationId xmlns:a16="http://schemas.microsoft.com/office/drawing/2014/main" id="{BAEE07CE-9B71-435A-9693-31EA99FA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192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卫乐安负责海报，林雨禾负责场地</a:t>
            </a:r>
          </a:p>
        </p:txBody>
      </p:sp>
      <p:sp>
        <p:nvSpPr>
          <p:cNvPr id="5" name="统计参加人数">
            <a:extLst xmlns:a="http://schemas.openxmlformats.org/drawingml/2006/main">
              <a:ext uri="{FF2B5EF4-FFF2-40B4-BE49-F238E27FC236}">
                <a16:creationId xmlns:a16="http://schemas.microsoft.com/office/drawing/2014/main" id="{3DA2189A-3DB4-46DD-ABD0-3361E6A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统计参加人数</a:t>
            </a:r>
          </a:p>
        </p:txBody>
      </p:sp>
      <p:sp>
        <p:nvSpPr>
          <p:cNvPr id="6" name="2 人">
            <a:extLst xmlns:a="http://schemas.openxmlformats.org/drawingml/2006/main">
              <a:ext uri="{FF2B5EF4-FFF2-40B4-BE49-F238E27FC236}">
                <a16:creationId xmlns:a16="http://schemas.microsoft.com/office/drawing/2014/main" id="{1B07D67C-8DF3-46E4-853D-67C757C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 人</a:t>
            </a:r>
          </a:p>
        </p:txBody>
      </p:sp>
      <p:sp>
        <p:nvSpPr>
          <p:cNvPr id="7" name="只发送统计结果">
            <a:extLst xmlns:a="http://schemas.openxmlformats.org/drawingml/2006/main">
              <a:ext uri="{FF2B5EF4-FFF2-40B4-BE49-F238E27FC236}">
                <a16:creationId xmlns:a16="http://schemas.microsoft.com/office/drawing/2014/main" id="{C996DA9E-790D-4249-ACFA-B068B41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9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只发送统计结果</a:t>
            </a:r>
          </a:p>
        </p:txBody>
      </p:sp>
      <p:sp>
        <p:nvSpPr>
          <p:cNvPr id="8" name="整理负责人分工">
            <a:extLst xmlns:a="http://schemas.openxmlformats.org/drawingml/2006/main">
              <a:ext uri="{FF2B5EF4-FFF2-40B4-BE49-F238E27FC236}">
                <a16:creationId xmlns:a16="http://schemas.microsoft.com/office/drawing/2014/main" id="{C1550FEB-DEDB-4DF6-AF80-6E8680F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整理负责人分工</a:t>
            </a:r>
          </a:p>
        </p:txBody>
      </p:sp>
      <p:sp>
        <p:nvSpPr>
          <p:cNvPr id="9" name="人员甲负责海报 人员乙负责场地">
            <a:extLst xmlns:a="http://schemas.openxmlformats.org/drawingml/2006/main">
              <a:ext uri="{FF2B5EF4-FFF2-40B4-BE49-F238E27FC236}">
                <a16:creationId xmlns:a16="http://schemas.microsoft.com/office/drawing/2014/main" id="{39544243-0080-4C43-9CCE-8CB8179A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71850"/>
            <a:ext cx="4867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人员甲负责海报</a:t>
            </a:r>
          </a:p>
          <a:p xmlns:a="http://schemas.openxmlformats.org/drawingml/2006/main">
            <a: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人员乙负责场地</a:t>
            </a:r>
          </a:p>
        </p:txBody>
      </p:sp>
      <p:sp>
        <p:nvSpPr>
          <p:cNvPr id="10" name="保留关系，替换真实姓名">
            <a:extLst xmlns:a="http://schemas.openxmlformats.org/drawingml/2006/main">
              <a:ext uri="{FF2B5EF4-FFF2-40B4-BE49-F238E27FC236}">
                <a16:creationId xmlns:a16="http://schemas.microsoft.com/office/drawing/2014/main" id="{46433136-84AF-4A2A-BB6E-989BAE5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7682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保留关系，替换真实姓名</a:t>
            </a:r>
          </a:p>
        </p:txBody>
      </p:sp>
    </p:spTree>
    <p:extLst>
      <p:ext uri="{BB962C8B-B14F-4D97-AF65-F5344CB8AC3E}">
        <p14:creationId xmlns:p14="http://schemas.microsoft.com/office/powerpoint/2010/main" val="1349510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材料与追问，共用一个对话">
            <a:extLst xmlns:a="http://schemas.openxmlformats.org/drawingml/2006/main">
              <a:ext uri="{FF2B5EF4-FFF2-40B4-BE49-F238E27FC236}">
                <a16:creationId xmlns:a16="http://schemas.microsoft.com/office/drawing/2014/main" id="{84B2C755-6DB3-4E51-95EC-E775089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材料与追问，共用一个对话</a:t>
            </a:r>
          </a:p>
        </p:txBody>
      </p:sp>
      <p:sp>
        <p:nvSpPr>
          <p:cNvPr id="2" name="现有原型实拍截图，离线演示模式。">
            <a:extLst xmlns:a="http://schemas.openxmlformats.org/drawingml/2006/main">
              <a:ext uri="{FF2B5EF4-FFF2-40B4-BE49-F238E27FC236}">
                <a16:creationId xmlns:a16="http://schemas.microsoft.com/office/drawing/2014/main" id="{31153BB9-9564-40EC-B8ED-8658038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现有原型实拍截图，离线演示模式。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62D1905E-B389-4DD0-8732-53C3F87D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上传材料 直接提问 继续对话">
            <a:extLst xmlns:a="http://schemas.openxmlformats.org/drawingml/2006/main">
              <a:ext uri="{FF2B5EF4-FFF2-40B4-BE49-F238E27FC236}">
                <a16:creationId xmlns:a16="http://schemas.microsoft.com/office/drawing/2014/main" id="{DF9102F6-93C7-404E-A1BF-507EA85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3429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上传材料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直接提问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继续对话</a:t>
            </a:r>
          </a:p>
        </p:txBody>
      </p:sp>
      <p:sp>
        <p:nvSpPr>
          <p:cNvPr id="5" name="每一轮发送前 都经过本地保护">
            <a:extLst xmlns:a="http://schemas.openxmlformats.org/drawingml/2006/main">
              <a:ext uri="{FF2B5EF4-FFF2-40B4-BE49-F238E27FC236}">
                <a16:creationId xmlns:a16="http://schemas.microsoft.com/office/drawing/2014/main" id="{AA976B41-38BD-489F-B788-A1678E1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每一轮发送前</a:t>
            </a:r>
          </a:p>
          <a:p xmlns:a="http://schemas.openxmlformats.org/drawingml/2006/main">
            <a: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都经过本地保护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EC8D-712C-4622-B2D6-66BC2EDC8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67fb028844995"/>
          <a:stretch xmlns:a="http://schemas.openxmlformats.org/drawingml/2006/main"/>
        </p:blipFill>
        <p:spPr>
          <a:xfrm xmlns:a="http://schemas.openxmlformats.org/drawingml/2006/main">
            <a:off x="4845374" y="1514475"/>
            <a:ext cx="6044551" cy="460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48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地处理与云端生成">
            <a:extLst xmlns:a="http://schemas.openxmlformats.org/drawingml/2006/main">
              <a:ext uri="{FF2B5EF4-FFF2-40B4-BE49-F238E27FC236}">
                <a16:creationId xmlns:a16="http://schemas.microsoft.com/office/drawing/2014/main" id="{365B00EF-BD10-4B79-AD7D-287B4520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本地处理与云端生成</a:t>
            </a:r>
          </a:p>
        </p:txBody>
      </p:sp>
      <p:sp>
        <p:nvSpPr>
          <p:cNvPr id="2" name="当前原型具备动作模型与校验链路；专项识别模型和真实 API ">
            <a:extLst xmlns:a="http://schemas.openxmlformats.org/drawingml/2006/main">
              <a:ext uri="{FF2B5EF4-FFF2-40B4-BE49-F238E27FC236}">
                <a16:creationId xmlns:a16="http://schemas.microsoft.com/office/drawing/2014/main" id="{19643F2B-6EB1-4B43-9011-73100340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当前原型具备动作模型与校验链路；专项识别模型和真实 API 效果待验收。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0598EF9-CFDE-47F8-876B-1AB00A0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本机">
            <a:extLst xmlns:a="http://schemas.openxmlformats.org/drawingml/2006/main">
              <a:ext uri="{FF2B5EF4-FFF2-40B4-BE49-F238E27FC236}">
                <a16:creationId xmlns:a16="http://schemas.microsoft.com/office/drawing/2014/main" id="{518E3BD1-0D33-4B56-B788-237601C0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本机</a:t>
            </a:r>
          </a:p>
        </p:txBody>
      </p:sp>
      <p:sp>
        <p:nvSpPr>
          <p:cNvPr id="5" name="云端">
            <a:extLst xmlns:a="http://schemas.openxmlformats.org/drawingml/2006/main">
              <a:ext uri="{FF2B5EF4-FFF2-40B4-BE49-F238E27FC236}">
                <a16:creationId xmlns:a16="http://schemas.microsoft.com/office/drawing/2014/main" id="{98924D89-82E4-44EC-9870-8573410C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云端</a:t>
            </a:r>
          </a:p>
        </p:txBody>
      </p:sp>
      <p:sp>
        <p:nvSpPr>
          <p:cNvPr id="6" name="材料与会话管理 敏感片段识别 模型动作与安全校验">
            <a:extLst xmlns:a="http://schemas.openxmlformats.org/drawingml/2006/main">
              <a:ext uri="{FF2B5EF4-FFF2-40B4-BE49-F238E27FC236}">
                <a16:creationId xmlns:a16="http://schemas.microsoft.com/office/drawing/2014/main" id="{6CC2B9B2-5052-48CD-B7A9-D416A43D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材料与会话管理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敏感片段识别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模型动作与安全校验</a:t>
            </a:r>
          </a:p>
        </p:txBody>
      </p:sp>
      <p:sp>
        <p:nvSpPr>
          <p:cNvPr id="7" name="生成模型 API 依据处理后的上下文回答">
            <a:extLst xmlns:a="http://schemas.openxmlformats.org/drawingml/2006/main">
              <a:ext uri="{FF2B5EF4-FFF2-40B4-BE49-F238E27FC236}">
                <a16:creationId xmlns:a16="http://schemas.microsoft.com/office/drawing/2014/main" id="{149B71A8-A65F-4B73-A748-E24176A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4238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生成模型 API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依据处理后的上下文回答</a:t>
            </a:r>
          </a:p>
        </p:txBody>
      </p:sp>
      <p:sp>
        <p:nvSpPr>
          <p:cNvPr id="8" name="原文与身份映射留在本地">
            <a:extLst xmlns:a="http://schemas.openxmlformats.org/drawingml/2006/main">
              <a:ext uri="{FF2B5EF4-FFF2-40B4-BE49-F238E27FC236}">
                <a16:creationId xmlns:a16="http://schemas.microsoft.com/office/drawing/2014/main" id="{4276FA01-9696-442C-95C3-CCAFC2D9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958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原文与身份映射留在本地</a:t>
            </a:r>
          </a:p>
        </p:txBody>
      </p:sp>
      <p:sp>
        <p:nvSpPr>
          <p:cNvPr id="9" name="回答复检后进入对话">
            <a:extLst xmlns:a="http://schemas.openxmlformats.org/drawingml/2006/main">
              <a:ext uri="{FF2B5EF4-FFF2-40B4-BE49-F238E27FC236}">
                <a16:creationId xmlns:a16="http://schemas.microsoft.com/office/drawing/2014/main" id="{0781AD8D-CFBC-47D6-BF14-C4D65E4F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958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回答复检后进入对话</a:t>
            </a:r>
          </a:p>
        </p:txBody>
      </p:sp>
    </p:spTree>
    <p:extLst>
      <p:ext uri="{BB962C8B-B14F-4D97-AF65-F5344CB8AC3E}">
        <p14:creationId xmlns:p14="http://schemas.microsoft.com/office/powerpoint/2010/main" val="971264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模型选择六种处理动作">
            <a:extLst xmlns:a="http://schemas.openxmlformats.org/drawingml/2006/main">
              <a:ext uri="{FF2B5EF4-FFF2-40B4-BE49-F238E27FC236}">
                <a16:creationId xmlns:a16="http://schemas.microsoft.com/office/drawing/2014/main" id="{95099775-7837-4D71-BB36-308A3DE8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模型选择六种处理动作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FE2DE05-178A-463B-A3D1-A8B3501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删除">
            <a:extLst xmlns:a="http://schemas.openxmlformats.org/drawingml/2006/main">
              <a:ext uri="{FF2B5EF4-FFF2-40B4-BE49-F238E27FC236}">
                <a16:creationId xmlns:a16="http://schemas.microsoft.com/office/drawing/2014/main" id="{72126B3C-63FF-4CC2-B428-91FB61B8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14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删除</a:t>
            </a:r>
          </a:p>
        </p:txBody>
      </p:sp>
      <p:sp>
        <p:nvSpPr>
          <p:cNvPr id="4" name="去掉任务无关的联系方式">
            <a:extLst xmlns:a="http://schemas.openxmlformats.org/drawingml/2006/main">
              <a:ext uri="{FF2B5EF4-FFF2-40B4-BE49-F238E27FC236}">
                <a16:creationId xmlns:a16="http://schemas.microsoft.com/office/drawing/2014/main" id="{CBF3012B-000E-40AC-87CF-259C203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050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去掉任务无关的联系方式</a:t>
            </a:r>
          </a:p>
        </p:txBody>
      </p:sp>
      <p:sp>
        <p:nvSpPr>
          <p:cNvPr id="5" name="本地统计">
            <a:extLst xmlns:a="http://schemas.openxmlformats.org/drawingml/2006/main">
              <a:ext uri="{FF2B5EF4-FFF2-40B4-BE49-F238E27FC236}">
                <a16:creationId xmlns:a16="http://schemas.microsoft.com/office/drawing/2014/main" id="{D2744C08-02EF-454E-B313-62149C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14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本地统计</a:t>
            </a:r>
          </a:p>
        </p:txBody>
      </p:sp>
      <p:sp>
        <p:nvSpPr>
          <p:cNvPr id="6" name="只发送人数等汇总结果">
            <a:extLst xmlns:a="http://schemas.openxmlformats.org/drawingml/2006/main">
              <a:ext uri="{FF2B5EF4-FFF2-40B4-BE49-F238E27FC236}">
                <a16:creationId xmlns:a16="http://schemas.microsoft.com/office/drawing/2014/main" id="{9076F6C9-4A79-4268-88E6-5F4C59C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050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只发送人数等汇总结果</a:t>
            </a:r>
          </a:p>
        </p:txBody>
      </p:sp>
      <p:sp>
        <p:nvSpPr>
          <p:cNvPr id="7" name="泛化">
            <a:extLst xmlns:a="http://schemas.openxmlformats.org/drawingml/2006/main">
              <a:ext uri="{FF2B5EF4-FFF2-40B4-BE49-F238E27FC236}">
                <a16:creationId xmlns:a16="http://schemas.microsoft.com/office/drawing/2014/main" id="{4C608215-4C6D-46CE-932F-B510294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泛化</a:t>
            </a:r>
          </a:p>
        </p:txBody>
      </p:sp>
      <p:sp>
        <p:nvSpPr>
          <p:cNvPr id="8" name="降低位置或数值的精度">
            <a:extLst xmlns:a="http://schemas.openxmlformats.org/drawingml/2006/main">
              <a:ext uri="{FF2B5EF4-FFF2-40B4-BE49-F238E27FC236}">
                <a16:creationId xmlns:a16="http://schemas.microsoft.com/office/drawing/2014/main" id="{79143777-1232-44C4-8AC0-6F18E94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降低位置或数值的精度</a:t>
            </a:r>
          </a:p>
        </p:txBody>
      </p:sp>
      <p:sp>
        <p:nvSpPr>
          <p:cNvPr id="9" name="代号替换">
            <a:extLst xmlns:a="http://schemas.openxmlformats.org/drawingml/2006/main">
              <a:ext uri="{FF2B5EF4-FFF2-40B4-BE49-F238E27FC236}">
                <a16:creationId xmlns:a16="http://schemas.microsoft.com/office/drawing/2014/main" id="{DC7B54A0-62E1-4F3C-9DAA-D17E5D95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代号替换</a:t>
            </a:r>
          </a:p>
        </p:txBody>
      </p:sp>
      <p:sp>
        <p:nvSpPr>
          <p:cNvPr id="10" name="保留人物与事项的对应">
            <a:extLst xmlns:a="http://schemas.openxmlformats.org/drawingml/2006/main">
              <a:ext uri="{FF2B5EF4-FFF2-40B4-BE49-F238E27FC236}">
                <a16:creationId xmlns:a16="http://schemas.microsoft.com/office/drawing/2014/main" id="{2CF779B4-5D63-4CBE-AACB-FB597CE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保留人物与事项的对应</a:t>
            </a:r>
          </a:p>
        </p:txBody>
      </p:sp>
      <p:sp>
        <p:nvSpPr>
          <p:cNvPr id="11" name="保留">
            <a:extLst xmlns:a="http://schemas.openxmlformats.org/drawingml/2006/main">
              <a:ext uri="{FF2B5EF4-FFF2-40B4-BE49-F238E27FC236}">
                <a16:creationId xmlns:a16="http://schemas.microsoft.com/office/drawing/2014/main" id="{40C484B3-45C1-4FD0-B1FA-BAC2638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2" name="用途与权限均满足时保留">
            <a:extLst xmlns:a="http://schemas.openxmlformats.org/drawingml/2006/main">
              <a:ext uri="{FF2B5EF4-FFF2-40B4-BE49-F238E27FC236}">
                <a16:creationId xmlns:a16="http://schemas.microsoft.com/office/drawing/2014/main" id="{12F95B66-6C95-4D5A-B674-8AF1AD9D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054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用途与权限均满足时保留</a:t>
            </a:r>
          </a:p>
        </p:txBody>
      </p:sp>
      <p:sp>
        <p:nvSpPr>
          <p:cNvPr id="13" name="暂停">
            <a:extLst xmlns:a="http://schemas.openxmlformats.org/drawingml/2006/main">
              <a:ext uri="{FF2B5EF4-FFF2-40B4-BE49-F238E27FC236}">
                <a16:creationId xmlns:a16="http://schemas.microsoft.com/office/drawing/2014/main" id="{CABA9A63-95DC-4ED1-BAAC-C897E15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148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14" name="权限未知或处理不可靠时停止">
            <a:extLst xmlns:a="http://schemas.openxmlformats.org/drawingml/2006/main">
              <a:ext uri="{FF2B5EF4-FFF2-40B4-BE49-F238E27FC236}">
                <a16:creationId xmlns:a16="http://schemas.microsoft.com/office/drawing/2014/main" id="{C263F858-1C46-4685-BA4B-84ACA80E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054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权限未知或处理不可靠时停止</a:t>
            </a:r>
          </a:p>
        </p:txBody>
      </p:sp>
    </p:spTree>
    <p:extLst>
      <p:ext uri="{BB962C8B-B14F-4D97-AF65-F5344CB8AC3E}">
        <p14:creationId xmlns:p14="http://schemas.microsoft.com/office/powerpoint/2010/main" val="80247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多轮保护的连续性">
            <a:extLst xmlns:a="http://schemas.openxmlformats.org/drawingml/2006/main">
              <a:ext uri="{FF2B5EF4-FFF2-40B4-BE49-F238E27FC236}">
                <a16:creationId xmlns:a16="http://schemas.microsoft.com/office/drawing/2014/main" id="{D497C508-9507-4C98-A603-8A84B1A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多轮保护的连续性</a:t>
            </a:r>
          </a:p>
        </p:txBody>
      </p:sp>
      <p:sp>
        <p:nvSpPr>
          <p:cNvPr id="2" name="合成会话目标示例。复杂指代与累计披露仍需专项训练和验证。">
            <a:extLst xmlns:a="http://schemas.openxmlformats.org/drawingml/2006/main">
              <a:ext uri="{FF2B5EF4-FFF2-40B4-BE49-F238E27FC236}">
                <a16:creationId xmlns:a16="http://schemas.microsoft.com/office/drawing/2014/main" id="{4E55C68A-238B-48AE-BB60-40172246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合成会话目标示例。复杂指代与累计披露仍需专项训练和验证。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639B38DD-1338-4465-889F-2D6BBFC3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DB7AE-006F-4F5A-B5F7-C9629346199B}"/>
              </a:ext>
            </a:extLst>
          </p:cNvPr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04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4572000"/>
                <a:gridCol w="4857750"/>
              </a:tblGrid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用户请求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处理目标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卫乐安负责海报，周五完成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人员甲负责海报，周五完成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把他的截止时间改为周一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保持人员甲与海报的关系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恢复真实姓名并发给云端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暂停本轮，不发送原名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稳定代号沿用，外发历史按成功轮次提交">
            <a:extLst xmlns:a="http://schemas.openxmlformats.org/drawingml/2006/main">
              <a:ext uri="{FF2B5EF4-FFF2-40B4-BE49-F238E27FC236}">
                <a16:creationId xmlns:a16="http://schemas.microsoft.com/office/drawing/2014/main" id="{3B5352FD-6FD0-4779-9966-68603CE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稳定代号沿用，外发历史按成功轮次提交</a:t>
            </a:r>
          </a:p>
        </p:txBody>
      </p:sp>
    </p:spTree>
    <p:extLst>
      <p:ext uri="{BB962C8B-B14F-4D97-AF65-F5344CB8AC3E}">
        <p14:creationId xmlns:p14="http://schemas.microsoft.com/office/powerpoint/2010/main" val="1421139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项目的技术创新点">
            <a:extLst xmlns:a="http://schemas.openxmlformats.org/drawingml/2006/main">
              <a:ext uri="{FF2B5EF4-FFF2-40B4-BE49-F238E27FC236}">
                <a16:creationId xmlns:a16="http://schemas.microsoft.com/office/drawing/2014/main" id="{15FBFC14-EF71-4490-A95B-18BEE88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项目的技术创新点</a:t>
            </a:r>
          </a:p>
        </p:txBody>
      </p:sp>
      <p:sp>
        <p:nvSpPr>
          <p:cNvPr id="2" name="创新方案及验证假设。当前不宣称首创或已优于所有现有方案。">
            <a:extLst xmlns:a="http://schemas.openxmlformats.org/drawingml/2006/main">
              <a:ext uri="{FF2B5EF4-FFF2-40B4-BE49-F238E27FC236}">
                <a16:creationId xmlns:a16="http://schemas.microsoft.com/office/drawing/2014/main" id="{A07BC67A-5663-4ADB-9C41-675A37F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创新方案及验证假设。当前不宣称首创或已优于所有现有方案。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C718918D-D857-4C43-8A46-3919E68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任务条件决策">
            <a:extLst xmlns:a="http://schemas.openxmlformats.org/drawingml/2006/main">
              <a:ext uri="{FF2B5EF4-FFF2-40B4-BE49-F238E27FC236}">
                <a16:creationId xmlns:a16="http://schemas.microsoft.com/office/drawing/2014/main" id="{7CDEC029-D2F0-4BA8-8592-EF6EDAD0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任务条件决策</a:t>
            </a:r>
          </a:p>
        </p:txBody>
      </p:sp>
      <p:sp>
        <p:nvSpPr>
          <p:cNvPr id="5" name="结合任务、身份与接收方选择处理动作">
            <a:extLst xmlns:a="http://schemas.openxmlformats.org/drawingml/2006/main">
              <a:ext uri="{FF2B5EF4-FFF2-40B4-BE49-F238E27FC236}">
                <a16:creationId xmlns:a16="http://schemas.microsoft.com/office/drawing/2014/main" id="{8EC4F0DC-A440-4740-8C36-6C4398D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结合任务、身份与接收方选择处理动作</a:t>
            </a:r>
          </a:p>
        </p:txBody>
      </p:sp>
      <p:sp>
        <p:nvSpPr>
          <p:cNvPr id="6" name="连续保护状态">
            <a:extLst xmlns:a="http://schemas.openxmlformats.org/drawingml/2006/main">
              <a:ext uri="{FF2B5EF4-FFF2-40B4-BE49-F238E27FC236}">
                <a16:creationId xmlns:a16="http://schemas.microsoft.com/office/drawing/2014/main" id="{31D66054-6EBB-4813-B221-4145438A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连续保护状态</a:t>
            </a:r>
          </a:p>
        </p:txBody>
      </p:sp>
      <p:sp>
        <p:nvSpPr>
          <p:cNvPr id="7" name="附件和追问共同使用代号映射与安全历史">
            <a:extLst xmlns:a="http://schemas.openxmlformats.org/drawingml/2006/main">
              <a:ext uri="{FF2B5EF4-FFF2-40B4-BE49-F238E27FC236}">
                <a16:creationId xmlns:a16="http://schemas.microsoft.com/office/drawing/2014/main" id="{40F6D116-976E-4BB0-A82F-C8A803A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附件和追问共同使用代号映射与安全历史</a:t>
            </a:r>
          </a:p>
        </p:txBody>
      </p:sp>
      <p:sp>
        <p:nvSpPr>
          <p:cNvPr id="8" name="外发内容可复核">
            <a:extLst xmlns:a="http://schemas.openxmlformats.org/drawingml/2006/main">
              <a:ext uri="{FF2B5EF4-FFF2-40B4-BE49-F238E27FC236}">
                <a16:creationId xmlns:a16="http://schemas.microsoft.com/office/drawing/2014/main" id="{95552C7D-71D5-4177-9C4F-B6AC8047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外发内容可复核</a:t>
            </a:r>
          </a:p>
        </p:txBody>
      </p:sp>
      <p:sp>
        <p:nvSpPr>
          <p:cNvPr id="9" name="将漏检、误决策与执行泄露分别归因">
            <a:extLst xmlns:a="http://schemas.openxmlformats.org/drawingml/2006/main">
              <a:ext uri="{FF2B5EF4-FFF2-40B4-BE49-F238E27FC236}">
                <a16:creationId xmlns:a16="http://schemas.microsoft.com/office/drawing/2014/main" id="{00C7DAFA-E964-43FB-86D1-F361228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006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将漏检、误决策与执行泄露分别归因</a:t>
            </a:r>
          </a:p>
        </p:txBody>
      </p:sp>
    </p:spTree>
    <p:extLst>
      <p:ext uri="{BB962C8B-B14F-4D97-AF65-F5344CB8AC3E}">
        <p14:creationId xmlns:p14="http://schemas.microsoft.com/office/powerpoint/2010/main" val="271843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地专项模型路线">
            <a:extLst xmlns:a="http://schemas.openxmlformats.org/drawingml/2006/main">
              <a:ext uri="{FF2B5EF4-FFF2-40B4-BE49-F238E27FC236}">
                <a16:creationId xmlns:a16="http://schemas.microsoft.com/office/drawing/2014/main" id="{247448DB-DE98-466E-A3A5-F3258BB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本地专项模型路线</a:t>
            </a:r>
          </a:p>
        </p:txBody>
      </p:sp>
      <p:sp>
        <p:nvSpPr>
          <p:cNvPr id="2" name="候选路线。当前实体检测仍为格式与上下文方法，专项模型待训练接">
            <a:extLst xmlns:a="http://schemas.openxmlformats.org/drawingml/2006/main">
              <a:ext uri="{FF2B5EF4-FFF2-40B4-BE49-F238E27FC236}">
                <a16:creationId xmlns:a16="http://schemas.microsoft.com/office/drawing/2014/main" id="{8F4CCDAC-EA35-4F14-B542-82C0074E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候选路线。当前实体检测仍为格式与上下文方法，专项模型待训练接入。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913A2258-DC07-4DC2-B1A8-805825A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识别片段与类别">
            <a:extLst xmlns:a="http://schemas.openxmlformats.org/drawingml/2006/main">
              <a:ext uri="{FF2B5EF4-FFF2-40B4-BE49-F238E27FC236}">
                <a16:creationId xmlns:a16="http://schemas.microsoft.com/office/drawing/2014/main" id="{0AFDEC00-FDE2-40AE-ABBD-3ACD0DF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33575"/>
            <a:ext cx="6048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识别片段与类别</a:t>
            </a:r>
          </a:p>
        </p:txBody>
      </p:sp>
      <p:sp>
        <p:nvSpPr>
          <p:cNvPr id="5" name="候选基座">
            <a:extLst xmlns:a="http://schemas.openxmlformats.org/drawingml/2006/main">
              <a:ext uri="{FF2B5EF4-FFF2-40B4-BE49-F238E27FC236}">
                <a16:creationId xmlns:a16="http://schemas.microsoft.com/office/drawing/2014/main" id="{365905C8-E61A-4F1F-B734-D53C3F5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861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候选基座</a:t>
            </a:r>
          </a:p>
        </p:txBody>
      </p:sp>
      <p:sp>
        <p:nvSpPr>
          <p:cNvPr id="6" name="Qwen3-1.7B">
            <a:extLst xmlns:a="http://schemas.openxmlformats.org/drawingml/2006/main">
              <a:ext uri="{FF2B5EF4-FFF2-40B4-BE49-F238E27FC236}">
                <a16:creationId xmlns:a16="http://schemas.microsoft.com/office/drawing/2014/main" id="{ADA34669-1196-4DFD-A402-A88466C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14675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Qwen3-1.7B</a:t>
            </a:r>
          </a:p>
        </p:txBody>
      </p:sp>
      <p:sp>
        <p:nvSpPr>
          <p:cNvPr id="7" name="微调方式">
            <a:extLst xmlns:a="http://schemas.openxmlformats.org/drawingml/2006/main">
              <a:ext uri="{FF2B5EF4-FFF2-40B4-BE49-F238E27FC236}">
                <a16:creationId xmlns:a16="http://schemas.microsoft.com/office/drawing/2014/main" id="{B1DCD3FF-84E3-4F18-9FAC-90329A2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8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微调方式</a:t>
            </a:r>
          </a:p>
        </p:txBody>
      </p:sp>
      <p:sp>
        <p:nvSpPr>
          <p:cNvPr id="8" name="LoRA 或 QLoRA">
            <a:extLst xmlns:a="http://schemas.openxmlformats.org/drawingml/2006/main">
              <a:ext uri="{FF2B5EF4-FFF2-40B4-BE49-F238E27FC236}">
                <a16:creationId xmlns:a16="http://schemas.microsoft.com/office/drawing/2014/main" id="{281AF6C2-EE33-482D-9D09-73E99A8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76700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LoRA 或 QLoRA</a:t>
            </a:r>
          </a:p>
        </p:txBody>
      </p:sp>
      <p:sp>
        <p:nvSpPr>
          <p:cNvPr id="9" name="部署方式">
            <a:extLst xmlns:a="http://schemas.openxmlformats.org/drawingml/2006/main">
              <a:ext uri="{FF2B5EF4-FFF2-40B4-BE49-F238E27FC236}">
                <a16:creationId xmlns:a16="http://schemas.microsoft.com/office/drawing/2014/main" id="{A786B8AC-15D4-4BFD-812C-F62C243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0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10" name="云端训练，本机推理">
            <a:extLst xmlns:a="http://schemas.openxmlformats.org/drawingml/2006/main">
              <a:ext uri="{FF2B5EF4-FFF2-40B4-BE49-F238E27FC236}">
                <a16:creationId xmlns:a16="http://schemas.microsoft.com/office/drawing/2014/main" id="{65457EF3-3AA2-4A3D-97CF-48231A1C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38725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云端训练，本机推理</a:t>
            </a:r>
          </a:p>
        </p:txBody>
      </p:sp>
      <p:sp>
        <p:nvSpPr>
          <p:cNvPr id="11" name="1.7B">
            <a:extLst xmlns:a="http://schemas.openxmlformats.org/drawingml/2006/main">
              <a:ext uri="{FF2B5EF4-FFF2-40B4-BE49-F238E27FC236}">
                <a16:creationId xmlns:a16="http://schemas.microsoft.com/office/drawing/2014/main" id="{2022C28E-5784-4420-8B66-856E03B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4057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1.7B</a:t>
            </a:r>
          </a:p>
        </p:txBody>
      </p:sp>
      <p:sp>
        <p:nvSpPr>
          <p:cNvPr id="12" name="候选基座规模">
            <a:extLst xmlns:a="http://schemas.openxmlformats.org/drawingml/2006/main">
              <a:ext uri="{FF2B5EF4-FFF2-40B4-BE49-F238E27FC236}">
                <a16:creationId xmlns:a16="http://schemas.microsoft.com/office/drawing/2014/main" id="{03DA1F2B-A6E0-4331-B437-A014CE1D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3876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候选基座规模</a:t>
            </a:r>
          </a:p>
        </p:txBody>
      </p:sp>
    </p:spTree>
    <p:extLst>
      <p:ext uri="{BB962C8B-B14F-4D97-AF65-F5344CB8AC3E}">
        <p14:creationId xmlns:p14="http://schemas.microsoft.com/office/powerpoint/2010/main" val="1009917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数据覆盖识别、决策与会话">
            <a:extLst xmlns:a="http://schemas.openxmlformats.org/drawingml/2006/main">
              <a:ext uri="{FF2B5EF4-FFF2-40B4-BE49-F238E27FC236}">
                <a16:creationId xmlns:a16="http://schemas.microsoft.com/office/drawing/2014/main" id="{40455C72-664F-4ADE-983A-1F79357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数据覆盖识别、决策与会话</a:t>
            </a:r>
          </a:p>
        </p:txBody>
      </p:sp>
      <p:sp>
        <p:nvSpPr>
          <p:cNvPr id="2" name="自建数据为合成弱标签。8,000 条外部中文合成样本独立用于">
            <a:extLst xmlns:a="http://schemas.openxmlformats.org/drawingml/2006/main">
              <a:ext uri="{FF2B5EF4-FFF2-40B4-BE49-F238E27FC236}">
                <a16:creationId xmlns:a16="http://schemas.microsoft.com/office/drawing/2014/main" id="{1416A874-FE65-4190-AFF8-08BCA182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自建数据为合成弱标签。8,000 条外部中文合成样本独立用于评估。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D87FD946-8E7B-4B1F-ACD0-596A048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97DCD3B4-F3D3-498C-8ED2-A953B9B2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619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类敏感信息">
            <a:extLst xmlns:a="http://schemas.openxmlformats.org/drawingml/2006/main">
              <a:ext uri="{FF2B5EF4-FFF2-40B4-BE49-F238E27FC236}">
                <a16:creationId xmlns:a16="http://schemas.microsoft.com/office/drawing/2014/main" id="{D191212A-EA39-4B7B-B05D-26DDB2F6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类敏感信息</a:t>
            </a:r>
          </a:p>
        </p:txBody>
      </p:sp>
      <p:sp>
        <p:nvSpPr>
          <p:cNvPr id="6" name="姓名、联系方式、证件号 宿舍、成绩、敏感属性等">
            <a:extLst xmlns:a="http://schemas.openxmlformats.org/drawingml/2006/main">
              <a:ext uri="{FF2B5EF4-FFF2-40B4-BE49-F238E27FC236}">
                <a16:creationId xmlns:a16="http://schemas.microsoft.com/office/drawing/2014/main" id="{142BFAD5-04A5-42BC-9F87-7DA0F1C4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3714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姓名、联系方式、证件号</a:t>
            </a:r>
          </a:p>
          <a:p xmlns:a="http://schemas.openxmlformats.org/drawingml/2006/main">
            <a: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宿舍、成绩、敏感属性等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0C9AB-37C8-4764-AFCC-9A580C002542}"/>
              </a:ext>
            </a:extLst>
          </p:cNvPr>
          <p:cNvGraphicFramePr/>
          <p:nvPr/>
        </p:nvGraphicFramePr>
        <p:xfrm>
          <a:off xmlns:a="http://schemas.openxmlformats.org/drawingml/2006/main" x="5362575" y="2152650"/>
          <a:ext xmlns:a="http://schemas.openxmlformats.org/drawingml/2006/main" cx="6143625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10000"/>
              </a:tblGrid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训练任务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现有数据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5,100 条材料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动作决策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1,440 条材料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多轮对话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 段三轮会话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349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双人复核形成可追溯答案">
            <a:extLst xmlns:a="http://schemas.openxmlformats.org/drawingml/2006/main">
              <a:ext uri="{FF2B5EF4-FFF2-40B4-BE49-F238E27FC236}">
                <a16:creationId xmlns:a16="http://schemas.microsoft.com/office/drawing/2014/main" id="{E8683B0E-F384-4FAF-8C8F-C2B50AE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双人复核形成可追溯答案</a:t>
            </a:r>
          </a:p>
        </p:txBody>
      </p:sp>
      <p:sp>
        <p:nvSpPr>
          <p:cNvPr id="2" name="312 个复核单位已选定，每段会话计一个单位。当前人工 go">
            <a:extLst xmlns:a="http://schemas.openxmlformats.org/drawingml/2006/main">
              <a:ext uri="{FF2B5EF4-FFF2-40B4-BE49-F238E27FC236}">
                <a16:creationId xmlns:a16="http://schemas.microsoft.com/office/drawing/2014/main" id="{392A6321-36C5-4802-941C-1BE26279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312 个复核单位已选定，每段会话计一个单位。当前人工 gold 为 0。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2F5E436B-EC06-4027-B070-B8232628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71AB76D-CB8C-40C0-ABA7-B22161EB5BA2}"/>
              </a:ext>
            </a:extLst>
          </p:cNvPr>
          <p:cNvGraphicFramePr/>
          <p:nvPr/>
        </p:nvGraphicFramePr>
        <p:xfrm>
          <a:off xmlns:a="http://schemas.openxmlformats.org/drawingml/2006/main" x="704850" y="2000250"/>
          <a:ext xmlns:a="http://schemas.openxmlformats.org/drawingml/2006/main" cx="64579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91d28513ce4610"/>
          </a:graphicData>
        </a:graphic>
      </p:graphicFrame>
      <p:sp>
        <p:nvSpPr>
          <p:cNvPr id="5" name="2 + 1">
            <a:extLst xmlns:a="http://schemas.openxmlformats.org/drawingml/2006/main">
              <a:ext uri="{FF2B5EF4-FFF2-40B4-BE49-F238E27FC236}">
                <a16:creationId xmlns:a16="http://schemas.microsoft.com/office/drawing/2014/main" id="{A0BAF71B-60B4-4FFA-83B5-3B08F231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980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 + 1</a:t>
            </a:r>
          </a:p>
        </p:txBody>
      </p:sp>
      <p:sp>
        <p:nvSpPr>
          <p:cNvPr id="6" name="两人独立复核 一人裁决分歧">
            <a:extLst xmlns:a="http://schemas.openxmlformats.org/drawingml/2006/main">
              <a:ext uri="{FF2B5EF4-FFF2-40B4-BE49-F238E27FC236}">
                <a16:creationId xmlns:a16="http://schemas.microsoft.com/office/drawing/2014/main" id="{92C359B8-9282-41FA-8072-8B59DE0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67125"/>
            <a:ext cx="3190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两人独立复核</a:t>
            </a:r>
          </a:p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一人裁决分歧</a:t>
            </a:r>
          </a:p>
        </p:txBody>
      </p:sp>
      <p:sp>
        <p:nvSpPr>
          <p:cNvPr id="7" name="实体、动作、完整会话">
            <a:extLst xmlns:a="http://schemas.openxmlformats.org/drawingml/2006/main">
              <a:ext uri="{FF2B5EF4-FFF2-40B4-BE49-F238E27FC236}">
                <a16:creationId xmlns:a16="http://schemas.microsoft.com/office/drawing/2014/main" id="{2773E332-A7D0-4271-AB8A-43EA28C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实体、动作、完整会话</a:t>
            </a:r>
          </a:p>
        </p:txBody>
      </p:sp>
    </p:spTree>
    <p:extLst>
      <p:ext uri="{BB962C8B-B14F-4D97-AF65-F5344CB8AC3E}">
        <p14:creationId xmlns:p14="http://schemas.microsoft.com/office/powerpoint/2010/main" val="1515872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现有原型的验证记录">
            <a:extLst xmlns:a="http://schemas.openxmlformats.org/drawingml/2006/main">
              <a:ext uri="{FF2B5EF4-FFF2-40B4-BE49-F238E27FC236}">
                <a16:creationId xmlns:a16="http://schemas.microsoft.com/office/drawing/2014/main" id="{629652FD-4B38-417F-B859-8E7A954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现有原型的验证记录</a:t>
            </a:r>
          </a:p>
        </p:txBody>
      </p:sp>
      <p:sp>
        <p:nvSpPr>
          <p:cNvPr id="2" name="验证记录日期 2026-10-13。工程检查数量不代表真实隐">
            <a:extLst xmlns:a="http://schemas.openxmlformats.org/drawingml/2006/main">
              <a:ext uri="{FF2B5EF4-FFF2-40B4-BE49-F238E27FC236}">
                <a16:creationId xmlns:a16="http://schemas.microsoft.com/office/drawing/2014/main" id="{8D7FAE45-6B21-43A9-AEF4-BD28D87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验证记录日期 2026-10-13。工程检查数量不代表真实隐私保护准确率。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611959E-E962-439B-A27D-0076FE29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81">
            <a:extLst xmlns:a="http://schemas.openxmlformats.org/drawingml/2006/main">
              <a:ext uri="{FF2B5EF4-FFF2-40B4-BE49-F238E27FC236}">
                <a16:creationId xmlns:a16="http://schemas.microsoft.com/office/drawing/2014/main" id="{81DD60E7-C89E-4C23-A8E5-7DF6FDF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5" name="回归检查通过">
            <a:extLst xmlns:a="http://schemas.openxmlformats.org/drawingml/2006/main">
              <a:ext uri="{FF2B5EF4-FFF2-40B4-BE49-F238E27FC236}">
                <a16:creationId xmlns:a16="http://schemas.microsoft.com/office/drawing/2014/main" id="{E7502DD0-FD21-4804-8C0E-F9BA3B2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回归检查通过</a:t>
            </a:r>
          </a:p>
        </p:txBody>
      </p:sp>
      <p:sp>
        <p:nvSpPr>
          <p:cNvPr id="6" name="27">
            <a:extLst xmlns:a="http://schemas.openxmlformats.org/drawingml/2006/main">
              <a:ext uri="{FF2B5EF4-FFF2-40B4-BE49-F238E27FC236}">
                <a16:creationId xmlns:a16="http://schemas.microsoft.com/office/drawing/2014/main" id="{A9E1937F-014A-40FE-A3A5-550D15E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子检查通过">
            <a:extLst xmlns:a="http://schemas.openxmlformats.org/drawingml/2006/main">
              <a:ext uri="{FF2B5EF4-FFF2-40B4-BE49-F238E27FC236}">
                <a16:creationId xmlns:a16="http://schemas.microsoft.com/office/drawing/2014/main" id="{C06E2C71-12AF-468A-9666-6B4EE51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子检查通过</a:t>
            </a:r>
          </a:p>
        </p:txBody>
      </p:sp>
      <p:sp>
        <p:nvSpPr>
          <p:cNvPr id="8" name="38">
            <a:extLst xmlns:a="http://schemas.openxmlformats.org/drawingml/2006/main">
              <a:ext uri="{FF2B5EF4-FFF2-40B4-BE49-F238E27FC236}">
                <a16:creationId xmlns:a16="http://schemas.microsoft.com/office/drawing/2014/main" id="{C93E9F2D-E07D-45C4-B84C-1296EF9C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9" name="冒烟检查通过">
            <a:extLst xmlns:a="http://schemas.openxmlformats.org/drawingml/2006/main">
              <a:ext uri="{FF2B5EF4-FFF2-40B4-BE49-F238E27FC236}">
                <a16:creationId xmlns:a16="http://schemas.microsoft.com/office/drawing/2014/main" id="{D77F1C48-52C3-4949-951D-D074611E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冒烟检查通过</a:t>
            </a:r>
          </a:p>
        </p:txBody>
      </p:sp>
      <p:sp>
        <p:nvSpPr>
          <p:cNvPr id="10" name="已具备统一对话、动作执行与失败暂停链路">
            <a:extLst xmlns:a="http://schemas.openxmlformats.org/drawingml/2006/main">
              <a:ext uri="{FF2B5EF4-FFF2-40B4-BE49-F238E27FC236}">
                <a16:creationId xmlns:a16="http://schemas.microsoft.com/office/drawing/2014/main" id="{BA62386A-9385-4A01-B030-D9671C3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25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已具备统一对话、动作执行与失败暂停链路</a:t>
            </a:r>
          </a:p>
        </p:txBody>
      </p:sp>
    </p:spTree>
    <p:extLst>
      <p:ext uri="{BB962C8B-B14F-4D97-AF65-F5344CB8AC3E}">
        <p14:creationId xmlns:p14="http://schemas.microsoft.com/office/powerpoint/2010/main" val="9140345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下一阶段的验证重点">
            <a:extLst xmlns:a="http://schemas.openxmlformats.org/drawingml/2006/main">
              <a:ext uri="{FF2B5EF4-FFF2-40B4-BE49-F238E27FC236}">
                <a16:creationId xmlns:a16="http://schemas.microsoft.com/office/drawing/2014/main" id="{C14A6BD2-E8D8-4742-9D32-AEEE956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下一阶段的验证重点</a:t>
            </a:r>
          </a:p>
        </p:txBody>
      </p:sp>
      <p:sp>
        <p:nvSpPr>
          <p:cNvPr id="2" name="后续验收计划。正式效果和资源开销尚待实测。">
            <a:extLst xmlns:a="http://schemas.openxmlformats.org/drawingml/2006/main">
              <a:ext uri="{FF2B5EF4-FFF2-40B4-BE49-F238E27FC236}">
                <a16:creationId xmlns:a16="http://schemas.microsoft.com/office/drawing/2014/main" id="{ED8886DD-2627-4F98-82C6-F20ACC3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后续验收计划。正式效果和资源开销尚待实测。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D9245F5D-B60B-489D-BA29-106FDE6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D108B-67A2-45E3-8015-A57257A0E7C5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  <a:gridCol w="4438650"/>
              </a:tblGrid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人工实体与动作答案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来源、分歧与裁决可追溯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模型验证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冻结的候选权重与测试记录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漏检、误删、泄露与任务完成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部署验收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API 与第二台电脑记录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延迟、显存、异常与暂停行为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优先服务学生组织、课程项目与科研协作场景">
            <a:extLst xmlns:a="http://schemas.openxmlformats.org/drawingml/2006/main">
              <a:ext uri="{FF2B5EF4-FFF2-40B4-BE49-F238E27FC236}">
                <a16:creationId xmlns:a16="http://schemas.microsoft.com/office/drawing/2014/main" id="{2DD4CF64-B20C-42A8-BBC7-1D78988D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911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优先服务学生组织、课程项目与科研协作场景</a:t>
            </a:r>
          </a:p>
        </p:txBody>
      </p:sp>
    </p:spTree>
    <p:extLst>
      <p:ext uri="{BB962C8B-B14F-4D97-AF65-F5344CB8AC3E}">
        <p14:creationId xmlns:p14="http://schemas.microsoft.com/office/powerpoint/2010/main" val="1640424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E419331D-3A62-45CF-852A-300611B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隐盾">
            <a:extLst xmlns:a="http://schemas.openxmlformats.org/drawingml/2006/main">
              <a:ext uri="{FF2B5EF4-FFF2-40B4-BE49-F238E27FC236}">
                <a16:creationId xmlns:a16="http://schemas.microsoft.com/office/drawing/2014/main" id="{3F625098-B5B8-48EA-9F48-F961A7D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04975"/>
            <a:ext cx="10801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3" name="面向任务必要性的本地隐私保护">
            <a:extLst xmlns:a="http://schemas.openxmlformats.org/drawingml/2006/main">
              <a:ext uri="{FF2B5EF4-FFF2-40B4-BE49-F238E27FC236}">
                <a16:creationId xmlns:a16="http://schemas.microsoft.com/office/drawing/2014/main" id="{3D7F285E-4096-4CDA-9208-76BEB70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9570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面向任务必要性的本地隐私保护</a:t>
            </a:r>
          </a:p>
        </p:txBody>
      </p:sp>
      <p:sp>
        <p:nvSpPr>
          <p:cNvPr id="4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A5EE3D29-A6ED-4589-8443-1DA6B04A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80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630184164"/>
      </p:ext>
    </p:extLst>
  </p:cSld>
</p:sld>
</file>

<file path=ppt/slides/slide1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备答  实体输出与失败处理">
            <a:extLst xmlns:a="http://schemas.openxmlformats.org/drawingml/2006/main">
              <a:ext uri="{FF2B5EF4-FFF2-40B4-BE49-F238E27FC236}">
                <a16:creationId xmlns:a16="http://schemas.microsoft.com/office/drawing/2014/main" id="{E65B00ED-D43A-427D-8EC9-350BE791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实体输出与失败处理</a:t>
            </a:r>
          </a:p>
        </p:txBody>
      </p:sp>
      <p:sp>
        <p:nvSpPr>
          <p:cNvPr id="2" name="校验发现错误时暂停本轮，修正后重新处理。">
            <a:extLst xmlns:a="http://schemas.openxmlformats.org/drawingml/2006/main">
              <a:ext uri="{FF2B5EF4-FFF2-40B4-BE49-F238E27FC236}">
                <a16:creationId xmlns:a16="http://schemas.microsoft.com/office/drawing/2014/main" id="{8BD252C1-A159-4FBF-8C3C-36B949D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校验发现错误时暂停本轮，修正后重新处理。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52821444-1306-49AE-A202-B6D4626D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DF28D-4775-4A7D-8900-A792B9F71D3F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输出字段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必须是原文中实际出现的片段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/ end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Unicode 字符索引，切片与 text 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属于版本冻结的 14 类标签清单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格式错误、位置歧义、超长截断均应显式失败">
            <a:extLst xmlns:a="http://schemas.openxmlformats.org/drawingml/2006/main">
              <a:ext uri="{FF2B5EF4-FFF2-40B4-BE49-F238E27FC236}">
                <a16:creationId xmlns:a16="http://schemas.microsoft.com/office/drawing/2014/main" id="{36808BBA-4111-4C94-89E5-6F8E4A3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911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格式错误、位置歧义、超长截断均应显式失败</a:t>
            </a:r>
          </a:p>
        </p:txBody>
      </p:sp>
    </p:spTree>
    <p:extLst>
      <p:ext uri="{BB962C8B-B14F-4D97-AF65-F5344CB8AC3E}">
        <p14:creationId xmlns:p14="http://schemas.microsoft.com/office/powerpoint/2010/main" val="1425402144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备答  评测口径与当前基线">
            <a:extLst xmlns:a="http://schemas.openxmlformats.org/drawingml/2006/main">
              <a:ext uri="{FF2B5EF4-FFF2-40B4-BE49-F238E27FC236}">
                <a16:creationId xmlns:a16="http://schemas.microsoft.com/office/drawing/2014/main" id="{F3D14357-F57F-4366-9D13-94AD98E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评测口径与当前基线</a:t>
            </a:r>
          </a:p>
        </p:txBody>
      </p:sp>
      <p:sp>
        <p:nvSpPr>
          <p:cNvPr id="2" name="上述分数均非新本地小模型的正式验收结果。">
            <a:extLst xmlns:a="http://schemas.openxmlformats.org/drawingml/2006/main">
              <a:ext uri="{FF2B5EF4-FFF2-40B4-BE49-F238E27FC236}">
                <a16:creationId xmlns:a16="http://schemas.microsoft.com/office/drawing/2014/main" id="{72FD4FE7-46B2-4A8B-955F-729F6A1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上述分数均非新本地小模型的正式验收结果。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6E93BDA-E397-4C3F-98BA-C7DC994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9A5D-AD45-4D8A-8B90-330304A17106}"/>
              </a:ext>
            </a:extLst>
          </p:cNvPr>
          <p:cNvGraphicFramePr/>
          <p:nvPr/>
        </p:nvGraphicFramePr>
        <p:xfrm>
          <a:off xmlns:a="http://schemas.openxmlformats.org/drawingml/2006/main" x="685800" y="1914525"/>
          <a:ext xmlns:a="http://schemas.openxmlformats.org/drawingml/2006/main" cx="10820400" cy="2162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352800"/>
                <a:gridCol w="4371975"/>
              </a:tblGrid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动作分类器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Macro-F1  0.9887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合成弱标签分组验证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现有实体检测器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 F1  0.5501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 条合成验证材料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式评测">
            <a:extLst xmlns:a="http://schemas.openxmlformats.org/drawingml/2006/main">
              <a:ext uri="{FF2B5EF4-FFF2-40B4-BE49-F238E27FC236}">
                <a16:creationId xmlns:a16="http://schemas.microsoft.com/office/drawing/2014/main" id="{1D43649C-E759-4F7C-8B67-726B00D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434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正式评测</a:t>
            </a:r>
          </a:p>
        </p:txBody>
      </p:sp>
      <p:sp>
        <p:nvSpPr>
          <p:cNvPr id="6" name="识别质量、披露事件、任务完成、误暂停 本地保护 P95 延迟">
            <a:extLst xmlns:a="http://schemas.openxmlformats.org/drawingml/2006/main">
              <a:ext uri="{FF2B5EF4-FFF2-40B4-BE49-F238E27FC236}">
                <a16:creationId xmlns:a16="http://schemas.microsoft.com/office/drawing/2014/main" id="{7DEA2938-1BF2-4B99-93BC-3E93EE7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339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识别质量、披露事件、任务完成、误暂停</a:t>
            </a:r>
          </a:p>
          <a:p xmlns:a="http://schemas.openxmlformats.org/drawingml/2006/main">
            <a: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本地保护 P95 延迟与显存峰值</a:t>
            </a:r>
          </a:p>
        </p:txBody>
      </p:sp>
    </p:spTree>
    <p:extLst>
      <p:ext uri="{BB962C8B-B14F-4D97-AF65-F5344CB8AC3E}">
        <p14:creationId xmlns:p14="http://schemas.microsoft.com/office/powerpoint/2010/main" val="1802718973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答  API 与安全边界">
            <a:extLst xmlns:a="http://schemas.openxmlformats.org/drawingml/2006/main">
              <a:ext uri="{FF2B5EF4-FFF2-40B4-BE49-F238E27FC236}">
                <a16:creationId xmlns:a16="http://schemas.microsoft.com/office/drawing/2014/main" id="{644B0205-A988-4D88-89CF-6EF4D72A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API 与安全边界</a:t>
            </a:r>
          </a:p>
        </p:txBody>
      </p:sp>
      <p:sp>
        <p:nvSpPr>
          <p:cNvPr id="2" name="本地删除不能撤回已经外发的内容。">
            <a:extLst xmlns:a="http://schemas.openxmlformats.org/drawingml/2006/main">
              <a:ext uri="{FF2B5EF4-FFF2-40B4-BE49-F238E27FC236}">
                <a16:creationId xmlns:a16="http://schemas.microsoft.com/office/drawing/2014/main" id="{D163CDD6-13EB-4A33-92F9-B811516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本地删除不能撤回已经外发的内容。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68651DF8-5C33-4221-BB5F-342FF97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F5495-0583-42CA-B1E5-BB23E8949665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边界或能力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当前状态与要求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API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兼容客户端已有，真实连接待验收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发送内容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检查当前请求与已处理历史的完整载荷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回答展示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复检通过后显示并写入历史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外部工具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参数需单独检查，真实集成待验收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785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2026-10-14T15:01:52.9560000Z</dcterms:created>
  <dcterms:modified xsi:type="dcterms:W3CDTF">2026-10-14T15:01:52.9560000Z</dcterms:modified>
</coreProperties>
</file>
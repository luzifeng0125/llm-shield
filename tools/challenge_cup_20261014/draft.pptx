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9bf238336410d" /><Relationship Type="http://schemas.openxmlformats.org/officeDocument/2006/relationships/extended-properties" Target="/docProps/app.xml" Id="Ra2d11798a5fe4ec6" /><Relationship Type="http://schemas.openxmlformats.org/officeDocument/2006/relationships/officeDocument" Target="/ppt/presentation.xml" Id="R045be6ef1ab249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e6419e5b34e76"/>
  </p:sldMasterIdLst>
  <p:notesMasterIdLst>
    <p:notesMasterId xmlns:r="http://schemas.openxmlformats.org/officeDocument/2006/relationships" r:id="Ref7e2aece5cb4140"/>
  </p:notesMasterIdLst>
  <p:sldIdLst>
    <p:sldId xmlns:r="http://schemas.openxmlformats.org/officeDocument/2006/relationships" id="256" r:id="R012e87fb7d1d450c"/>
    <p:sldId xmlns:r="http://schemas.openxmlformats.org/officeDocument/2006/relationships" id="257" r:id="R9033c61df4ec4b08"/>
    <p:sldId xmlns:r="http://schemas.openxmlformats.org/officeDocument/2006/relationships" id="258" r:id="R4eb46331c0f94d69"/>
    <p:sldId xmlns:r="http://schemas.openxmlformats.org/officeDocument/2006/relationships" id="259" r:id="R553f3686fd444da5"/>
    <p:sldId xmlns:r="http://schemas.openxmlformats.org/officeDocument/2006/relationships" id="260" r:id="Rd5c049343cfe4aa6"/>
    <p:sldId xmlns:r="http://schemas.openxmlformats.org/officeDocument/2006/relationships" id="261" r:id="R9adc6ab79025432e"/>
    <p:sldId xmlns:r="http://schemas.openxmlformats.org/officeDocument/2006/relationships" id="262" r:id="R95d7f3f1e50545d8"/>
    <p:sldId xmlns:r="http://schemas.openxmlformats.org/officeDocument/2006/relationships" id="263" r:id="Rd72207a4f01a4dd7"/>
    <p:sldId xmlns:r="http://schemas.openxmlformats.org/officeDocument/2006/relationships" id="264" r:id="Re9df27ebebdc46a7"/>
    <p:sldId xmlns:r="http://schemas.openxmlformats.org/officeDocument/2006/relationships" id="265" r:id="Rd6b3992d51b642df"/>
    <p:sldId xmlns:r="http://schemas.openxmlformats.org/officeDocument/2006/relationships" id="266" r:id="Rb24b7f8d0fc84dff"/>
    <p:sldId xmlns:r="http://schemas.openxmlformats.org/officeDocument/2006/relationships" id="267" r:id="R828b08ec431641cc"/>
    <p:sldId xmlns:r="http://schemas.openxmlformats.org/officeDocument/2006/relationships" id="268" r:id="Rc31caff0b10d4927"/>
    <p:sldId xmlns:r="http://schemas.openxmlformats.org/officeDocument/2006/relationships" id="269" r:id="Ref9c3a5aa73e4fbf"/>
    <p:sldId xmlns:r="http://schemas.openxmlformats.org/officeDocument/2006/relationships" id="270" r:id="R1af7761e14774805"/>
    <p:sldId xmlns:r="http://schemas.openxmlformats.org/officeDocument/2006/relationships" id="271" r:id="Ra18bc5a80d264a0f"/>
    <p:sldId xmlns:r="http://schemas.openxmlformats.org/officeDocument/2006/relationships" id="272" r:id="Rb7108330220543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6b2acc245d402a" /><Relationship Type="http://schemas.openxmlformats.org/officeDocument/2006/relationships/slideMaster" Target="/ppt/slideMasters/slideMaster1.xml" Id="R1ede6419e5b34e76" /><Relationship Type="http://schemas.openxmlformats.org/officeDocument/2006/relationships/notesMaster" Target="/ppt/notesMasters/notesMaster1.xml" Id="Ref7e2aece5cb4140" /><Relationship Type="http://schemas.openxmlformats.org/officeDocument/2006/relationships/presProps" Target="/ppt/presProps.xml" Id="R90ffa0dcce5840fe" /><Relationship Type="http://schemas.openxmlformats.org/officeDocument/2006/relationships/tableStyles" Target="/ppt/tableStyles.xml" Id="Rcd518688cba44b6d" /><Relationship Type="http://schemas.openxmlformats.org/officeDocument/2006/relationships/slide" Target="/ppt/slides/slide1.xml" Id="R012e87fb7d1d450c" /><Relationship Type="http://schemas.openxmlformats.org/officeDocument/2006/relationships/slide" Target="/ppt/slides/slide2.xml" Id="R9033c61df4ec4b08" /><Relationship Type="http://schemas.openxmlformats.org/officeDocument/2006/relationships/slide" Target="/ppt/slides/slide3.xml" Id="R4eb46331c0f94d69" /><Relationship Type="http://schemas.openxmlformats.org/officeDocument/2006/relationships/slide" Target="/ppt/slides/slide4.xml" Id="R553f3686fd444da5" /><Relationship Type="http://schemas.openxmlformats.org/officeDocument/2006/relationships/slide" Target="/ppt/slides/slide5.xml" Id="Rd5c049343cfe4aa6" /><Relationship Type="http://schemas.openxmlformats.org/officeDocument/2006/relationships/slide" Target="/ppt/slides/slide6.xml" Id="R9adc6ab79025432e" /><Relationship Type="http://schemas.openxmlformats.org/officeDocument/2006/relationships/slide" Target="/ppt/slides/slide7.xml" Id="R95d7f3f1e50545d8" /><Relationship Type="http://schemas.openxmlformats.org/officeDocument/2006/relationships/slide" Target="/ppt/slides/slide8.xml" Id="Rd72207a4f01a4dd7" /><Relationship Type="http://schemas.openxmlformats.org/officeDocument/2006/relationships/slide" Target="/ppt/slides/slide9.xml" Id="Re9df27ebebdc46a7" /><Relationship Type="http://schemas.openxmlformats.org/officeDocument/2006/relationships/slide" Target="/ppt/slides/slide10.xml" Id="Rd6b3992d51b642df" /><Relationship Type="http://schemas.openxmlformats.org/officeDocument/2006/relationships/slide" Target="/ppt/slides/slide11.xml" Id="Rb24b7f8d0fc84dff" /><Relationship Type="http://schemas.openxmlformats.org/officeDocument/2006/relationships/slide" Target="/ppt/slides/slide12.xml" Id="R828b08ec431641cc" /><Relationship Type="http://schemas.openxmlformats.org/officeDocument/2006/relationships/slide" Target="/ppt/slides/slide13.xml" Id="Rc31caff0b10d4927" /><Relationship Type="http://schemas.openxmlformats.org/officeDocument/2006/relationships/slide" Target="/ppt/slides/slide14.xml" Id="Ref9c3a5aa73e4fbf" /><Relationship Type="http://schemas.openxmlformats.org/officeDocument/2006/relationships/slide" Target="/ppt/slides/slide15.xml" Id="R1af7761e14774805" /><Relationship Type="http://schemas.openxmlformats.org/officeDocument/2006/relationships/slide" Target="/ppt/slides/slide16.xml" Id="Ra18bc5a80d264a0f" /><Relationship Type="http://schemas.openxmlformats.org/officeDocument/2006/relationships/slide" Target="/ppt/slides/slide17.xml" Id="Rb7108330220543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2361a33c90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f3fd880824d65" /><Relationship Type="http://schemas.openxmlformats.org/officeDocument/2006/relationships/notesMaster" Target="/ppt/notesMasters/notesMaster1.xml" Id="R546352c9da45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d61ba0fd5d4c82" /><Relationship Type="http://schemas.openxmlformats.org/officeDocument/2006/relationships/notesMaster" Target="/ppt/notesMasters/notesMaster1.xml" Id="R56d6a015ae0f4f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1f267da1047f4" /><Relationship Type="http://schemas.openxmlformats.org/officeDocument/2006/relationships/notesMaster" Target="/ppt/notesMasters/notesMaster1.xml" Id="R71718feddddb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df906a3f4943a5" /><Relationship Type="http://schemas.openxmlformats.org/officeDocument/2006/relationships/notesMaster" Target="/ppt/notesMasters/notesMaster1.xml" Id="Rca153ada275f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8b28346164d69" /><Relationship Type="http://schemas.openxmlformats.org/officeDocument/2006/relationships/notesMaster" Target="/ppt/notesMasters/notesMaster1.xml" Id="R683b907bc11e4e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1b47f57b845a2" /><Relationship Type="http://schemas.openxmlformats.org/officeDocument/2006/relationships/notesMaster" Target="/ppt/notesMasters/notesMaster1.xml" Id="R12f6f1267fd744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cc1045b7de42f9" /><Relationship Type="http://schemas.openxmlformats.org/officeDocument/2006/relationships/notesMaster" Target="/ppt/notesMasters/notesMaster1.xml" Id="Ra52d253da06a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b66a9d61884309" /><Relationship Type="http://schemas.openxmlformats.org/officeDocument/2006/relationships/notesMaster" Target="/ppt/notesMasters/notesMaster1.xml" Id="R85043c4cfccf48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3a6e77e33d436a" /><Relationship Type="http://schemas.openxmlformats.org/officeDocument/2006/relationships/notesMaster" Target="/ppt/notesMasters/notesMaster1.xml" Id="Rf9983491d6f242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79fd3ffb964751" /><Relationship Type="http://schemas.openxmlformats.org/officeDocument/2006/relationships/notesMaster" Target="/ppt/notesMasters/notesMaster1.xml" Id="Re7e8d5db807245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5937f72ed04dd7" /><Relationship Type="http://schemas.openxmlformats.org/officeDocument/2006/relationships/notesMaster" Target="/ppt/notesMasters/notesMaster1.xml" Id="R1b28f322147042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5c2567aaad4573" /><Relationship Type="http://schemas.openxmlformats.org/officeDocument/2006/relationships/notesMaster" Target="/ppt/notesMasters/notesMaster1.xml" Id="R86e59bd2ed1b44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6d401067a44ac" /><Relationship Type="http://schemas.openxmlformats.org/officeDocument/2006/relationships/notesMaster" Target="/ppt/notesMasters/notesMaster1.xml" Id="Rb1163bee1fd54d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243211be5442c0" /><Relationship Type="http://schemas.openxmlformats.org/officeDocument/2006/relationships/notesMaster" Target="/ppt/notesMasters/notesMaster1.xml" Id="R8ba12ecc381048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6e4dece7d841c2" /><Relationship Type="http://schemas.openxmlformats.org/officeDocument/2006/relationships/notesMaster" Target="/ppt/notesMasters/notesMaster1.xml" Id="R8971b6fbc87e4d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d147aaa3a84879" /><Relationship Type="http://schemas.openxmlformats.org/officeDocument/2006/relationships/notesMaster" Target="/ppt/notesMasters/notesMaster1.xml" Id="R43e3811f6cf44b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a7bb35dbb94dd3" /><Relationship Type="http://schemas.openxmlformats.org/officeDocument/2006/relationships/notesMaster" Target="/ppt/notesMasters/notesMaster1.xml" Id="R19d8740b91bd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各位评委好，我们的项目是隐盾，面向中文材料处理与多轮对话的隐私保护系统。我们关注一个具体问题：使用云端大模型时，怎样只发出完成任务所必需的信息。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https://tiaozhanbei.net/rules</a:t>
            </a:r>
          </a:p>
          <a:p xmlns:a="http://schemas.openxmlformats.org/drawingml/2006/main">
            <a:r>
              <a:t>https://cs.ccnu.edu.cn/info/1055/14006.htm</a:t>
            </a:r>
          </a:p>
          <a:p xmlns:a="http://schemas.openxmlformats.org/drawingml/2006/main">
            <a:r>
              <a:t>封面盾牌为概念插画，不是产品实物。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学生组织和课程团队整理纪要为例，任务需要知道谁负责什么、什么时候完成，但材料往往同时带着电话等个人信息。整份上传会多发信息，直接删除所有姓名又会破坏分工关系。隐盾希望在两者之间，保留完成任务所需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https://nxy.yangtzeu.edu.cn/info/1039/12343.htm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是一份两人的名单，如果任务是统计人数，外部模型只需要收到两人。如果任务是整理分工，就需要保留人员和事项的关系，用稳定代号替代真名。因此我们的决策单位是任务条件下的信息用途，不能只看有没有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目前原型的实际离线界面。用户上传材料后直接提问，再继续追问，不需要分别进入材料脱敏和聊天两个系统。每次发送都重新走本地保护流程。这里展示的是交互和安全处理流程，离线回复不代表真实云端模型的生成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截图：隐盾整合交付_20261012/验证结果/界面截图/chat-desktop.png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把隐私处理放在本机。先识别片段，再由动作模型选择处理方式，程序检查权限和最终发送内容。云端生成模型只接收通过检查的上下文。本地原值映射不随请求发送。当前客户端适配已经具备，真实服务连接还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动作模型可选择删除、本地统计、泛化、代号替换、保留或暂停。这里保留是有前提的，要满足任务必要性和可信权限。模型负责选择，安全检查只负责接受或暂停，不再使用旧规则来替模型兜底选动作。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  <a:p xmlns:a="http://schemas.openxmlformats.org/drawingml/2006/main">
            <a:r>
              <a:t>实现：app/llm_shield/m3_decide 与 m4_necessity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风险也会发生在后续追问里。第一轮用人员甲替换姓名，第二轮修改期限时，需要继续对应同一个人。如果第三轮要求恢复原名给外部模型，不能因为前两轮已经放行就继续发送。暂停轮也不能污染此前成功的外发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创新集中在方法组合和验证方式。第一，把任务和接收方条件纳入动作决策，减少不必要披露。第二，让材料和多轮对话共享保护状态。第三，直接检查实际外发的内容，区分识别错误、决策错误和执行错误。这些优势需要通过同条件对照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https://tiaozhanbei.net/rules</a:t>
            </a:r>
          </a:p>
          <a:p xmlns:a="http://schemas.openxmlformats.org/drawingml/2006/main">
            <a:r>
              <a:t>https://cs.ccnu.edu.cn/info/1055/14006.htm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本地小模型承担敏感片段识别与类别判断，通用内容生成仍交给外部服务。我们拟以 Qwen3 的一点七 B 模型为候选，采用参数高效微调，云端训练、本机推理。最终选型比较漏检、误删、定位、延迟和显存，当前还没有训练完成的专项权重。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https://huggingface.co/Qwen/Qwen3-1.7B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准备分成三个任务：五千一百条实体材料，一千四百四十条动作材料，以及三百六十段三轮对话。实体覆盖十四类，也包含负例和表格。数据目前主要是合成弱标签，另外保留八千条外部中文合成数据用于测试，避免把格式转换重复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  <a:p xmlns:a="http://schemas.openxmlformats.org/drawingml/2006/main">
            <a:r>
              <a:t>https://huggingface.co/datasets/wan9yu/pii-bench-zh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选定三批复核样本：训练一百二十八个、验证九十二个、封存测试九十二个。两人独立标注，第三人裁决，并抽查一致项。工具检查格式与差异，人判断语义、任务必要性和多轮风险。目前人工标注尚待执行，不能把候选答案当成人工金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当前记录包含八十一项回归检查、二十七项子检查和三十八项冒烟检查，它们按原始记录分别统计。原型已经具备统一对话、动作执行和失败暂停链路。这些检查证明工程流程可运行，正式识别效果、真实 API 和人工任务效果仍需独立验收。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先完成双人标注和裁决，获得可追溯答案，再训练候选模型，在独立验证集上选型，冻结后测试。最后在第二台电脑和真实服务上重跑完整链路。我们重点检查是否减少额外披露，同时保留分工、统计等任务所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 10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隐盾希望让团队在使用大模型处理中文材料时，保留必要信息，减少额外披露。以上是我们的项目方案和阶段成果，谢谢各位评委。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实体输出以原文片段、Unicode 左闭右开索引、冻结类别为核心。程序核对文本切片与实体值。模型返回格式错误、索引越界、截断或不可用时，都不能解释为没有敏感信息。当前 14 类为 PERSON_NAME、PHONE、EMAIL、ID_CARD、BANK_CARD、STUDENT_ID、API_KEY、WECHAT、BUDGET、ORG、LOCATION、DORM、GRADE、SENSITIVE_ATTR。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本地：隐盾整合交付_20261012/数据集/隐盾数据集_v1/stats.json，数据版本 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两个已有分数衡量不同对象，不能直接横向比较。0.9887 是动作分类器在合成弱标签分组留出中的 Macro-F1，训练 7878 条、验证 2676 条，来源组无重叠。0.5501 是现有检测器在新合成验证集上的实体严格 F1，850 条材料、1100 个标准实体，标准答案仍为构造弱标签。正式评测需独立人工标准答案，同时报告各类别召回、禁止披露事件数及分母、任务完成率、误暂停和本机 P95 延迟与显存峰值。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本地：隐盾整合交付_20261012/验证结果/模型元信息.json</a:t>
            </a:r>
          </a:p>
          <a:p xmlns:a="http://schemas.openxmlformats.org/drawingml/2006/main">
            <a:r>
              <a:t>本地：隐盾整合交付_20261012/数据集/隐盾数据集_v1/evaluation/current_detector_validation.json</a:t>
            </a:r>
          </a:p>
          <a:p xmlns:a="http://schemas.openxmlformats.org/drawingml/2006/main">
            <a:r>
              <a:t>本地：隐盾整合交付_20261012/数据集/复核与训练执行包_20261014/执行统计.json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备答页，正常放映时跳过。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项目已有 OpenAI 兼容客户端，但现有验证记录中的真实连接仍未验收。密钥只在本机配置，不放进 PPT。发送前检查完整外发载荷，回答复检后才显示和保存。工具参数需要独立检查，真实外部工具集成另行验收。清除本地材料或对话不会撤回已经发送的内容。系统不能承诺任意输入绝对无泄露，正式演示须保持离线或真实服务模式标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</a:t>
            </a:r>
          </a:p>
          <a:p xmlns:a="http://schemas.openxmlformats.org/drawingml/2006/main">
            <a:r>
              <a:t>本地：隐盾整合交付_20261012/验证结果/验证摘要.json，记录日期 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02a38727644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fae23e75c42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8a040e3e645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6022168624a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d746eb51a4b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781b5a6a544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34242D-F884-40E7-A6FD-0A403F734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F490A8-C97F-44AA-ACFF-3E13AF70F2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AEF6E2-BDCE-4D72-BFFF-DA3896C9B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AEA387-4DEC-4285-9EF4-5E4B6C5D1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C7D5F2-9179-4AC5-82BF-C4297CB51B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BD1B05-A809-4F43-B5FB-1CDD9EC5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174F8C-548C-4452-B8CB-857CCE400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3CF3DE-534E-48F4-AB98-AC0C9ACA38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CB31B8-CD18-4832-9A74-BF03ECB65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552CE7-FC86-4E0A-98B4-FA8CF42E5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0a82157c3f4300" /><Relationship Type="http://schemas.openxmlformats.org/officeDocument/2006/relationships/slideLayout" Target="/ppt/slideLayouts/slideLayout1.xml" Id="R2e0c0130976a4140" /><Relationship Type="http://schemas.openxmlformats.org/officeDocument/2006/relationships/slideLayout" Target="/ppt/slideLayouts/slideLayout2.xml" Id="Raaaece05acc4492c" /><Relationship Type="http://schemas.openxmlformats.org/officeDocument/2006/relationships/slideLayout" Target="/ppt/slideLayouts/slideLayout3.xml" Id="R461bd553f1894e2a" /><Relationship Type="http://schemas.openxmlformats.org/officeDocument/2006/relationships/slideLayout" Target="/ppt/slideLayouts/slideLayout4.xml" Id="Rafb911f80d8449e7" /><Relationship Type="http://schemas.openxmlformats.org/officeDocument/2006/relationships/slideLayout" Target="/ppt/slideLayouts/slideLayout5.xml" Id="R6e6c9c51987a403a" /><Relationship Type="http://schemas.openxmlformats.org/officeDocument/2006/relationships/slideLayout" Target="/ppt/slideLayouts/slideLayout6.xml" Id="R337b5599ecf2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c0130976a4140"/>
    <p:sldLayoutId xmlns:r="http://schemas.openxmlformats.org/officeDocument/2006/relationships" id="2147483650" r:id="Raaaece05acc4492c"/>
    <p:sldLayoutId xmlns:r="http://schemas.openxmlformats.org/officeDocument/2006/relationships" id="2147483651" r:id="R461bd553f1894e2a"/>
    <p:sldLayoutId xmlns:r="http://schemas.openxmlformats.org/officeDocument/2006/relationships" id="2147483652" r:id="Rafb911f80d8449e7"/>
    <p:sldLayoutId xmlns:r="http://schemas.openxmlformats.org/officeDocument/2006/relationships" id="2147483653" r:id="R6e6c9c51987a403a"/>
    <p:sldLayoutId xmlns:r="http://schemas.openxmlformats.org/officeDocument/2006/relationships" id="2147483654" r:id="R337b5599ecf2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0f2bd286a408a" /><Relationship Type="http://schemas.openxmlformats.org/officeDocument/2006/relationships/image" Target="/ppt/media/image.png" Id="R6bc0f32eb42540cd" /><Relationship Type="http://schemas.openxmlformats.org/officeDocument/2006/relationships/notesSlide" Target="/ppt/notesSlides/notesSlide1.xml" Id="Rb1baeabd3f88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444c9df264b96" /><Relationship Type="http://schemas.openxmlformats.org/officeDocument/2006/relationships/notesSlide" Target="/ppt/notesSlides/notesSlide2.xml" Id="R096a0ed929c747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0140ea2fc46b4" /><Relationship Type="http://schemas.openxmlformats.org/officeDocument/2006/relationships/notesSlide" Target="/ppt/notesSlides/notesSlide3.xml" Id="R7317b73db457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4729304924c99" /><Relationship Type="http://schemas.openxmlformats.org/officeDocument/2006/relationships/image" Target="/ppt/media/image2.png" Id="R60b41f73a3334f9c" /><Relationship Type="http://schemas.openxmlformats.org/officeDocument/2006/relationships/notesSlide" Target="/ppt/notesSlides/notesSlide4.xml" Id="Rb43453632287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778b7a18743ae" /><Relationship Type="http://schemas.openxmlformats.org/officeDocument/2006/relationships/notesSlide" Target="/ppt/notesSlides/notesSlide5.xml" Id="R16c798b0f176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8881dbead429a" /><Relationship Type="http://schemas.openxmlformats.org/officeDocument/2006/relationships/notesSlide" Target="/ppt/notesSlides/notesSlide6.xml" Id="R4a8e383aa1af4f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7b0e5730e411c" /><Relationship Type="http://schemas.openxmlformats.org/officeDocument/2006/relationships/notesSlide" Target="/ppt/notesSlides/notesSlide7.xml" Id="R3039d5c3372144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81d3243d7423a" /><Relationship Type="http://schemas.openxmlformats.org/officeDocument/2006/relationships/notesSlide" Target="/ppt/notesSlides/notesSlide8.xml" Id="Re46b15549bf54f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548aec9e14650" /><Relationship Type="http://schemas.openxmlformats.org/officeDocument/2006/relationships/notesSlide" Target="/ppt/notesSlides/notesSlide9.xml" Id="R19a23593249c46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146664df4443a" /><Relationship Type="http://schemas.openxmlformats.org/officeDocument/2006/relationships/notesSlide" Target="/ppt/notesSlides/notesSlide10.xml" Id="Rfe938d7b50374b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f9cecf1c9464d" /><Relationship Type="http://schemas.openxmlformats.org/officeDocument/2006/relationships/chart" Target="/ppt/slides/charts/chart1.xml" Id="R24ecac5c663d40eb" /><Relationship Type="http://schemas.openxmlformats.org/officeDocument/2006/relationships/notesSlide" Target="/ppt/notesSlides/notesSlide11.xml" Id="R66792d946add4f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1ee2adf1647c1" /><Relationship Type="http://schemas.openxmlformats.org/officeDocument/2006/relationships/notesSlide" Target="/ppt/notesSlides/notesSlide12.xml" Id="R33677c7294ce44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3567d6991469f" /><Relationship Type="http://schemas.openxmlformats.org/officeDocument/2006/relationships/notesSlide" Target="/ppt/notesSlides/notesSlide13.xml" Id="R57a6f638d2ff4b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3b38a3cfb4529" /><Relationship Type="http://schemas.openxmlformats.org/officeDocument/2006/relationships/notesSlide" Target="/ppt/notesSlides/notesSlide14.xml" Id="R8ab0ad7cc87146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7ec2d30784a26" /><Relationship Type="http://schemas.openxmlformats.org/officeDocument/2006/relationships/notesSlide" Target="/ppt/notesSlides/notesSlide15.xml" Id="Rf17ffc53731b4a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adcff12e14c25" /><Relationship Type="http://schemas.openxmlformats.org/officeDocument/2006/relationships/notesSlide" Target="/ppt/notesSlides/notesSlide16.xml" Id="R9ff19ff2bed046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4295548d046a2" /><Relationship Type="http://schemas.openxmlformats.org/officeDocument/2006/relationships/notesSlide" Target="/ppt/notesSlides/notesSlide17.xml" Id="R39882d24e329456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待复核单位</c:v>
          </c:tx>
          <c:spPr>
            <a:solidFill xmlns:a="http://schemas.openxmlformats.org/drawingml/2006/main">
              <a:srgbClr val="0066CC"/>
            </a:solidFill>
          </c:spPr>
          <c:invertIfNegative val="0"/>
          <c:cat>
            <c:strLit>
              <c:ptCount val="3"/>
              <c:pt idx="0">
                <c:v>封存测试</c:v>
              </c:pt>
              <c:pt idx="1">
                <c:v>独立验证</c:v>
              </c:pt>
              <c:pt idx="2">
                <c:v>训练试标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92</c:v>
              </c:pt>
              <c:pt idx="2">
                <c:v>128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1D1D1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B8319314-CB53-410A-A981-18346019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00AD5-48E2-4D0D-A551-13376F31E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0f32eb42540cd"/>
          <a:stretch xmlns:a="http://schemas.openxmlformats.org/drawingml/2006/main"/>
        </p:blipFill>
        <p:spPr>
          <a:xfrm xmlns:a="http://schemas.openxmlformats.org/drawingml/2006/main">
            <a:off x="6153150" y="609600"/>
            <a:ext cx="5619750" cy="5619750"/>
          </a:xfrm>
          <a:prstGeom xmlns:a="http://schemas.openxmlformats.org/drawingml/2006/main" prst="rect">
            <a:avLst/>
          </a:prstGeom>
        </p:spPr>
      </p:pic>
      <p:sp>
        <p:nvSpPr>
          <p:cNvPr id="3" name="隐盾">
            <a:extLst xmlns:a="http://schemas.openxmlformats.org/drawingml/2006/main">
              <a:ext uri="{FF2B5EF4-FFF2-40B4-BE49-F238E27FC236}">
                <a16:creationId xmlns:a16="http://schemas.microsoft.com/office/drawing/2014/main" id="{B4FC21FA-3F06-4550-AF71-A25D14A2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5476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9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9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4" name="隐私保护对话系统">
            <a:extLst xmlns:a="http://schemas.openxmlformats.org/drawingml/2006/main">
              <a:ext uri="{FF2B5EF4-FFF2-40B4-BE49-F238E27FC236}">
                <a16:creationId xmlns:a16="http://schemas.microsoft.com/office/drawing/2014/main" id="{FAB551E3-CCA0-4258-88D6-243D79A0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隐私保护对话系统</a:t>
            </a:r>
          </a:p>
        </p:txBody>
      </p:sp>
      <p:sp>
        <p:nvSpPr>
          <p:cNvPr id="5" name="中文材料与多轮对话的一体化保护">
            <a:extLst xmlns:a="http://schemas.openxmlformats.org/drawingml/2006/main">
              <a:ext uri="{FF2B5EF4-FFF2-40B4-BE49-F238E27FC236}">
                <a16:creationId xmlns:a16="http://schemas.microsoft.com/office/drawing/2014/main" id="{1E1881A3-17BC-4012-8856-05C5E29F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中文材料与多轮对话的一体化保护</a:t>
            </a:r>
          </a:p>
        </p:txBody>
      </p:sp>
      <p:sp>
        <p:nvSpPr>
          <p:cNvPr id="6" name="挑战杯大学生课外学术科技作品竞赛">
            <a:extLst xmlns:a="http://schemas.openxmlformats.org/drawingml/2006/main">
              <a:ext uri="{FF2B5EF4-FFF2-40B4-BE49-F238E27FC236}">
                <a16:creationId xmlns:a16="http://schemas.microsoft.com/office/drawing/2014/main" id="{3046FC71-D85F-4C9F-9F81-F7D902CB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挑战杯大学生课外学术科技作品竞赛</a:t>
            </a:r>
          </a:p>
        </p:txBody>
      </p:sp>
    </p:spTree>
    <p:extLst>
      <p:ext uri="{BB962C8B-B14F-4D97-AF65-F5344CB8AC3E}">
        <p14:creationId xmlns:p14="http://schemas.microsoft.com/office/powerpoint/2010/main" val="10814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纪要里的额外披露">
            <a:extLst xmlns:a="http://schemas.openxmlformats.org/drawingml/2006/main">
              <a:ext uri="{FF2B5EF4-FFF2-40B4-BE49-F238E27FC236}">
                <a16:creationId xmlns:a16="http://schemas.microsoft.com/office/drawing/2014/main" id="{734F0418-E90F-4D9E-AA65-FD665210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纪要里的额外披露</a:t>
            </a:r>
          </a:p>
        </p:txBody>
      </p:sp>
      <p:sp>
        <p:nvSpPr>
          <p:cNvPr id="2" name="合成场景示例。服务对象来自项目需求，尚非用户调研结论。">
            <a:extLst xmlns:a="http://schemas.openxmlformats.org/drawingml/2006/main">
              <a:ext uri="{FF2B5EF4-FFF2-40B4-BE49-F238E27FC236}">
                <a16:creationId xmlns:a16="http://schemas.microsoft.com/office/drawing/2014/main" id="{021E3644-7C66-4321-8970-9CE289D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合成场景示例。服务对象来自项目需求，尚非用户调研结论。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259A7E5F-896A-4CF6-AD50-3FF5AFC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“请整理负责人和截止时间。”">
            <a:extLst xmlns:a="http://schemas.openxmlformats.org/drawingml/2006/main">
              <a:ext uri="{FF2B5EF4-FFF2-40B4-BE49-F238E27FC236}">
                <a16:creationId xmlns:a16="http://schemas.microsoft.com/office/drawing/2014/main" id="{347FF8A6-DC61-463A-A647-6F77D9CA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“请整理负责人和截止时间。”</a:t>
            </a:r>
          </a:p>
        </p:txBody>
      </p:sp>
      <p:sp>
        <p:nvSpPr>
          <p:cNvPr id="5" name="原始材料">
            <a:extLst xmlns:a="http://schemas.openxmlformats.org/drawingml/2006/main">
              <a:ext uri="{FF2B5EF4-FFF2-40B4-BE49-F238E27FC236}">
                <a16:creationId xmlns:a16="http://schemas.microsoft.com/office/drawing/2014/main" id="{E96325C3-C0FB-4BCC-8BB4-BAD0568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6" name="卫乐安负责海报，周五完成。">
            <a:extLst xmlns:a="http://schemas.openxmlformats.org/drawingml/2006/main">
              <a:ext uri="{FF2B5EF4-FFF2-40B4-BE49-F238E27FC236}">
                <a16:creationId xmlns:a16="http://schemas.microsoft.com/office/drawing/2014/main" id="{4C61C9D4-62B6-4240-9614-B8AAD09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05100"/>
            <a:ext cx="852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卫乐安负责海报，周五完成。</a:t>
            </a:r>
          </a:p>
        </p:txBody>
      </p:sp>
      <p:sp>
        <p:nvSpPr>
          <p:cNvPr id="7" name="电话 13000000000">
            <a:extLst xmlns:a="http://schemas.openxmlformats.org/drawingml/2006/main">
              <a:ext uri="{FF2B5EF4-FFF2-40B4-BE49-F238E27FC236}">
                <a16:creationId xmlns:a16="http://schemas.microsoft.com/office/drawing/2014/main" id="{68E9E8F4-38D9-43D3-9780-D137E8BF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852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电话 13000000000</a:t>
            </a:r>
          </a:p>
        </p:txBody>
      </p:sp>
      <p:sp>
        <p:nvSpPr>
          <p:cNvPr id="8" name="任务需要">
            <a:extLst xmlns:a="http://schemas.openxmlformats.org/drawingml/2006/main">
              <a:ext uri="{FF2B5EF4-FFF2-40B4-BE49-F238E27FC236}">
                <a16:creationId xmlns:a16="http://schemas.microsoft.com/office/drawing/2014/main" id="{B968ADBF-E100-428A-AE8B-93715F82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任务需要</a:t>
            </a:r>
          </a:p>
        </p:txBody>
      </p:sp>
      <p:sp>
        <p:nvSpPr>
          <p:cNvPr id="9" name="负责人关系、事项、期限">
            <a:extLst xmlns:a="http://schemas.openxmlformats.org/drawingml/2006/main">
              <a:ext uri="{FF2B5EF4-FFF2-40B4-BE49-F238E27FC236}">
                <a16:creationId xmlns:a16="http://schemas.microsoft.com/office/drawing/2014/main" id="{02EFFE07-0432-418E-AB70-BEBB86ED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81525"/>
            <a:ext cx="852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负责人关系、事项、期限</a:t>
            </a:r>
          </a:p>
        </p:txBody>
      </p:sp>
    </p:spTree>
    <p:extLst>
      <p:ext uri="{BB962C8B-B14F-4D97-AF65-F5344CB8AC3E}">
        <p14:creationId xmlns:p14="http://schemas.microsoft.com/office/powerpoint/2010/main" val="942625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同一份名单，不同处理方式">
            <a:extLst xmlns:a="http://schemas.openxmlformats.org/drawingml/2006/main">
              <a:ext uri="{FF2B5EF4-FFF2-40B4-BE49-F238E27FC236}">
                <a16:creationId xmlns:a16="http://schemas.microsoft.com/office/drawing/2014/main" id="{1FC7EEE3-F7E3-40FF-A831-6966831A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同一份名单，不同处理方式</a:t>
            </a:r>
          </a:p>
        </p:txBody>
      </p:sp>
      <p:sp>
        <p:nvSpPr>
          <p:cNvPr id="2" name="处理结果为设计示例，体现不同任务下的信息必要性。">
            <a:extLst xmlns:a="http://schemas.openxmlformats.org/drawingml/2006/main">
              <a:ext uri="{FF2B5EF4-FFF2-40B4-BE49-F238E27FC236}">
                <a16:creationId xmlns:a16="http://schemas.microsoft.com/office/drawing/2014/main" id="{BFE34235-C8FC-4DFA-A2F8-77C3548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处理结果为设计示例，体现不同任务下的信息必要性。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C268138-20A7-4450-BCEC-0A3B4AF3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卫乐安负责海报，林雨禾负责场地">
            <a:extLst xmlns:a="http://schemas.openxmlformats.org/drawingml/2006/main">
              <a:ext uri="{FF2B5EF4-FFF2-40B4-BE49-F238E27FC236}">
                <a16:creationId xmlns:a16="http://schemas.microsoft.com/office/drawing/2014/main" id="{4067DF0C-BAE4-4906-A51F-CD37CE8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192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卫乐安负责海报，林雨禾负责场地</a:t>
            </a:r>
          </a:p>
        </p:txBody>
      </p:sp>
      <p:sp>
        <p:nvSpPr>
          <p:cNvPr id="5" name="统计参加人数">
            <a:extLst xmlns:a="http://schemas.openxmlformats.org/drawingml/2006/main">
              <a:ext uri="{FF2B5EF4-FFF2-40B4-BE49-F238E27FC236}">
                <a16:creationId xmlns:a16="http://schemas.microsoft.com/office/drawing/2014/main" id="{FA611AA5-8DC6-4A46-93EC-A14C053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统计参加人数</a:t>
            </a:r>
          </a:p>
        </p:txBody>
      </p:sp>
      <p:sp>
        <p:nvSpPr>
          <p:cNvPr id="6" name="2 人">
            <a:extLst xmlns:a="http://schemas.openxmlformats.org/drawingml/2006/main">
              <a:ext uri="{FF2B5EF4-FFF2-40B4-BE49-F238E27FC236}">
                <a16:creationId xmlns:a16="http://schemas.microsoft.com/office/drawing/2014/main" id="{71481FB6-8F67-4D4E-A583-434A8F4D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 人</a:t>
            </a:r>
          </a:p>
        </p:txBody>
      </p:sp>
      <p:sp>
        <p:nvSpPr>
          <p:cNvPr id="7" name="只发送统计结果">
            <a:extLst xmlns:a="http://schemas.openxmlformats.org/drawingml/2006/main">
              <a:ext uri="{FF2B5EF4-FFF2-40B4-BE49-F238E27FC236}">
                <a16:creationId xmlns:a16="http://schemas.microsoft.com/office/drawing/2014/main" id="{3AE14E4C-B010-4FA6-BF75-4DF22674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9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只发送统计结果</a:t>
            </a:r>
          </a:p>
        </p:txBody>
      </p:sp>
      <p:sp>
        <p:nvSpPr>
          <p:cNvPr id="8" name="整理负责人分工">
            <a:extLst xmlns:a="http://schemas.openxmlformats.org/drawingml/2006/main">
              <a:ext uri="{FF2B5EF4-FFF2-40B4-BE49-F238E27FC236}">
                <a16:creationId xmlns:a16="http://schemas.microsoft.com/office/drawing/2014/main" id="{81901CEF-B49A-4C26-B168-05F158F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整理负责人分工</a:t>
            </a:r>
          </a:p>
        </p:txBody>
      </p:sp>
      <p:sp>
        <p:nvSpPr>
          <p:cNvPr id="9" name="人员甲负责海报 人员乙负责场地">
            <a:extLst xmlns:a="http://schemas.openxmlformats.org/drawingml/2006/main">
              <a:ext uri="{FF2B5EF4-FFF2-40B4-BE49-F238E27FC236}">
                <a16:creationId xmlns:a16="http://schemas.microsoft.com/office/drawing/2014/main" id="{1CD37A0D-14BB-421E-86FC-B7DEE50A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71850"/>
            <a:ext cx="4867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人员甲负责海报</a:t>
            </a:r>
          </a:p>
          <a:p xmlns:a="http://schemas.openxmlformats.org/drawingml/2006/main">
            <a:pPr algn="l">
              <a:def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人员乙负责场地</a:t>
            </a:r>
          </a:p>
        </p:txBody>
      </p:sp>
      <p:sp>
        <p:nvSpPr>
          <p:cNvPr id="10" name="保留关系，替换真实姓名">
            <a:extLst xmlns:a="http://schemas.openxmlformats.org/drawingml/2006/main">
              <a:ext uri="{FF2B5EF4-FFF2-40B4-BE49-F238E27FC236}">
                <a16:creationId xmlns:a16="http://schemas.microsoft.com/office/drawing/2014/main" id="{D9DC70F3-250B-4201-8A57-DE59C37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76825"/>
            <a:ext cx="481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保留关系，替换真实姓名</a:t>
            </a:r>
          </a:p>
        </p:txBody>
      </p:sp>
    </p:spTree>
    <p:extLst>
      <p:ext uri="{BB962C8B-B14F-4D97-AF65-F5344CB8AC3E}">
        <p14:creationId xmlns:p14="http://schemas.microsoft.com/office/powerpoint/2010/main" val="2032564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材料与追问，共用一个对话">
            <a:extLst xmlns:a="http://schemas.openxmlformats.org/drawingml/2006/main">
              <a:ext uri="{FF2B5EF4-FFF2-40B4-BE49-F238E27FC236}">
                <a16:creationId xmlns:a16="http://schemas.microsoft.com/office/drawing/2014/main" id="{6EA1D601-C0D8-4400-A408-7E82E4BF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材料与追问，共用一个对话</a:t>
            </a:r>
          </a:p>
        </p:txBody>
      </p:sp>
      <p:sp>
        <p:nvSpPr>
          <p:cNvPr id="2" name="现有原型实拍截图，离线演示模式。">
            <a:extLst xmlns:a="http://schemas.openxmlformats.org/drawingml/2006/main">
              <a:ext uri="{FF2B5EF4-FFF2-40B4-BE49-F238E27FC236}">
                <a16:creationId xmlns:a16="http://schemas.microsoft.com/office/drawing/2014/main" id="{6876A64A-E5E4-42AD-906E-8B74F9F8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现有原型实拍截图，离线演示模式。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A08F542-8E49-481F-8F2B-204DB3D0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上传材料 直接提问 继续对话">
            <a:extLst xmlns:a="http://schemas.openxmlformats.org/drawingml/2006/main">
              <a:ext uri="{FF2B5EF4-FFF2-40B4-BE49-F238E27FC236}">
                <a16:creationId xmlns:a16="http://schemas.microsoft.com/office/drawing/2014/main" id="{1006B563-BC1E-456A-BB16-411F8469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3429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上传材料</a:t>
            </a:r>
          </a:p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直接提问</a:t>
            </a:r>
          </a:p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继续对话</a:t>
            </a:r>
          </a:p>
        </p:txBody>
      </p:sp>
      <p:sp>
        <p:nvSpPr>
          <p:cNvPr id="5" name="每一轮发送前 都经过本地保护">
            <a:extLst xmlns:a="http://schemas.openxmlformats.org/drawingml/2006/main">
              <a:ext uri="{FF2B5EF4-FFF2-40B4-BE49-F238E27FC236}">
                <a16:creationId xmlns:a16="http://schemas.microsoft.com/office/drawing/2014/main" id="{E9AD4B6D-2CEB-4010-84EE-28CE750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每一轮发送前</a:t>
            </a:r>
          </a:p>
          <a:p xmlns:a="http://schemas.openxmlformats.org/drawingml/2006/main">
            <a:pPr algn="l">
              <a:def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都经过本地保护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23783-3EE7-4288-B3A3-7C65DFC02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41f73a3334f9c"/>
          <a:stretch xmlns:a="http://schemas.openxmlformats.org/drawingml/2006/main"/>
        </p:blipFill>
        <p:spPr>
          <a:xfrm xmlns:a="http://schemas.openxmlformats.org/drawingml/2006/main">
            <a:off x="4845374" y="1514475"/>
            <a:ext cx="6044551" cy="4600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54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本地处理与云端生成">
            <a:extLst xmlns:a="http://schemas.openxmlformats.org/drawingml/2006/main">
              <a:ext uri="{FF2B5EF4-FFF2-40B4-BE49-F238E27FC236}">
                <a16:creationId xmlns:a16="http://schemas.microsoft.com/office/drawing/2014/main" id="{03E16D6D-0D16-40E3-BD25-37D3F20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本地处理与云端生成</a:t>
            </a:r>
          </a:p>
        </p:txBody>
      </p:sp>
      <p:sp>
        <p:nvSpPr>
          <p:cNvPr id="2" name="当前原型具备动作模型与校验链路；专项识别模型和真实 API ">
            <a:extLst xmlns:a="http://schemas.openxmlformats.org/drawingml/2006/main">
              <a:ext uri="{FF2B5EF4-FFF2-40B4-BE49-F238E27FC236}">
                <a16:creationId xmlns:a16="http://schemas.microsoft.com/office/drawing/2014/main" id="{047F3046-E034-4CDD-963C-45AEE9E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当前原型具备动作模型与校验链路；专项识别模型和真实 API 效果待验收。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74C70763-5F7F-4EEF-917B-047BE98F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本机">
            <a:extLst xmlns:a="http://schemas.openxmlformats.org/drawingml/2006/main">
              <a:ext uri="{FF2B5EF4-FFF2-40B4-BE49-F238E27FC236}">
                <a16:creationId xmlns:a16="http://schemas.microsoft.com/office/drawing/2014/main" id="{2446A341-22AB-42AD-8B19-80C4477E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本机</a:t>
            </a:r>
          </a:p>
        </p:txBody>
      </p:sp>
      <p:sp>
        <p:nvSpPr>
          <p:cNvPr id="5" name="云端">
            <a:extLst xmlns:a="http://schemas.openxmlformats.org/drawingml/2006/main">
              <a:ext uri="{FF2B5EF4-FFF2-40B4-BE49-F238E27FC236}">
                <a16:creationId xmlns:a16="http://schemas.microsoft.com/office/drawing/2014/main" id="{86B2EAB0-6D2A-41A6-A1D2-9184E4B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云端</a:t>
            </a:r>
          </a:p>
        </p:txBody>
      </p:sp>
      <p:sp>
        <p:nvSpPr>
          <p:cNvPr id="6" name="材料与会话管理 敏感片段识别 模型动作与安全校验">
            <a:extLst xmlns:a="http://schemas.openxmlformats.org/drawingml/2006/main">
              <a:ext uri="{FF2B5EF4-FFF2-40B4-BE49-F238E27FC236}">
                <a16:creationId xmlns:a16="http://schemas.microsoft.com/office/drawing/2014/main" id="{ED9A5A86-C9D4-465B-9606-A465A325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材料与会话管理</a:t>
            </a:r>
          </a:p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敏感片段识别</a:t>
            </a:r>
          </a:p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模型动作与安全校验</a:t>
            </a:r>
          </a:p>
        </p:txBody>
      </p:sp>
      <p:sp>
        <p:nvSpPr>
          <p:cNvPr id="7" name="生成模型 API 依据处理后的上下文回答">
            <a:extLst xmlns:a="http://schemas.openxmlformats.org/drawingml/2006/main">
              <a:ext uri="{FF2B5EF4-FFF2-40B4-BE49-F238E27FC236}">
                <a16:creationId xmlns:a16="http://schemas.microsoft.com/office/drawing/2014/main" id="{E303653B-2761-4FA3-89B5-D5A5CF1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4238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生成模型 API</a:t>
            </a:r>
          </a:p>
          <a:p xmlns:a="http://schemas.openxmlformats.org/drawingml/2006/main">
            <a:pPr algn="l">
              <a:def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依据处理后的上下文回答</a:t>
            </a:r>
          </a:p>
        </p:txBody>
      </p:sp>
      <p:sp>
        <p:nvSpPr>
          <p:cNvPr id="8" name="原文与身份映射留在本地">
            <a:extLst xmlns:a="http://schemas.openxmlformats.org/drawingml/2006/main">
              <a:ext uri="{FF2B5EF4-FFF2-40B4-BE49-F238E27FC236}">
                <a16:creationId xmlns:a16="http://schemas.microsoft.com/office/drawing/2014/main" id="{514B3414-68F3-49EA-8F77-B3A6C16D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958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原文与身份映射留在本地</a:t>
            </a:r>
          </a:p>
        </p:txBody>
      </p:sp>
      <p:sp>
        <p:nvSpPr>
          <p:cNvPr id="9" name="回答复检后进入对话">
            <a:extLst xmlns:a="http://schemas.openxmlformats.org/drawingml/2006/main">
              <a:ext uri="{FF2B5EF4-FFF2-40B4-BE49-F238E27FC236}">
                <a16:creationId xmlns:a16="http://schemas.microsoft.com/office/drawing/2014/main" id="{5639B76A-C53E-4D7E-ACA1-2F4C6C2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958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回答复检后进入对话</a:t>
            </a:r>
          </a:p>
        </p:txBody>
      </p:sp>
    </p:spTree>
    <p:extLst>
      <p:ext uri="{BB962C8B-B14F-4D97-AF65-F5344CB8AC3E}">
        <p14:creationId xmlns:p14="http://schemas.microsoft.com/office/powerpoint/2010/main" val="6567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模型选择六种处理动作">
            <a:extLst xmlns:a="http://schemas.openxmlformats.org/drawingml/2006/main">
              <a:ext uri="{FF2B5EF4-FFF2-40B4-BE49-F238E27FC236}">
                <a16:creationId xmlns:a16="http://schemas.microsoft.com/office/drawing/2014/main" id="{C40EEDC5-1B21-43C4-AFF3-1D1B9C74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模型选择六种处理动作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A87C2C58-4014-4D3A-A83C-8581F128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删除">
            <a:extLst xmlns:a="http://schemas.openxmlformats.org/drawingml/2006/main">
              <a:ext uri="{FF2B5EF4-FFF2-40B4-BE49-F238E27FC236}">
                <a16:creationId xmlns:a16="http://schemas.microsoft.com/office/drawing/2014/main" id="{55AF3A8B-AE78-4F5A-8390-444E015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14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删除</a:t>
            </a:r>
          </a:p>
        </p:txBody>
      </p:sp>
      <p:sp>
        <p:nvSpPr>
          <p:cNvPr id="4" name="去掉任务无关的联系方式">
            <a:extLst xmlns:a="http://schemas.openxmlformats.org/drawingml/2006/main">
              <a:ext uri="{FF2B5EF4-FFF2-40B4-BE49-F238E27FC236}">
                <a16:creationId xmlns:a16="http://schemas.microsoft.com/office/drawing/2014/main" id="{9D8C715B-EF3F-4831-AB5E-ECF638F3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050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去掉任务无关的联系方式</a:t>
            </a:r>
          </a:p>
        </p:txBody>
      </p:sp>
      <p:sp>
        <p:nvSpPr>
          <p:cNvPr id="5" name="本地统计">
            <a:extLst xmlns:a="http://schemas.openxmlformats.org/drawingml/2006/main">
              <a:ext uri="{FF2B5EF4-FFF2-40B4-BE49-F238E27FC236}">
                <a16:creationId xmlns:a16="http://schemas.microsoft.com/office/drawing/2014/main" id="{75DAAFFD-BD9C-4C8A-B460-11F899F7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14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本地统计</a:t>
            </a:r>
          </a:p>
        </p:txBody>
      </p:sp>
      <p:sp>
        <p:nvSpPr>
          <p:cNvPr id="6" name="只发送人数等汇总结果">
            <a:extLst xmlns:a="http://schemas.openxmlformats.org/drawingml/2006/main">
              <a:ext uri="{FF2B5EF4-FFF2-40B4-BE49-F238E27FC236}">
                <a16:creationId xmlns:a16="http://schemas.microsoft.com/office/drawing/2014/main" id="{B438E108-D083-48D9-9C2E-5A88D876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0507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只发送人数等汇总结果</a:t>
            </a:r>
          </a:p>
        </p:txBody>
      </p:sp>
      <p:sp>
        <p:nvSpPr>
          <p:cNvPr id="7" name="泛化">
            <a:extLst xmlns:a="http://schemas.openxmlformats.org/drawingml/2006/main">
              <a:ext uri="{FF2B5EF4-FFF2-40B4-BE49-F238E27FC236}">
                <a16:creationId xmlns:a16="http://schemas.microsoft.com/office/drawing/2014/main" id="{868C29DB-62FA-4AA6-9CBF-A3AD1B9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泛化</a:t>
            </a:r>
          </a:p>
        </p:txBody>
      </p:sp>
      <p:sp>
        <p:nvSpPr>
          <p:cNvPr id="8" name="降低位置或数值的精度">
            <a:extLst xmlns:a="http://schemas.openxmlformats.org/drawingml/2006/main">
              <a:ext uri="{FF2B5EF4-FFF2-40B4-BE49-F238E27FC236}">
                <a16:creationId xmlns:a16="http://schemas.microsoft.com/office/drawing/2014/main" id="{61222714-DBF1-448C-A17E-57C6182D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052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降低位置或数值的精度</a:t>
            </a:r>
          </a:p>
        </p:txBody>
      </p:sp>
      <p:sp>
        <p:nvSpPr>
          <p:cNvPr id="9" name="代号替换">
            <a:extLst xmlns:a="http://schemas.openxmlformats.org/drawingml/2006/main">
              <a:ext uri="{FF2B5EF4-FFF2-40B4-BE49-F238E27FC236}">
                <a16:creationId xmlns:a16="http://schemas.microsoft.com/office/drawing/2014/main" id="{EC498A3F-C071-4AB0-B2A8-5DFC548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代号替换</a:t>
            </a:r>
          </a:p>
        </p:txBody>
      </p:sp>
      <p:sp>
        <p:nvSpPr>
          <p:cNvPr id="10" name="保留人物与事项的对应">
            <a:extLst xmlns:a="http://schemas.openxmlformats.org/drawingml/2006/main">
              <a:ext uri="{FF2B5EF4-FFF2-40B4-BE49-F238E27FC236}">
                <a16:creationId xmlns:a16="http://schemas.microsoft.com/office/drawing/2014/main" id="{6556E230-AC69-4134-94EB-67A1DB9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保留人物与事项的对应</a:t>
            </a:r>
          </a:p>
        </p:txBody>
      </p:sp>
      <p:sp>
        <p:nvSpPr>
          <p:cNvPr id="11" name="保留">
            <a:extLst xmlns:a="http://schemas.openxmlformats.org/drawingml/2006/main">
              <a:ext uri="{FF2B5EF4-FFF2-40B4-BE49-F238E27FC236}">
                <a16:creationId xmlns:a16="http://schemas.microsoft.com/office/drawing/2014/main" id="{E6AE85BD-842A-4E26-A484-FE31F40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2" name="用途与权限均满足时保留">
            <a:extLst xmlns:a="http://schemas.openxmlformats.org/drawingml/2006/main">
              <a:ext uri="{FF2B5EF4-FFF2-40B4-BE49-F238E27FC236}">
                <a16:creationId xmlns:a16="http://schemas.microsoft.com/office/drawing/2014/main" id="{632A1098-C6EB-4BC3-A767-8DA96D5B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0542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用途与权限均满足时保留</a:t>
            </a:r>
          </a:p>
        </p:txBody>
      </p:sp>
      <p:sp>
        <p:nvSpPr>
          <p:cNvPr id="13" name="暂停">
            <a:extLst xmlns:a="http://schemas.openxmlformats.org/drawingml/2006/main">
              <a:ext uri="{FF2B5EF4-FFF2-40B4-BE49-F238E27FC236}">
                <a16:creationId xmlns:a16="http://schemas.microsoft.com/office/drawing/2014/main" id="{B2A23DFA-2E25-44AB-B720-F149259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148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14" name="权限未知或处理不可靠时停止">
            <a:extLst xmlns:a="http://schemas.openxmlformats.org/drawingml/2006/main">
              <a:ext uri="{FF2B5EF4-FFF2-40B4-BE49-F238E27FC236}">
                <a16:creationId xmlns:a16="http://schemas.microsoft.com/office/drawing/2014/main" id="{CCC5D425-352F-4399-B0F6-A37A1F8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0542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权限未知或处理不可靠时停止</a:t>
            </a:r>
          </a:p>
        </p:txBody>
      </p:sp>
    </p:spTree>
    <p:extLst>
      <p:ext uri="{BB962C8B-B14F-4D97-AF65-F5344CB8AC3E}">
        <p14:creationId xmlns:p14="http://schemas.microsoft.com/office/powerpoint/2010/main" val="1964707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多轮保护的连续性">
            <a:extLst xmlns:a="http://schemas.openxmlformats.org/drawingml/2006/main">
              <a:ext uri="{FF2B5EF4-FFF2-40B4-BE49-F238E27FC236}">
                <a16:creationId xmlns:a16="http://schemas.microsoft.com/office/drawing/2014/main" id="{C03A48DE-84CB-4B6E-9DE4-5CE785B4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多轮保护的连续性</a:t>
            </a:r>
          </a:p>
        </p:txBody>
      </p:sp>
      <p:sp>
        <p:nvSpPr>
          <p:cNvPr id="2" name="合成会话目标示例。复杂指代与累计披露仍需专项训练和验证。">
            <a:extLst xmlns:a="http://schemas.openxmlformats.org/drawingml/2006/main">
              <a:ext uri="{FF2B5EF4-FFF2-40B4-BE49-F238E27FC236}">
                <a16:creationId xmlns:a16="http://schemas.microsoft.com/office/drawing/2014/main" id="{DEFCA827-63A3-4BA3-8BD4-33BAC231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合成会话目标示例。复杂指代与累计披露仍需专项训练和验证。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A0AC248A-3F20-4B13-AECC-6FA2A587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D2F35-9455-4F5E-B989-D7E5EDF543DE}"/>
              </a:ext>
            </a:extLst>
          </p:cNvPr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108204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4572000"/>
                <a:gridCol w="4857750"/>
              </a:tblGrid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用户请求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处理目标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卫乐安负责海报，周五完成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人员甲负责海报，周五完成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把他的截止时间改为周一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保持人员甲与海报的关系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恢复真实姓名并发给云端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暂停本轮，不发送原名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稳定代号沿用，外发历史按成功轮次提交">
            <a:extLst xmlns:a="http://schemas.openxmlformats.org/drawingml/2006/main">
              <a:ext uri="{FF2B5EF4-FFF2-40B4-BE49-F238E27FC236}">
                <a16:creationId xmlns:a16="http://schemas.microsoft.com/office/drawing/2014/main" id="{495A0CDC-474D-4F5D-BFDF-32A734B9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稳定代号沿用，外发历史按成功轮次提交</a:t>
            </a:r>
          </a:p>
        </p:txBody>
      </p:sp>
    </p:spTree>
    <p:extLst>
      <p:ext uri="{BB962C8B-B14F-4D97-AF65-F5344CB8AC3E}">
        <p14:creationId xmlns:p14="http://schemas.microsoft.com/office/powerpoint/2010/main" val="563726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项目的技术创新点">
            <a:extLst xmlns:a="http://schemas.openxmlformats.org/drawingml/2006/main">
              <a:ext uri="{FF2B5EF4-FFF2-40B4-BE49-F238E27FC236}">
                <a16:creationId xmlns:a16="http://schemas.microsoft.com/office/drawing/2014/main" id="{6E106478-C08A-4BE8-940F-0914C72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项目的技术创新点</a:t>
            </a:r>
          </a:p>
        </p:txBody>
      </p:sp>
      <p:sp>
        <p:nvSpPr>
          <p:cNvPr id="2" name="创新方案及验证假设。当前不宣称首创或已优于所有现有方案。">
            <a:extLst xmlns:a="http://schemas.openxmlformats.org/drawingml/2006/main">
              <a:ext uri="{FF2B5EF4-FFF2-40B4-BE49-F238E27FC236}">
                <a16:creationId xmlns:a16="http://schemas.microsoft.com/office/drawing/2014/main" id="{FD41DBD9-4724-4A37-8C30-60A82D65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创新方案及验证假设。当前不宣称首创或已优于所有现有方案。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C195F28C-008A-405A-91C5-4076B0C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任务条件决策">
            <a:extLst xmlns:a="http://schemas.openxmlformats.org/drawingml/2006/main">
              <a:ext uri="{FF2B5EF4-FFF2-40B4-BE49-F238E27FC236}">
                <a16:creationId xmlns:a16="http://schemas.microsoft.com/office/drawing/2014/main" id="{5ED0EEF7-7E79-4D0D-A2F9-18C3D967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任务条件决策</a:t>
            </a:r>
          </a:p>
        </p:txBody>
      </p:sp>
      <p:sp>
        <p:nvSpPr>
          <p:cNvPr id="5" name="结合任务、身份与接收方选择处理动作">
            <a:extLst xmlns:a="http://schemas.openxmlformats.org/drawingml/2006/main">
              <a:ext uri="{FF2B5EF4-FFF2-40B4-BE49-F238E27FC236}">
                <a16:creationId xmlns:a16="http://schemas.microsoft.com/office/drawing/2014/main" id="{CCEDA949-2CEA-4DB3-B9E1-5A08FDA8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57400"/>
            <a:ext cx="731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结合任务、身份与接收方选择处理动作</a:t>
            </a:r>
          </a:p>
        </p:txBody>
      </p:sp>
      <p:sp>
        <p:nvSpPr>
          <p:cNvPr id="6" name="连续保护状态">
            <a:extLst xmlns:a="http://schemas.openxmlformats.org/drawingml/2006/main">
              <a:ext uri="{FF2B5EF4-FFF2-40B4-BE49-F238E27FC236}">
                <a16:creationId xmlns:a16="http://schemas.microsoft.com/office/drawing/2014/main" id="{F780C5C1-B001-46C6-B8DA-E773986C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连续保护状态</a:t>
            </a:r>
          </a:p>
        </p:txBody>
      </p:sp>
      <p:sp>
        <p:nvSpPr>
          <p:cNvPr id="7" name="附件和追问共同使用代号映射与安全历史">
            <a:extLst xmlns:a="http://schemas.openxmlformats.org/drawingml/2006/main">
              <a:ext uri="{FF2B5EF4-FFF2-40B4-BE49-F238E27FC236}">
                <a16:creationId xmlns:a16="http://schemas.microsoft.com/office/drawing/2014/main" id="{250EED44-E378-4BB7-BDF7-EF23300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731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附件和追问共同使用代号映射与安全历史</a:t>
            </a:r>
          </a:p>
        </p:txBody>
      </p:sp>
      <p:sp>
        <p:nvSpPr>
          <p:cNvPr id="8" name="外发内容可复核">
            <a:extLst xmlns:a="http://schemas.openxmlformats.org/drawingml/2006/main">
              <a:ext uri="{FF2B5EF4-FFF2-40B4-BE49-F238E27FC236}">
                <a16:creationId xmlns:a16="http://schemas.microsoft.com/office/drawing/2014/main" id="{671C3BC2-6EEF-4B76-AABC-C73AC7B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外发内容可复核</a:t>
            </a:r>
          </a:p>
        </p:txBody>
      </p:sp>
      <p:sp>
        <p:nvSpPr>
          <p:cNvPr id="9" name="将漏检、误决策与执行泄露分别归因">
            <a:extLst xmlns:a="http://schemas.openxmlformats.org/drawingml/2006/main">
              <a:ext uri="{FF2B5EF4-FFF2-40B4-BE49-F238E27FC236}">
                <a16:creationId xmlns:a16="http://schemas.microsoft.com/office/drawing/2014/main" id="{811D1426-66B5-4635-962E-DC1D022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00600"/>
            <a:ext cx="7315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将漏检、误决策与执行泄露分别归因</a:t>
            </a:r>
          </a:p>
        </p:txBody>
      </p:sp>
    </p:spTree>
    <p:extLst>
      <p:ext uri="{BB962C8B-B14F-4D97-AF65-F5344CB8AC3E}">
        <p14:creationId xmlns:p14="http://schemas.microsoft.com/office/powerpoint/2010/main" val="1392954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地专项模型路线">
            <a:extLst xmlns:a="http://schemas.openxmlformats.org/drawingml/2006/main">
              <a:ext uri="{FF2B5EF4-FFF2-40B4-BE49-F238E27FC236}">
                <a16:creationId xmlns:a16="http://schemas.microsoft.com/office/drawing/2014/main" id="{878BE080-A952-4C36-BD89-C76849D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本地专项模型路线</a:t>
            </a:r>
          </a:p>
        </p:txBody>
      </p:sp>
      <p:sp>
        <p:nvSpPr>
          <p:cNvPr id="2" name="候选路线。当前实体检测仍为格式与上下文方法，专项模型待训练接">
            <a:extLst xmlns:a="http://schemas.openxmlformats.org/drawingml/2006/main">
              <a:ext uri="{FF2B5EF4-FFF2-40B4-BE49-F238E27FC236}">
                <a16:creationId xmlns:a16="http://schemas.microsoft.com/office/drawing/2014/main" id="{73B455F2-C528-4779-A45F-02844D92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候选路线。当前实体检测仍为格式与上下文方法，专项模型待训练接入。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D304A1E6-CCC3-4C05-B28E-129C9FF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识别片段与类别">
            <a:extLst xmlns:a="http://schemas.openxmlformats.org/drawingml/2006/main">
              <a:ext uri="{FF2B5EF4-FFF2-40B4-BE49-F238E27FC236}">
                <a16:creationId xmlns:a16="http://schemas.microsoft.com/office/drawing/2014/main" id="{C6366A3C-9A41-4B9F-9351-D8E5FA4B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33575"/>
            <a:ext cx="6048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识别片段与类别</a:t>
            </a:r>
          </a:p>
        </p:txBody>
      </p:sp>
      <p:sp>
        <p:nvSpPr>
          <p:cNvPr id="5" name="候选基座">
            <a:extLst xmlns:a="http://schemas.openxmlformats.org/drawingml/2006/main">
              <a:ext uri="{FF2B5EF4-FFF2-40B4-BE49-F238E27FC236}">
                <a16:creationId xmlns:a16="http://schemas.microsoft.com/office/drawing/2014/main" id="{CF86912F-CDC6-4C47-92DC-1A6B317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861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候选基座</a:t>
            </a:r>
          </a:p>
        </p:txBody>
      </p:sp>
      <p:sp>
        <p:nvSpPr>
          <p:cNvPr id="6" name="Qwen3-1.7B">
            <a:extLst xmlns:a="http://schemas.openxmlformats.org/drawingml/2006/main">
              <a:ext uri="{FF2B5EF4-FFF2-40B4-BE49-F238E27FC236}">
                <a16:creationId xmlns:a16="http://schemas.microsoft.com/office/drawing/2014/main" id="{88EE31AA-7E68-41B6-957B-F338815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14675"/>
            <a:ext cx="3886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Qwen3-1.7B</a:t>
            </a:r>
          </a:p>
        </p:txBody>
      </p:sp>
      <p:sp>
        <p:nvSpPr>
          <p:cNvPr id="7" name="微调方式">
            <a:extLst xmlns:a="http://schemas.openxmlformats.org/drawingml/2006/main">
              <a:ext uri="{FF2B5EF4-FFF2-40B4-BE49-F238E27FC236}">
                <a16:creationId xmlns:a16="http://schemas.microsoft.com/office/drawing/2014/main" id="{9FCB3409-361A-4462-A250-526F26D3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48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微调方式</a:t>
            </a:r>
          </a:p>
        </p:txBody>
      </p:sp>
      <p:sp>
        <p:nvSpPr>
          <p:cNvPr id="8" name="LoRA 或 QLoRA">
            <a:extLst xmlns:a="http://schemas.openxmlformats.org/drawingml/2006/main">
              <a:ext uri="{FF2B5EF4-FFF2-40B4-BE49-F238E27FC236}">
                <a16:creationId xmlns:a16="http://schemas.microsoft.com/office/drawing/2014/main" id="{91515470-CBF1-4623-ADB5-9637EBBD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76700"/>
            <a:ext cx="3886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LoRA 或 QLoRA</a:t>
            </a:r>
          </a:p>
        </p:txBody>
      </p:sp>
      <p:sp>
        <p:nvSpPr>
          <p:cNvPr id="9" name="部署方式">
            <a:extLst xmlns:a="http://schemas.openxmlformats.org/drawingml/2006/main">
              <a:ext uri="{FF2B5EF4-FFF2-40B4-BE49-F238E27FC236}">
                <a16:creationId xmlns:a16="http://schemas.microsoft.com/office/drawing/2014/main" id="{9597AD8E-44FB-4BDC-98C2-7E08AAD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0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部署方式</a:t>
            </a:r>
          </a:p>
        </p:txBody>
      </p:sp>
      <p:sp>
        <p:nvSpPr>
          <p:cNvPr id="10" name="云端训练，本机推理">
            <a:extLst xmlns:a="http://schemas.openxmlformats.org/drawingml/2006/main">
              <a:ext uri="{FF2B5EF4-FFF2-40B4-BE49-F238E27FC236}">
                <a16:creationId xmlns:a16="http://schemas.microsoft.com/office/drawing/2014/main" id="{DB6CE420-0DF9-4CF6-B5F7-5A7A119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38725"/>
            <a:ext cx="3886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云端训练，本机推理</a:t>
            </a:r>
          </a:p>
        </p:txBody>
      </p:sp>
      <p:sp>
        <p:nvSpPr>
          <p:cNvPr id="11" name="1.7B">
            <a:extLst xmlns:a="http://schemas.openxmlformats.org/drawingml/2006/main">
              <a:ext uri="{FF2B5EF4-FFF2-40B4-BE49-F238E27FC236}">
                <a16:creationId xmlns:a16="http://schemas.microsoft.com/office/drawing/2014/main" id="{60A5C801-0BBF-4501-851F-FDFDE12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4057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4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1.7B</a:t>
            </a:r>
          </a:p>
        </p:txBody>
      </p:sp>
      <p:sp>
        <p:nvSpPr>
          <p:cNvPr id="12" name="候选基座规模">
            <a:extLst xmlns:a="http://schemas.openxmlformats.org/drawingml/2006/main">
              <a:ext uri="{FF2B5EF4-FFF2-40B4-BE49-F238E27FC236}">
                <a16:creationId xmlns:a16="http://schemas.microsoft.com/office/drawing/2014/main" id="{801CCB64-D709-499C-9A01-B60A7672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0025"/>
            <a:ext cx="3876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候选基座规模</a:t>
            </a:r>
          </a:p>
        </p:txBody>
      </p:sp>
    </p:spTree>
    <p:extLst>
      <p:ext uri="{BB962C8B-B14F-4D97-AF65-F5344CB8AC3E}">
        <p14:creationId xmlns:p14="http://schemas.microsoft.com/office/powerpoint/2010/main" val="1728999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数据覆盖识别、决策与会话">
            <a:extLst xmlns:a="http://schemas.openxmlformats.org/drawingml/2006/main">
              <a:ext uri="{FF2B5EF4-FFF2-40B4-BE49-F238E27FC236}">
                <a16:creationId xmlns:a16="http://schemas.microsoft.com/office/drawing/2014/main" id="{34E2DB75-23D0-42C6-8A63-26638FC1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数据覆盖识别、决策与会话</a:t>
            </a:r>
          </a:p>
        </p:txBody>
      </p:sp>
      <p:sp>
        <p:nvSpPr>
          <p:cNvPr id="2" name="自建数据为合成弱标签。8,000 条外部中文合成样本独立用于">
            <a:extLst xmlns:a="http://schemas.openxmlformats.org/drawingml/2006/main">
              <a:ext uri="{FF2B5EF4-FFF2-40B4-BE49-F238E27FC236}">
                <a16:creationId xmlns:a16="http://schemas.microsoft.com/office/drawing/2014/main" id="{FA5EF916-12C0-4F88-AEC8-A8141D79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自建数据为合成弱标签。8,000 条外部中文合成样本独立用于评估。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B77E17B-419D-4F7E-AC56-EC61B6F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1FB5419A-EA79-4CB9-95B4-5F05B893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619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8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8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类敏感信息">
            <a:extLst xmlns:a="http://schemas.openxmlformats.org/drawingml/2006/main">
              <a:ext uri="{FF2B5EF4-FFF2-40B4-BE49-F238E27FC236}">
                <a16:creationId xmlns:a16="http://schemas.microsoft.com/office/drawing/2014/main" id="{AF06B1F5-FE3B-4B7A-99F3-C4C564E3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类敏感信息</a:t>
            </a:r>
          </a:p>
        </p:txBody>
      </p:sp>
      <p:sp>
        <p:nvSpPr>
          <p:cNvPr id="6" name="姓名、联系方式、证件号 宿舍、成绩、敏感属性等">
            <a:extLst xmlns:a="http://schemas.openxmlformats.org/drawingml/2006/main">
              <a:ext uri="{FF2B5EF4-FFF2-40B4-BE49-F238E27FC236}">
                <a16:creationId xmlns:a16="http://schemas.microsoft.com/office/drawing/2014/main" id="{3DAB57C7-58B9-4C79-A969-970189A1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3714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姓名、联系方式、证件号</a:t>
            </a:r>
          </a:p>
          <a:p xmlns:a="http://schemas.openxmlformats.org/drawingml/2006/main">
            <a:pPr algn="l">
              <a:def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宿舍、成绩、敏感属性等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BE75B-E69D-4305-9902-10477949C2C1}"/>
              </a:ext>
            </a:extLst>
          </p:cNvPr>
          <p:cNvGraphicFramePr/>
          <p:nvPr/>
        </p:nvGraphicFramePr>
        <p:xfrm>
          <a:off xmlns:a="http://schemas.openxmlformats.org/drawingml/2006/main" x="5362575" y="2152650"/>
          <a:ext xmlns:a="http://schemas.openxmlformats.org/drawingml/2006/main" cx="6143625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10000"/>
              </a:tblGrid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训练任务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现有数据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5,100 条材料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动作决策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1,440 条材料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多轮对话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 段三轮会话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526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双人复核形成可追溯答案">
            <a:extLst xmlns:a="http://schemas.openxmlformats.org/drawingml/2006/main">
              <a:ext uri="{FF2B5EF4-FFF2-40B4-BE49-F238E27FC236}">
                <a16:creationId xmlns:a16="http://schemas.microsoft.com/office/drawing/2014/main" id="{C8A5D7B5-27B6-4386-B1A6-940DE4F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双人复核形成可追溯答案</a:t>
            </a:r>
          </a:p>
        </p:txBody>
      </p:sp>
      <p:sp>
        <p:nvSpPr>
          <p:cNvPr id="2" name="312 个复核单位已选定，每段会话计一个单位。当前人工 go">
            <a:extLst xmlns:a="http://schemas.openxmlformats.org/drawingml/2006/main">
              <a:ext uri="{FF2B5EF4-FFF2-40B4-BE49-F238E27FC236}">
                <a16:creationId xmlns:a16="http://schemas.microsoft.com/office/drawing/2014/main" id="{54531D63-88EF-4791-B331-33966A3C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312 个复核单位已选定，每段会话计一个单位。当前人工 gold 为 0。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64A849C2-812B-401B-9638-2B34B1E3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F13DE7D-94AD-4CC9-B1FE-B1B08FCEE290}"/>
              </a:ext>
            </a:extLst>
          </p:cNvPr>
          <p:cNvGraphicFramePr/>
          <p:nvPr/>
        </p:nvGraphicFramePr>
        <p:xfrm>
          <a:off xmlns:a="http://schemas.openxmlformats.org/drawingml/2006/main" x="704850" y="2000250"/>
          <a:ext xmlns:a="http://schemas.openxmlformats.org/drawingml/2006/main" cx="64579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ecac5c663d40eb"/>
          </a:graphicData>
        </a:graphic>
      </p:graphicFrame>
      <p:sp>
        <p:nvSpPr>
          <p:cNvPr id="5" name="2 + 1">
            <a:extLst xmlns:a="http://schemas.openxmlformats.org/drawingml/2006/main">
              <a:ext uri="{FF2B5EF4-FFF2-40B4-BE49-F238E27FC236}">
                <a16:creationId xmlns:a16="http://schemas.microsoft.com/office/drawing/2014/main" id="{92552D2C-DAA2-4AB9-9AF3-DE12A1CF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0980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 + 1</a:t>
            </a:r>
          </a:p>
        </p:txBody>
      </p:sp>
      <p:sp>
        <p:nvSpPr>
          <p:cNvPr id="6" name="两人独立复核 一人裁决分歧">
            <a:extLst xmlns:a="http://schemas.openxmlformats.org/drawingml/2006/main">
              <a:ext uri="{FF2B5EF4-FFF2-40B4-BE49-F238E27FC236}">
                <a16:creationId xmlns:a16="http://schemas.microsoft.com/office/drawing/2014/main" id="{A945F535-B81D-4050-8CE6-33BAAD00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67125"/>
            <a:ext cx="3190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两人独立复核</a:t>
            </a:r>
          </a:p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一人裁决分歧</a:t>
            </a:r>
          </a:p>
        </p:txBody>
      </p:sp>
      <p:sp>
        <p:nvSpPr>
          <p:cNvPr id="7" name="实体、动作、完整会话">
            <a:extLst xmlns:a="http://schemas.openxmlformats.org/drawingml/2006/main">
              <a:ext uri="{FF2B5EF4-FFF2-40B4-BE49-F238E27FC236}">
                <a16:creationId xmlns:a16="http://schemas.microsoft.com/office/drawing/2014/main" id="{7AD52824-A71B-43F7-A58C-9173D2E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实体、动作、完整会话</a:t>
            </a:r>
          </a:p>
        </p:txBody>
      </p:sp>
    </p:spTree>
    <p:extLst>
      <p:ext uri="{BB962C8B-B14F-4D97-AF65-F5344CB8AC3E}">
        <p14:creationId xmlns:p14="http://schemas.microsoft.com/office/powerpoint/2010/main" val="488536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现有原型的验证记录">
            <a:extLst xmlns:a="http://schemas.openxmlformats.org/drawingml/2006/main">
              <a:ext uri="{FF2B5EF4-FFF2-40B4-BE49-F238E27FC236}">
                <a16:creationId xmlns:a16="http://schemas.microsoft.com/office/drawing/2014/main" id="{69AED706-97DC-4CE8-8E32-5F54C7E7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现有原型的验证记录</a:t>
            </a:r>
          </a:p>
        </p:txBody>
      </p:sp>
      <p:sp>
        <p:nvSpPr>
          <p:cNvPr id="2" name="验证记录日期 2026-10-13。工程检查数量不代表真实隐">
            <a:extLst xmlns:a="http://schemas.openxmlformats.org/drawingml/2006/main">
              <a:ext uri="{FF2B5EF4-FFF2-40B4-BE49-F238E27FC236}">
                <a16:creationId xmlns:a16="http://schemas.microsoft.com/office/drawing/2014/main" id="{41FEDA5B-1674-4723-91AA-54ECC902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验证记录日期 2026-10-13。工程检查数量不代表真实隐私保护准确率。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59EE7EAD-3A72-46B1-9EF7-1C63BAA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81">
            <a:extLst xmlns:a="http://schemas.openxmlformats.org/drawingml/2006/main">
              <a:ext uri="{FF2B5EF4-FFF2-40B4-BE49-F238E27FC236}">
                <a16:creationId xmlns:a16="http://schemas.microsoft.com/office/drawing/2014/main" id="{81D1B732-FC16-43A7-B140-4F9EBBB6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323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  <p:sp>
        <p:nvSpPr>
          <p:cNvPr id="5" name="回归检查通过">
            <a:extLst xmlns:a="http://schemas.openxmlformats.org/drawingml/2006/main">
              <a:ext uri="{FF2B5EF4-FFF2-40B4-BE49-F238E27FC236}">
                <a16:creationId xmlns:a16="http://schemas.microsoft.com/office/drawing/2014/main" id="{8B27EB74-6A02-4DBB-B4A0-A1519C7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回归检查通过</a:t>
            </a:r>
          </a:p>
        </p:txBody>
      </p:sp>
      <p:sp>
        <p:nvSpPr>
          <p:cNvPr id="6" name="27">
            <a:extLst xmlns:a="http://schemas.openxmlformats.org/drawingml/2006/main">
              <a:ext uri="{FF2B5EF4-FFF2-40B4-BE49-F238E27FC236}">
                <a16:creationId xmlns:a16="http://schemas.microsoft.com/office/drawing/2014/main" id="{BC050512-1E5A-440C-96E7-4CD3DB9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9775"/>
            <a:ext cx="323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子检查通过">
            <a:extLst xmlns:a="http://schemas.openxmlformats.org/drawingml/2006/main">
              <a:ext uri="{FF2B5EF4-FFF2-40B4-BE49-F238E27FC236}">
                <a16:creationId xmlns:a16="http://schemas.microsoft.com/office/drawing/2014/main" id="{5EF4800F-7CE1-40A9-A709-681AF6B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95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子检查通过</a:t>
            </a:r>
          </a:p>
        </p:txBody>
      </p:sp>
      <p:sp>
        <p:nvSpPr>
          <p:cNvPr id="8" name="38">
            <a:extLst xmlns:a="http://schemas.openxmlformats.org/drawingml/2006/main">
              <a:ext uri="{FF2B5EF4-FFF2-40B4-BE49-F238E27FC236}">
                <a16:creationId xmlns:a16="http://schemas.microsoft.com/office/drawing/2014/main" id="{FAB7AA90-9B72-4FE3-806C-14BA75EB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9775"/>
            <a:ext cx="3238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9" name="冒烟检查通过">
            <a:extLst xmlns:a="http://schemas.openxmlformats.org/drawingml/2006/main">
              <a:ext uri="{FF2B5EF4-FFF2-40B4-BE49-F238E27FC236}">
                <a16:creationId xmlns:a16="http://schemas.microsoft.com/office/drawing/2014/main" id="{726901C1-6DE4-4C1F-B54E-57A597FB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95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冒烟检查通过</a:t>
            </a:r>
          </a:p>
        </p:txBody>
      </p:sp>
      <p:sp>
        <p:nvSpPr>
          <p:cNvPr id="10" name="已具备统一对话、动作执行与失败暂停链路">
            <a:extLst xmlns:a="http://schemas.openxmlformats.org/drawingml/2006/main">
              <a:ext uri="{FF2B5EF4-FFF2-40B4-BE49-F238E27FC236}">
                <a16:creationId xmlns:a16="http://schemas.microsoft.com/office/drawing/2014/main" id="{EF4D0070-32D9-4E70-B51C-93477F66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25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已具备统一对话、动作执行与失败暂停链路</a:t>
            </a:r>
          </a:p>
        </p:txBody>
      </p:sp>
    </p:spTree>
    <p:extLst>
      <p:ext uri="{BB962C8B-B14F-4D97-AF65-F5344CB8AC3E}">
        <p14:creationId xmlns:p14="http://schemas.microsoft.com/office/powerpoint/2010/main" val="1902588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下一阶段的验证重点">
            <a:extLst xmlns:a="http://schemas.openxmlformats.org/drawingml/2006/main">
              <a:ext uri="{FF2B5EF4-FFF2-40B4-BE49-F238E27FC236}">
                <a16:creationId xmlns:a16="http://schemas.microsoft.com/office/drawing/2014/main" id="{D80D25B0-54E7-47E5-B597-46D36BA7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下一阶段的验证重点</a:t>
            </a:r>
          </a:p>
        </p:txBody>
      </p:sp>
      <p:sp>
        <p:nvSpPr>
          <p:cNvPr id="2" name="后续验收计划。正式效果和资源开销尚待实测。">
            <a:extLst xmlns:a="http://schemas.openxmlformats.org/drawingml/2006/main">
              <a:ext uri="{FF2B5EF4-FFF2-40B4-BE49-F238E27FC236}">
                <a16:creationId xmlns:a16="http://schemas.microsoft.com/office/drawing/2014/main" id="{5BDBF029-2DBD-4FF9-8A4A-F2915E03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后续验收计划。正式效果和资源开销尚待实测。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2FB735CF-3A7D-4D3B-B36A-9DB99FC1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E7879-1F6D-4A9D-8751-1267BA164586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381500"/>
                <a:gridCol w="4438650"/>
              </a:tblGrid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数据复核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人工实体与动作答案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来源、分歧与裁决可追溯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模型验证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冻结的候选权重与测试记录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漏检、误删、泄露与任务完成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部署验收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API 与第二台电脑记录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延迟、显存、异常与暂停行为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优先服务学生组织、课程项目与科研协作场景">
            <a:extLst xmlns:a="http://schemas.openxmlformats.org/drawingml/2006/main">
              <a:ext uri="{FF2B5EF4-FFF2-40B4-BE49-F238E27FC236}">
                <a16:creationId xmlns:a16="http://schemas.microsoft.com/office/drawing/2014/main" id="{B8D6227C-766B-47E1-AF03-68DDBD43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911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优先服务学生组织、课程项目与科研协作场景</a:t>
            </a:r>
          </a:p>
        </p:txBody>
      </p:sp>
    </p:spTree>
    <p:extLst>
      <p:ext uri="{BB962C8B-B14F-4D97-AF65-F5344CB8AC3E}">
        <p14:creationId xmlns:p14="http://schemas.microsoft.com/office/powerpoint/2010/main" val="9444983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A2160D8E-6AEC-4AFB-82C4-A6094EBA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隐盾">
            <a:extLst xmlns:a="http://schemas.openxmlformats.org/drawingml/2006/main">
              <a:ext uri="{FF2B5EF4-FFF2-40B4-BE49-F238E27FC236}">
                <a16:creationId xmlns:a16="http://schemas.microsoft.com/office/drawing/2014/main" id="{FC8F2F3D-0C21-408E-82B7-240CDC6B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04975"/>
            <a:ext cx="10801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2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隐盾</a:t>
            </a:r>
          </a:p>
        </p:txBody>
      </p:sp>
      <p:sp>
        <p:nvSpPr>
          <p:cNvPr id="3" name="面向任务必要性的本地隐私保护">
            <a:extLst xmlns:a="http://schemas.openxmlformats.org/drawingml/2006/main">
              <a:ext uri="{FF2B5EF4-FFF2-40B4-BE49-F238E27FC236}">
                <a16:creationId xmlns:a16="http://schemas.microsoft.com/office/drawing/2014/main" id="{D2CCEF6A-EA6C-456A-8E2F-B8F527E7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9570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面向任务必要性的本地隐私保护</a:t>
            </a:r>
          </a:p>
        </p:txBody>
      </p:sp>
      <p:sp>
        <p:nvSpPr>
          <p:cNvPr id="4" name="感谢聆听">
            <a:extLst xmlns:a="http://schemas.openxmlformats.org/drawingml/2006/main">
              <a:ext uri="{FF2B5EF4-FFF2-40B4-BE49-F238E27FC236}">
                <a16:creationId xmlns:a16="http://schemas.microsoft.com/office/drawing/2014/main" id="{B10E8901-16F6-4C60-931B-50C35EC3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86375"/>
            <a:ext cx="10801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2087278953"/>
      </p:ext>
    </p:extLst>
  </p:cSld>
</p:sld>
</file>

<file path=ppt/slides/slide1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备答  实体输出与失败处理">
            <a:extLst xmlns:a="http://schemas.openxmlformats.org/drawingml/2006/main">
              <a:ext uri="{FF2B5EF4-FFF2-40B4-BE49-F238E27FC236}">
                <a16:creationId xmlns:a16="http://schemas.microsoft.com/office/drawing/2014/main" id="{54D91030-A779-4B5C-9893-F4AD459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备答  实体输出与失败处理</a:t>
            </a:r>
          </a:p>
        </p:txBody>
      </p:sp>
      <p:sp>
        <p:nvSpPr>
          <p:cNvPr id="2" name="校验发现错误时暂停本轮，修正后重新处理。">
            <a:extLst xmlns:a="http://schemas.openxmlformats.org/drawingml/2006/main">
              <a:ext uri="{FF2B5EF4-FFF2-40B4-BE49-F238E27FC236}">
                <a16:creationId xmlns:a16="http://schemas.microsoft.com/office/drawing/2014/main" id="{5A791C03-924A-439C-B278-E3E1509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校验发现错误时暂停本轮，修正后重新处理。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5BD45538-851C-4D9B-961B-5178643E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F4F01-80D3-4F57-9421-B00359E4C989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输出字段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必须是原文中实际出现的片段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/ end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Unicode 字符索引，切片与 text 一致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属于版本冻结的 14 类标签清单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格式错误、位置歧义、超长截断均应显式失败">
            <a:extLst xmlns:a="http://schemas.openxmlformats.org/drawingml/2006/main">
              <a:ext uri="{FF2B5EF4-FFF2-40B4-BE49-F238E27FC236}">
                <a16:creationId xmlns:a16="http://schemas.microsoft.com/office/drawing/2014/main" id="{18A3BF5C-39C0-4C57-8CBD-C55D0AA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911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格式错误、位置歧义、超长截断均应显式失败</a:t>
            </a:r>
          </a:p>
        </p:txBody>
      </p:sp>
    </p:spTree>
    <p:extLst>
      <p:ext uri="{BB962C8B-B14F-4D97-AF65-F5344CB8AC3E}">
        <p14:creationId xmlns:p14="http://schemas.microsoft.com/office/powerpoint/2010/main" val="1469690918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备答  评测口径与当前基线">
            <a:extLst xmlns:a="http://schemas.openxmlformats.org/drawingml/2006/main">
              <a:ext uri="{FF2B5EF4-FFF2-40B4-BE49-F238E27FC236}">
                <a16:creationId xmlns:a16="http://schemas.microsoft.com/office/drawing/2014/main" id="{6764626A-639E-4BD2-99E2-746B31F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备答  评测口径与当前基线</a:t>
            </a:r>
          </a:p>
        </p:txBody>
      </p:sp>
      <p:sp>
        <p:nvSpPr>
          <p:cNvPr id="2" name="上述分数均非新本地小模型的正式验收结果。">
            <a:extLst xmlns:a="http://schemas.openxmlformats.org/drawingml/2006/main">
              <a:ext uri="{FF2B5EF4-FFF2-40B4-BE49-F238E27FC236}">
                <a16:creationId xmlns:a16="http://schemas.microsoft.com/office/drawing/2014/main" id="{4E33F4E2-4E6A-419E-B36E-A1FED010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上述分数均非新本地小模型的正式验收结果。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6BFCF619-9F71-42A7-8DA2-561A6F8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90E11-4722-4763-B6EB-1D908FB4A7F6}"/>
              </a:ext>
            </a:extLst>
          </p:cNvPr>
          <p:cNvGraphicFramePr/>
          <p:nvPr/>
        </p:nvGraphicFramePr>
        <p:xfrm>
          <a:off xmlns:a="http://schemas.openxmlformats.org/drawingml/2006/main" x="685800" y="1914525"/>
          <a:ext xmlns:a="http://schemas.openxmlformats.org/drawingml/2006/main" cx="10820400" cy="2162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352800"/>
                <a:gridCol w="4371975"/>
              </a:tblGrid>
              <a:tr h="7207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已有记录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7207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动作分类器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Macro-F1  0.9887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合成弱标签分组验证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现有实体检测器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 F1  0.5501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 条合成验证材料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式评测">
            <a:extLst xmlns:a="http://schemas.openxmlformats.org/drawingml/2006/main">
              <a:ext uri="{FF2B5EF4-FFF2-40B4-BE49-F238E27FC236}">
                <a16:creationId xmlns:a16="http://schemas.microsoft.com/office/drawing/2014/main" id="{081867EF-A62A-4E41-B20D-B7F1B89B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434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正式评测</a:t>
            </a:r>
          </a:p>
        </p:txBody>
      </p:sp>
      <p:sp>
        <p:nvSpPr>
          <p:cNvPr id="6" name="识别质量、披露事件、任务完成、误暂停 本地保护 P95 延迟">
            <a:extLst xmlns:a="http://schemas.openxmlformats.org/drawingml/2006/main">
              <a:ext uri="{FF2B5EF4-FFF2-40B4-BE49-F238E27FC236}">
                <a16:creationId xmlns:a16="http://schemas.microsoft.com/office/drawing/2014/main" id="{8E63CFE6-9673-435F-BE62-B2930EC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339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识别质量、披露事件、任务完成、误暂停</a:t>
            </a:r>
          </a:p>
          <a:p xmlns:a="http://schemas.openxmlformats.org/drawingml/2006/main">
            <a:pPr algn="l">
              <a:def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本地保护 P95 延迟与显存峰值</a:t>
            </a:r>
          </a:p>
        </p:txBody>
      </p:sp>
    </p:spTree>
    <p:extLst>
      <p:ext uri="{BB962C8B-B14F-4D97-AF65-F5344CB8AC3E}">
        <p14:creationId xmlns:p14="http://schemas.microsoft.com/office/powerpoint/2010/main" val="1931072810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答  API 与安全边界">
            <a:extLst xmlns:a="http://schemas.openxmlformats.org/drawingml/2006/main">
              <a:ext uri="{FF2B5EF4-FFF2-40B4-BE49-F238E27FC236}">
                <a16:creationId xmlns:a16="http://schemas.microsoft.com/office/drawing/2014/main" id="{DCED1C1F-EB28-46D1-9371-70A58DC9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备答  API 与安全边界</a:t>
            </a:r>
          </a:p>
        </p:txBody>
      </p:sp>
      <p:sp>
        <p:nvSpPr>
          <p:cNvPr id="2" name="本地删除不能撤回已经外发的内容。">
            <a:extLst xmlns:a="http://schemas.openxmlformats.org/drawingml/2006/main">
              <a:ext uri="{FF2B5EF4-FFF2-40B4-BE49-F238E27FC236}">
                <a16:creationId xmlns:a16="http://schemas.microsoft.com/office/drawing/2014/main" id="{CCFE0DF8-1114-4BA4-9C93-CFCC4ABE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本地删除不能撤回已经外发的内容。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56FEA057-422A-4902-A3A0-00BA1F61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63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0D3E6-0776-4621-9751-37F43BC6AA07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边界或能力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当前状态与要求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T w="5715">
                      <a:solidFill>
                        <a:srgbClr val="E1E3E7"/>
                      </a:solidFill>
                      <a:prstDash val="solid"/>
                    </a:lnT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API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兼容客户端已有，真实连接待验收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发送内容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检查当前请求与已处理历史的完整载荷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回答展示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复检通过后显示并写入历史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外部工具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1E3E7"/>
                      </a:solidFill>
                      <a:prstDash val="solid"/>
                    </a:lnL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7145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6363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参数需单独检查，真实集成待验收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1E3E7"/>
                      </a:solidFill>
                      <a:prstDash val="solid"/>
                    </a:lnR>
                    <a:lnB w="5715">
                      <a:solidFill>
                        <a:srgbClr val="E1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90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2026-10-14T15:06:24.9220000Z</dcterms:created>
  <dcterms:modified xsi:type="dcterms:W3CDTF">2026-10-14T15:06:24.9220000Z</dcterms:modified>
</coreProperties>
</file>
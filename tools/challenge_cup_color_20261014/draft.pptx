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8ef1b09c4c4a56" /><Relationship Type="http://schemas.openxmlformats.org/officeDocument/2006/relationships/extended-properties" Target="/docProps/app.xml" Id="R3ed9d2663a9f4272" /><Relationship Type="http://schemas.openxmlformats.org/officeDocument/2006/relationships/officeDocument" Target="/ppt/presentation.xml" Id="R591bdae644c841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240bc3fc84546"/>
  </p:sldMasterIdLst>
  <p:notesMasterIdLst>
    <p:notesMasterId xmlns:r="http://schemas.openxmlformats.org/officeDocument/2006/relationships" r:id="R5afaee881d0f4745"/>
  </p:notesMasterIdLst>
  <p:sldIdLst>
    <p:sldId xmlns:r="http://schemas.openxmlformats.org/officeDocument/2006/relationships" id="256" r:id="Rf2ab27ae29654fe4"/>
    <p:sldId xmlns:r="http://schemas.openxmlformats.org/officeDocument/2006/relationships" id="257" r:id="Re0edd4d9dc394276"/>
    <p:sldId xmlns:r="http://schemas.openxmlformats.org/officeDocument/2006/relationships" id="258" r:id="R63b8ca726a6648ae"/>
    <p:sldId xmlns:r="http://schemas.openxmlformats.org/officeDocument/2006/relationships" id="259" r:id="R43e5715a6fb64f6d"/>
    <p:sldId xmlns:r="http://schemas.openxmlformats.org/officeDocument/2006/relationships" id="260" r:id="Rdebb083255b64d92"/>
    <p:sldId xmlns:r="http://schemas.openxmlformats.org/officeDocument/2006/relationships" id="261" r:id="R37080ca661694330"/>
    <p:sldId xmlns:r="http://schemas.openxmlformats.org/officeDocument/2006/relationships" id="262" r:id="R7b02b1b913c148ff"/>
    <p:sldId xmlns:r="http://schemas.openxmlformats.org/officeDocument/2006/relationships" id="263" r:id="Re8c6416233d24c83"/>
    <p:sldId xmlns:r="http://schemas.openxmlformats.org/officeDocument/2006/relationships" id="264" r:id="R689f66f47b664d1b"/>
    <p:sldId xmlns:r="http://schemas.openxmlformats.org/officeDocument/2006/relationships" id="265" r:id="R7c5e39069eb14059"/>
    <p:sldId xmlns:r="http://schemas.openxmlformats.org/officeDocument/2006/relationships" id="266" r:id="R9557d17858dc465a"/>
    <p:sldId xmlns:r="http://schemas.openxmlformats.org/officeDocument/2006/relationships" id="267" r:id="Rc46685756c8c4fc2"/>
    <p:sldId xmlns:r="http://schemas.openxmlformats.org/officeDocument/2006/relationships" id="268" r:id="R63b8e77b673448d0"/>
    <p:sldId xmlns:r="http://schemas.openxmlformats.org/officeDocument/2006/relationships" id="269" r:id="Rc69340d5780340af"/>
    <p:sldId xmlns:r="http://schemas.openxmlformats.org/officeDocument/2006/relationships" id="270" r:id="R7f4b1e5c68064a4c"/>
    <p:sldId xmlns:r="http://schemas.openxmlformats.org/officeDocument/2006/relationships" id="271" r:id="Rd3fdcf3c36b8467c"/>
    <p:sldId xmlns:r="http://schemas.openxmlformats.org/officeDocument/2006/relationships" id="272" r:id="Rf832db0d2f634e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ad58ed88644764" /><Relationship Type="http://schemas.openxmlformats.org/officeDocument/2006/relationships/slideMaster" Target="/ppt/slideMasters/slideMaster1.xml" Id="Rfeb240bc3fc84546" /><Relationship Type="http://schemas.openxmlformats.org/officeDocument/2006/relationships/notesMaster" Target="/ppt/notesMasters/notesMaster1.xml" Id="R5afaee881d0f4745" /><Relationship Type="http://schemas.openxmlformats.org/officeDocument/2006/relationships/presProps" Target="/ppt/presProps.xml" Id="R2f615d6021c24959" /><Relationship Type="http://schemas.openxmlformats.org/officeDocument/2006/relationships/tableStyles" Target="/ppt/tableStyles.xml" Id="R8290a7468a1f4d37" /><Relationship Type="http://schemas.openxmlformats.org/officeDocument/2006/relationships/slide" Target="/ppt/slides/slide1.xml" Id="Rf2ab27ae29654fe4" /><Relationship Type="http://schemas.openxmlformats.org/officeDocument/2006/relationships/slide" Target="/ppt/slides/slide2.xml" Id="Re0edd4d9dc394276" /><Relationship Type="http://schemas.openxmlformats.org/officeDocument/2006/relationships/slide" Target="/ppt/slides/slide3.xml" Id="R63b8ca726a6648ae" /><Relationship Type="http://schemas.openxmlformats.org/officeDocument/2006/relationships/slide" Target="/ppt/slides/slide4.xml" Id="R43e5715a6fb64f6d" /><Relationship Type="http://schemas.openxmlformats.org/officeDocument/2006/relationships/slide" Target="/ppt/slides/slide5.xml" Id="Rdebb083255b64d92" /><Relationship Type="http://schemas.openxmlformats.org/officeDocument/2006/relationships/slide" Target="/ppt/slides/slide6.xml" Id="R37080ca661694330" /><Relationship Type="http://schemas.openxmlformats.org/officeDocument/2006/relationships/slide" Target="/ppt/slides/slide7.xml" Id="R7b02b1b913c148ff" /><Relationship Type="http://schemas.openxmlformats.org/officeDocument/2006/relationships/slide" Target="/ppt/slides/slide8.xml" Id="Re8c6416233d24c83" /><Relationship Type="http://schemas.openxmlformats.org/officeDocument/2006/relationships/slide" Target="/ppt/slides/slide9.xml" Id="R689f66f47b664d1b" /><Relationship Type="http://schemas.openxmlformats.org/officeDocument/2006/relationships/slide" Target="/ppt/slides/slide10.xml" Id="R7c5e39069eb14059" /><Relationship Type="http://schemas.openxmlformats.org/officeDocument/2006/relationships/slide" Target="/ppt/slides/slide11.xml" Id="R9557d17858dc465a" /><Relationship Type="http://schemas.openxmlformats.org/officeDocument/2006/relationships/slide" Target="/ppt/slides/slide12.xml" Id="Rc46685756c8c4fc2" /><Relationship Type="http://schemas.openxmlformats.org/officeDocument/2006/relationships/slide" Target="/ppt/slides/slide13.xml" Id="R63b8e77b673448d0" /><Relationship Type="http://schemas.openxmlformats.org/officeDocument/2006/relationships/slide" Target="/ppt/slides/slide14.xml" Id="Rc69340d5780340af" /><Relationship Type="http://schemas.openxmlformats.org/officeDocument/2006/relationships/slide" Target="/ppt/slides/slide15.xml" Id="R7f4b1e5c68064a4c" /><Relationship Type="http://schemas.openxmlformats.org/officeDocument/2006/relationships/slide" Target="/ppt/slides/slide16.xml" Id="Rd3fdcf3c36b8467c" /><Relationship Type="http://schemas.openxmlformats.org/officeDocument/2006/relationships/slide" Target="/ppt/slides/slide17.xml" Id="Rf832db0d2f634e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397a4d842b48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b8b72801304cf7" /><Relationship Type="http://schemas.openxmlformats.org/officeDocument/2006/relationships/notesMaster" Target="/ppt/notesMasters/notesMaster1.xml" Id="Rf447216d0a864b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5fefb652c646aa" /><Relationship Type="http://schemas.openxmlformats.org/officeDocument/2006/relationships/notesMaster" Target="/ppt/notesMasters/notesMaster1.xml" Id="R01b09977a42349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e30d26dd5e420c" /><Relationship Type="http://schemas.openxmlformats.org/officeDocument/2006/relationships/notesMaster" Target="/ppt/notesMasters/notesMaster1.xml" Id="R52aff38b51824a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6ea1beffe84abd" /><Relationship Type="http://schemas.openxmlformats.org/officeDocument/2006/relationships/notesMaster" Target="/ppt/notesMasters/notesMaster1.xml" Id="R6b990f4c105b4d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909d6339b240d5" /><Relationship Type="http://schemas.openxmlformats.org/officeDocument/2006/relationships/notesMaster" Target="/ppt/notesMasters/notesMaster1.xml" Id="R43c0ab34898842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37103f573b4372" /><Relationship Type="http://schemas.openxmlformats.org/officeDocument/2006/relationships/notesMaster" Target="/ppt/notesMasters/notesMaster1.xml" Id="R0fb286bf892e4c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82f7a25992411e" /><Relationship Type="http://schemas.openxmlformats.org/officeDocument/2006/relationships/notesMaster" Target="/ppt/notesMasters/notesMaster1.xml" Id="Rc66b596d67314b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2aa6e135ae41a0" /><Relationship Type="http://schemas.openxmlformats.org/officeDocument/2006/relationships/notesMaster" Target="/ppt/notesMasters/notesMaster1.xml" Id="R2dab11302bbf4e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ec737edcc942f5" /><Relationship Type="http://schemas.openxmlformats.org/officeDocument/2006/relationships/notesMaster" Target="/ppt/notesMasters/notesMaster1.xml" Id="Re4047f8008be49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054f759e9b4d12" /><Relationship Type="http://schemas.openxmlformats.org/officeDocument/2006/relationships/notesMaster" Target="/ppt/notesMasters/notesMaster1.xml" Id="R86d364f115ea4c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e933e217e04a2c" /><Relationship Type="http://schemas.openxmlformats.org/officeDocument/2006/relationships/notesMaster" Target="/ppt/notesMasters/notesMaster1.xml" Id="Rfa5146c07e4040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0fa7ca291b45a3" /><Relationship Type="http://schemas.openxmlformats.org/officeDocument/2006/relationships/notesMaster" Target="/ppt/notesMasters/notesMaster1.xml" Id="R7d17a2d7aa8444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4835dc96524c21" /><Relationship Type="http://schemas.openxmlformats.org/officeDocument/2006/relationships/notesMaster" Target="/ppt/notesMasters/notesMaster1.xml" Id="Rdaa754f971eb44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bff5fff8d64c73" /><Relationship Type="http://schemas.openxmlformats.org/officeDocument/2006/relationships/notesMaster" Target="/ppt/notesMasters/notesMaster1.xml" Id="Rf6f2c44c909345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e1acbaf89746e1" /><Relationship Type="http://schemas.openxmlformats.org/officeDocument/2006/relationships/notesMaster" Target="/ppt/notesMasters/notesMaster1.xml" Id="Rff1a9f882a8a42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c2ae79065e45cf" /><Relationship Type="http://schemas.openxmlformats.org/officeDocument/2006/relationships/notesMaster" Target="/ppt/notesMasters/notesMaster1.xml" Id="Re73a713117b149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94e8377f2140b3" /><Relationship Type="http://schemas.openxmlformats.org/officeDocument/2006/relationships/notesMaster" Target="/ppt/notesMasters/notesMaster1.xml" Id="R7245fd6ce28443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各位评委好，我们的项目是隐盾，面向中文材料处理与多轮对话的隐私保护系统。我们关注一个具体问题：使用云端大模型时，怎样只发出完成任务所必需的信息。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https://tiaozhanbei.net/rules</a:t>
            </a:r>
          </a:p>
          <a:p xmlns:a="http://schemas.openxmlformats.org/drawingml/2006/main">
            <a:r>
              <a:t>https://cs.ccnu.edu.cn/info/1055/14006.htm</a:t>
            </a:r>
          </a:p>
          <a:p xmlns:a="http://schemas.openxmlformats.org/drawingml/2006/main">
            <a:r>
              <a:t>封面盾牌为概念插画，不是产品实物。</a:t>
            </a:r>
          </a:p>
          <a:p xmlns:a="http://schemas.openxmlformats.org/drawingml/2006/main">
            <a:r>
              <a:t>封面盾牌为品牌概念图。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学生组织和课程团队整理纪要为例，任务需要知道谁负责什么、什么时候完成，但材料往往同时带着电话等个人信息。整份上传会多发信息，直接删除所有姓名又会破坏分工关系。隐盾希望在两者之间，保留完成任务所需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https://nxy.yangtzeu.edu.cn/info/1039/12343.htm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是一份两人的名单，如果任务是统计人数，外部模型只需要收到两人。如果任务是整理分工，就需要保留人员和事项的关系，用稳定代号替代真名。因此我们的决策单位是任务条件下的信息用途，不能只看有没有姓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目前原型的实际离线界面。用户上传材料后直接提问，再继续追问，不需要分别进入材料脱敏和聊天两个系统。每次发送都重新走本地保护流程。这里展示的是交互和安全处理流程，离线回复不代表真实云端模型的生成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  <a:p xmlns:a="http://schemas.openxmlformats.org/drawingml/2006/main">
            <a:r>
              <a:t>截图：隐盾整合交付_20261012/验证结果/界面截图/chat-desktop.png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把隐私处理放在本机。先识别片段，再由动作模型选择处理方式，程序检查权限和最终发送内容。云端生成模型只接收通过检查的上下文。本地原值映射不随请求发送。当前客户端适配已经具备，真实服务连接还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动作模型可选择删除、本地统计、泛化、代号替换、保留或暂停。这里保留是有前提的，要满足任务必要性和可信权限。模型负责选择，安全检查只负责接受或暂停，不再使用旧规则来替模型兜底选动作。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  <a:p xmlns:a="http://schemas.openxmlformats.org/drawingml/2006/main">
            <a:r>
              <a:t>实现：app/llm_shield/m3_decide 与 m4_necessity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风险也会发生在后续追问里。第一轮用人员甲替换姓名，第二轮修改期限时，需要继续对应同一个人。如果第三轮要求恢复原名给外部模型，不能因为前两轮已经放行就继续发送。暂停轮也不能污染此前成功的外发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创新集中在方法组合和验证方式。第一，把任务和接收方条件纳入动作决策，减少不必要披露。第二，让材料和多轮对话共享保护状态。第三，直接检查实际外发的内容，区分识别错误、决策错误和执行错误。这些优势需要通过同条件对照来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https://tiaozhanbei.net/rules</a:t>
            </a:r>
          </a:p>
          <a:p xmlns:a="http://schemas.openxmlformats.org/drawingml/2006/main">
            <a:r>
              <a:t>https://cs.ccnu.edu.cn/info/1055/14006.htm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本地小模型承担敏感片段识别与类别判断，通用内容生成仍交给外部服务。我们拟以 Qwen3 的一点七 B 模型为候选，采用参数高效微调，云端训练、本机推理。最终选型比较漏检、误删、定位、延迟和显存，当前还没有训练完成的专项权重。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https://huggingface.co/Qwen/Qwen3-1.7B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准备分成三个任务：五千一百条实体材料，一千四百四十条动作材料，以及三百六十段三轮对话。实体覆盖十四类，也包含负例和表格。数据目前主要是合成弱标签，另外保留八千条外部中文合成数据用于测试，避免把格式转换重复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  <a:p xmlns:a="http://schemas.openxmlformats.org/drawingml/2006/main">
            <a:r>
              <a:t>https://huggingface.co/datasets/wan9yu/pii-bench-zh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已选定三批复核样本：训练一百二十八个、验证九十二个、封存测试九十二个。两人独立标注，第三人裁决，并抽查一致项。工具检查格式与差异，人判断语义、任务必要性和多轮风险。目前人工标注尚待执行，不能把候选答案当成人工金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本地：隐盾整合交付_20261012/数据集/复核与训练执行包_20261014/执行统计.json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当前记录包含八十一项回归检查、二十七项子检查和三十八项冒烟检查，它们按原始记录分别统计。原型已经具备统一对话、动作执行和失败暂停链路。这些检查证明工程流程可运行，正式识别效果、真实 API 和人工任务效果仍需独立验收。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先完成双人标注和裁决，获得可追溯答案，再训练候选模型，在独立验证集上选型，冻结后测试。最后在第二台电脑和真实服务上重跑完整链路。我们重点检查是否减少额外披露，同时保留分工、统计等任务所需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本地：隐盾整合交付_20261012/数据集/复核与训练执行包_20261014/执行统计.json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隐盾希望让团队在使用大模型处理中文材料时，保留必要信息，减少额外披露。以上是我们的项目方案和阶段成果，谢谢各位评委。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备答页，正常放映时跳过。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实体输出以原文片段、Unicode 左闭右开索引、冻结类别为核心。程序核对文本切片与实体值。模型返回格式错误、索引越界、截断或不可用时，都不能解释为没有敏感信息。当前 14 类为 PERSON_NAME、PHONE、EMAIL、ID_CARD、BANK_CARD、STUDENT_ID、API_KEY、WECHAT、BUDGET、ORG、LOCATION、DORM、GRADE、SENSITIVE_ATTR。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备答页，正常放映时跳过。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两个已有分数衡量不同对象，不能直接横向比较。0.9887 是动作分类器在合成弱标签分组留出中的 Macro-F1，训练 7878 条、验证 2676 条，来源组无重叠。0.5501 是现有检测器在新合成验证集上的实体严格 F1，850 条材料、1100 个标准实体，标准答案仍为构造弱标签。正式评测需独立人工标准答案，同时报告各类别召回、禁止披露事件数及分母、任务完成率、误暂停和本机 P95 延迟与显存峰值。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  <a:p xmlns:a="http://schemas.openxmlformats.org/drawingml/2006/main">
            <a:r>
              <a:t>本地：隐盾整合交付_20261012/数据集/隐盾数据集_v1/evaluation/current_detector_validation.json</a:t>
            </a:r>
          </a:p>
          <a:p xmlns:a="http://schemas.openxmlformats.org/drawingml/2006/main">
            <a:r>
              <a:t>本地：隐盾整合交付_20261012/数据集/复核与训练执行包_20261014/执行统计.json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备答页，正常放映时跳过。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项目已有 OpenAI 兼容客户端，但现有验证记录中的真实连接仍未验收。密钥只在本机配置，不放进 PPT。发送前检查完整外发载荷，回答复检后才显示和保存。工具参数需要独立检查，真实外部工具集成另行验收。清除本地材料或对话不会撤回已经发送的内容。系统不能承诺任意输入绝对无泄露，正式演示须保持离线或真实服务模式标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32102edd34b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f12c6da2642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1da92151347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3674f11bf4a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45f43561d46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ea57761cc48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E5E2B0-957F-41FF-B5AF-BB3734DF4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A1ADD0-BA6C-4068-8B4D-01AEE29226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26B5D6-B384-4826-AAB5-A6C22C4761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B4F9D2-3070-4FED-9432-BC4B5BD80C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1ADD4D-CE51-4B3D-BB5A-35A702E7FB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C3DAF3-B438-45E2-A4C0-6FB017F1C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46A72E-E5CF-47C5-8A83-63632F52BA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2E34EC-B009-4EFE-80AE-49E05BE604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95A4FE-C9D6-496D-A7F2-144F0A565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A2469E-9BA6-4664-9241-AF1DCF919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8385e6e3104841" /><Relationship Type="http://schemas.openxmlformats.org/officeDocument/2006/relationships/slideLayout" Target="/ppt/slideLayouts/slideLayout1.xml" Id="R7600979cfe334216" /><Relationship Type="http://schemas.openxmlformats.org/officeDocument/2006/relationships/slideLayout" Target="/ppt/slideLayouts/slideLayout2.xml" Id="R08aaf6f409a049bd" /><Relationship Type="http://schemas.openxmlformats.org/officeDocument/2006/relationships/slideLayout" Target="/ppt/slideLayouts/slideLayout3.xml" Id="Ra30ae893643d474f" /><Relationship Type="http://schemas.openxmlformats.org/officeDocument/2006/relationships/slideLayout" Target="/ppt/slideLayouts/slideLayout4.xml" Id="Ra2e8ca3f9b174150" /><Relationship Type="http://schemas.openxmlformats.org/officeDocument/2006/relationships/slideLayout" Target="/ppt/slideLayouts/slideLayout5.xml" Id="R6488a2db59ef44f4" /><Relationship Type="http://schemas.openxmlformats.org/officeDocument/2006/relationships/slideLayout" Target="/ppt/slideLayouts/slideLayout6.xml" Id="Rde3f9e6f8f3746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0979cfe334216"/>
    <p:sldLayoutId xmlns:r="http://schemas.openxmlformats.org/officeDocument/2006/relationships" id="2147483650" r:id="R08aaf6f409a049bd"/>
    <p:sldLayoutId xmlns:r="http://schemas.openxmlformats.org/officeDocument/2006/relationships" id="2147483651" r:id="Ra30ae893643d474f"/>
    <p:sldLayoutId xmlns:r="http://schemas.openxmlformats.org/officeDocument/2006/relationships" id="2147483652" r:id="Ra2e8ca3f9b174150"/>
    <p:sldLayoutId xmlns:r="http://schemas.openxmlformats.org/officeDocument/2006/relationships" id="2147483653" r:id="R6488a2db59ef44f4"/>
    <p:sldLayoutId xmlns:r="http://schemas.openxmlformats.org/officeDocument/2006/relationships" id="2147483654" r:id="Rde3f9e6f8f3746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e530be47e41e3" /><Relationship Type="http://schemas.openxmlformats.org/officeDocument/2006/relationships/image" Target="/ppt/media/image.png" Id="R9a0a4db6f80f4ced" /><Relationship Type="http://schemas.openxmlformats.org/officeDocument/2006/relationships/notesSlide" Target="/ppt/notesSlides/notesSlide1.xml" Id="R75894748f878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49a0fedd9416e" /><Relationship Type="http://schemas.openxmlformats.org/officeDocument/2006/relationships/notesSlide" Target="/ppt/notesSlides/notesSlide2.xml" Id="Re34883e2497247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1be890b1347c8" /><Relationship Type="http://schemas.openxmlformats.org/officeDocument/2006/relationships/notesSlide" Target="/ppt/notesSlides/notesSlide3.xml" Id="R50757910c1db4c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586a4aea641d7" /><Relationship Type="http://schemas.openxmlformats.org/officeDocument/2006/relationships/image" Target="/ppt/media/image2.png" Id="R9351a705ce3a4f30" /><Relationship Type="http://schemas.openxmlformats.org/officeDocument/2006/relationships/notesSlide" Target="/ppt/notesSlides/notesSlide4.xml" Id="R6cb2f69414a841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393cbd34247c6" /><Relationship Type="http://schemas.openxmlformats.org/officeDocument/2006/relationships/notesSlide" Target="/ppt/notesSlides/notesSlide5.xml" Id="R45382bb1fc3b47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c97c110be422b" /><Relationship Type="http://schemas.openxmlformats.org/officeDocument/2006/relationships/notesSlide" Target="/ppt/notesSlides/notesSlide6.xml" Id="Rc9c8930a2ef540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f2c1b18154c98" /><Relationship Type="http://schemas.openxmlformats.org/officeDocument/2006/relationships/notesSlide" Target="/ppt/notesSlides/notesSlide7.xml" Id="Rac1fa99b924b43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616739eab470e" /><Relationship Type="http://schemas.openxmlformats.org/officeDocument/2006/relationships/notesSlide" Target="/ppt/notesSlides/notesSlide8.xml" Id="Rb88559bd96814a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9cd10485f46aa" /><Relationship Type="http://schemas.openxmlformats.org/officeDocument/2006/relationships/notesSlide" Target="/ppt/notesSlides/notesSlide9.xml" Id="R91112b8c8a0745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ea8615bc44e06" /><Relationship Type="http://schemas.openxmlformats.org/officeDocument/2006/relationships/notesSlide" Target="/ppt/notesSlides/notesSlide10.xml" Id="R7b08cd47afc94a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a6d48f7de49cb" /><Relationship Type="http://schemas.openxmlformats.org/officeDocument/2006/relationships/chart" Target="/ppt/slides/charts/chart1.xml" Id="Rb288df0873354169" /><Relationship Type="http://schemas.openxmlformats.org/officeDocument/2006/relationships/notesSlide" Target="/ppt/notesSlides/notesSlide11.xml" Id="R30c5fd32b22640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754d96ea249ce" /><Relationship Type="http://schemas.openxmlformats.org/officeDocument/2006/relationships/chart" Target="/ppt/slides/charts/chart2.xml" Id="R585cc740f7c34201" /><Relationship Type="http://schemas.openxmlformats.org/officeDocument/2006/relationships/notesSlide" Target="/ppt/notesSlides/notesSlide12.xml" Id="Rf11f3adeef3941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089e1042f4818" /><Relationship Type="http://schemas.openxmlformats.org/officeDocument/2006/relationships/notesSlide" Target="/ppt/notesSlides/notesSlide13.xml" Id="Raccaa004f95e4d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f3577de924df8" /><Relationship Type="http://schemas.openxmlformats.org/officeDocument/2006/relationships/notesSlide" Target="/ppt/notesSlides/notesSlide14.xml" Id="R59979beb889748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8568da6e64c9d" /><Relationship Type="http://schemas.openxmlformats.org/officeDocument/2006/relationships/notesSlide" Target="/ppt/notesSlides/notesSlide15.xml" Id="R192033dcb5e24e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bf85370844aa5" /><Relationship Type="http://schemas.openxmlformats.org/officeDocument/2006/relationships/notesSlide" Target="/ppt/notesSlides/notesSlide16.xml" Id="R5ddd31fbe4bc41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3259189324aef" /><Relationship Type="http://schemas.openxmlformats.org/officeDocument/2006/relationships/notesSlide" Target="/ppt/notesSlides/notesSlide17.xml" Id="R289d129736cb483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数量</c:v>
          </c:tx>
          <c:spPr>
            <a:solidFill xmlns:a="http://schemas.openxmlformats.org/drawingml/2006/main">
              <a:srgbClr val="265EA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6857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F7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65EAA"/>
              </a:solidFill>
            </c:spPr>
          </c:dPt>
          <c:cat>
            <c:strLit>
              <c:ptCount val="3"/>
              <c:pt idx="0">
                <c:v>封存测试</c:v>
              </c:pt>
              <c:pt idx="1">
                <c:v>独立验证</c:v>
              </c:pt>
              <c:pt idx="2">
                <c:v>训练试标</c:v>
              </c:pt>
            </c:strLit>
          </c:cat>
          <c:val>
            <c:numLit>
              <c:formatCode>General</c:formatCode>
              <c:ptCount val="3"/>
              <c:pt idx="0">
                <c:v>92</c:v>
              </c:pt>
              <c:pt idx="1">
                <c:v>92</c:v>
              </c:pt>
              <c:pt idx="2">
                <c:v>128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 b="1">
                  <a:solidFill>
                    <a:srgbClr val="102F4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数量</c:v>
          </c:tx>
          <c:spPr>
            <a:solidFill xmlns:a="http://schemas.openxmlformats.org/drawingml/2006/main">
              <a:srgbClr val="265EA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6857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F7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65EAA"/>
              </a:solidFill>
            </c:spPr>
          </c:dPt>
          <c:cat>
            <c:strLit>
              <c:ptCount val="3"/>
              <c:pt idx="0">
                <c:v>冒烟检查</c:v>
              </c:pt>
              <c:pt idx="1">
                <c:v>子检查</c:v>
              </c:pt>
              <c:pt idx="2">
                <c:v>回归检查</c:v>
              </c:pt>
            </c:strLit>
          </c:cat>
          <c:val>
            <c:numLit>
              <c:formatCode>General</c:formatCode>
              <c:ptCount val="3"/>
              <c:pt idx="0">
                <c:v>38</c:v>
              </c:pt>
              <c:pt idx="1">
                <c:v>27</c:v>
              </c:pt>
              <c:pt idx="2">
                <c:v>81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 b="1">
                  <a:solidFill>
                    <a:srgbClr val="102F4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9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3F7F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3F7FA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0000">
              <a:srgbClr val="FFFFFF"/>
            </a:gs>
            <a:gs pos="60001">
              <a:srgbClr val="DDF1EE"/>
            </a:gs>
            <a:gs pos="100000">
              <a:srgbClr val="DDF1E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7DCA87B3-7025-4D1D-99F5-2C34376A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挑战杯大学生课外学术科技作品竞赛">
            <a:extLst xmlns:a="http://schemas.openxmlformats.org/drawingml/2006/main">
              <a:ext uri="{FF2B5EF4-FFF2-40B4-BE49-F238E27FC236}">
                <a16:creationId xmlns:a16="http://schemas.microsoft.com/office/drawing/2014/main" id="{580D1068-85EF-4D9A-891E-CC774D9A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"/>
            <a:ext cx="676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挑战杯大学生课外学术科技作品竞赛</a:t>
            </a:r>
          </a:p>
        </p:txBody>
      </p:sp>
      <p:sp>
        <p:nvSpPr>
          <p:cNvPr id="3" name="隐盾">
            <a:extLst xmlns:a="http://schemas.openxmlformats.org/drawingml/2006/main">
              <a:ext uri="{FF2B5EF4-FFF2-40B4-BE49-F238E27FC236}">
                <a16:creationId xmlns:a16="http://schemas.microsoft.com/office/drawing/2014/main" id="{915BC3EB-FDE5-46FC-8992-9DAF8B6E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隐盾</a:t>
            </a:r>
          </a:p>
        </p:txBody>
      </p:sp>
      <p:sp>
        <p:nvSpPr>
          <p:cNvPr id="4" name="隐私保护对话系统">
            <a:extLst xmlns:a="http://schemas.openxmlformats.org/drawingml/2006/main">
              <a:ext uri="{FF2B5EF4-FFF2-40B4-BE49-F238E27FC236}">
                <a16:creationId xmlns:a16="http://schemas.microsoft.com/office/drawing/2014/main" id="{356A1F20-0D52-438B-A009-D04181DA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33775"/>
            <a:ext cx="652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隐私保护对话系统</a:t>
            </a:r>
          </a:p>
        </p:txBody>
      </p:sp>
      <p:sp>
        <p:nvSpPr>
          <p:cNvPr id="5" name="中文材料与多轮对话的一体化保护">
            <a:extLst xmlns:a="http://schemas.openxmlformats.org/drawingml/2006/main">
              <a:ext uri="{FF2B5EF4-FFF2-40B4-BE49-F238E27FC236}">
                <a16:creationId xmlns:a16="http://schemas.microsoft.com/office/drawing/2014/main" id="{7F2781D0-50AC-45AC-881E-FF838EDE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910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中文材料与多轮对话的一体化保护</a:t>
            </a:r>
          </a:p>
        </p:txBody>
      </p:sp>
      <p:sp>
        <p:nvSpPr>
          <p:cNvPr id="6" name="本地识别  /  模型决策  /  安全外发">
            <a:extLst xmlns:a="http://schemas.openxmlformats.org/drawingml/2006/main">
              <a:ext uri="{FF2B5EF4-FFF2-40B4-BE49-F238E27FC236}">
                <a16:creationId xmlns:a16="http://schemas.microsoft.com/office/drawing/2014/main" id="{5B48BDA7-C70C-48E2-83D9-0EAC4ACB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149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本地识别  /  模型决策  /  安全外发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A56AB-C42E-4EFD-8440-A71A242101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a4db6f80f4ced"/>
          <a:stretch xmlns:a="http://schemas.openxmlformats.org/drawingml/2006/main"/>
        </p:blipFill>
        <p:spPr>
          <a:xfrm xmlns:a="http://schemas.openxmlformats.org/drawingml/2006/main">
            <a:off x="7334250" y="1590675"/>
            <a:ext cx="428625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2100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7FA"/>
            </a:gs>
            <a:gs pos="38000">
              <a:srgbClr val="F3F7FA"/>
            </a:gs>
            <a:gs pos="38001">
              <a:srgbClr val="FFFFFF"/>
            </a:gs>
            <a:gs pos="100000">
              <a:srgbClr val="FFFF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材料里的额外披露">
            <a:extLst xmlns:a="http://schemas.openxmlformats.org/drawingml/2006/main">
              <a:ext uri="{FF2B5EF4-FFF2-40B4-BE49-F238E27FC236}">
                <a16:creationId xmlns:a16="http://schemas.microsoft.com/office/drawing/2014/main" id="{35C04698-8270-48E5-B985-9E7E4E0A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材料里的额外披露</a:t>
            </a:r>
          </a:p>
        </p:txBody>
      </p:sp>
      <p:sp>
        <p:nvSpPr>
          <p:cNvPr id="2" name="合成场景示例。目标用户来自项目需求，尚非用户调研结论。">
            <a:extLst xmlns:a="http://schemas.openxmlformats.org/drawingml/2006/main">
              <a:ext uri="{FF2B5EF4-FFF2-40B4-BE49-F238E27FC236}">
                <a16:creationId xmlns:a16="http://schemas.microsoft.com/office/drawing/2014/main" id="{E234B130-E912-4DA5-A699-C048C095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合成场景示例。目标用户来自项目需求，尚非用户调研结论。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7ED5676E-366A-4EAF-AA16-C557F8A3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任务只需要">
            <a:extLst xmlns:a="http://schemas.openxmlformats.org/drawingml/2006/main">
              <a:ext uri="{FF2B5EF4-FFF2-40B4-BE49-F238E27FC236}">
                <a16:creationId xmlns:a16="http://schemas.microsoft.com/office/drawing/2014/main" id="{EC2525C4-935F-4AFD-8EED-6779C520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19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任务只需要</a:t>
            </a:r>
          </a:p>
        </p:txBody>
      </p:sp>
      <p:sp>
        <p:nvSpPr>
          <p:cNvPr id="5" name="谁负责 何时完成">
            <a:extLst xmlns:a="http://schemas.openxmlformats.org/drawingml/2006/main">
              <a:ext uri="{FF2B5EF4-FFF2-40B4-BE49-F238E27FC236}">
                <a16:creationId xmlns:a16="http://schemas.microsoft.com/office/drawing/2014/main" id="{00C24790-3C64-4873-951C-592AAC99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4095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谁负责</a:t>
            </a:r>
          </a:p>
          <a:p xmlns:a="http://schemas.openxmlformats.org/drawingml/2006/main">
            <a:pPr algn="l">
              <a:defRPr sz="42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何时完成</a:t>
            </a:r>
          </a:p>
        </p:txBody>
      </p:sp>
      <p:sp>
        <p:nvSpPr>
          <p:cNvPr id="6" name="会议纪要、项目材料中 常混有任务无关的个人信息">
            <a:extLst xmlns:a="http://schemas.openxmlformats.org/drawingml/2006/main">
              <a:ext uri="{FF2B5EF4-FFF2-40B4-BE49-F238E27FC236}">
                <a16:creationId xmlns:a16="http://schemas.microsoft.com/office/drawing/2014/main" id="{30DBE20D-26B8-4391-9A4F-D9E2905B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会议纪要、项目材料中</a:t>
            </a:r>
          </a:p>
          <a:p xmlns:a="http://schemas.openxmlformats.org/drawingml/2006/main">
            <a:pPr algn="l">
              <a:defRPr sz="19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常混有任务无关的个人信息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4E2DD-FDE0-4174-97A3-F213C56E6962}"/>
              </a:ext>
            </a:extLst>
          </p:cNvPr>
          <p:cNvGraphicFramePr/>
          <p:nvPr/>
        </p:nvGraphicFramePr>
        <p:xfrm>
          <a:off xmlns:a="http://schemas.openxmlformats.org/drawingml/2006/main" x="5410200" y="1885950"/>
          <a:ext xmlns:a="http://schemas.openxmlformats.org/drawingml/2006/main" cx="61722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04925"/>
                <a:gridCol w="2419350"/>
                <a:gridCol w="2447925"/>
              </a:tblGrid>
              <a:tr h="6000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材料字段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任务用途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</a:tr>
              <a:tr h="726281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卫乐安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保留对应关系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海报设计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726281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周五完成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B44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电话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B44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13000000000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B44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无需发送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1EA"/>
                    </a:solidFill>
                  </a:tcPr>
                </a:tc>
              </a:tr>
            </a:tbl>
          </a:graphicData>
        </a:graphic>
      </p:graphicFrame>
      <p:sp>
        <p:nvSpPr>
          <p:cNvPr id="8" name="保留任务结构，减少额外披露">
            <a:extLst xmlns:a="http://schemas.openxmlformats.org/drawingml/2006/main">
              <a:ext uri="{FF2B5EF4-FFF2-40B4-BE49-F238E27FC236}">
                <a16:creationId xmlns:a16="http://schemas.microsoft.com/office/drawing/2014/main" id="{608ADADA-1E41-45E8-B55D-A1762F62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6102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保留任务结构，减少额外披露</a:t>
            </a:r>
          </a:p>
        </p:txBody>
      </p:sp>
    </p:spTree>
    <p:extLst>
      <p:ext uri="{BB962C8B-B14F-4D97-AF65-F5344CB8AC3E}">
        <p14:creationId xmlns:p14="http://schemas.microsoft.com/office/powerpoint/2010/main" val="150863084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7FA"/>
            </a:gs>
            <a:gs pos="50000">
              <a:srgbClr val="F3F7FA"/>
            </a:gs>
            <a:gs pos="50001">
              <a:srgbClr val="DDF1EE"/>
            </a:gs>
            <a:gs pos="100000">
              <a:srgbClr val="DDF1E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同一份名单，两种必要信息">
            <a:extLst xmlns:a="http://schemas.openxmlformats.org/drawingml/2006/main">
              <a:ext uri="{FF2B5EF4-FFF2-40B4-BE49-F238E27FC236}">
                <a16:creationId xmlns:a16="http://schemas.microsoft.com/office/drawing/2014/main" id="{DDF117B1-128E-4805-8EED-DC57BF9F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同一份名单，两种必要信息</a:t>
            </a:r>
          </a:p>
        </p:txBody>
      </p:sp>
      <p:sp>
        <p:nvSpPr>
          <p:cNvPr id="2" name="设计示例。处理方式取决于任务用途及权限。">
            <a:extLst xmlns:a="http://schemas.openxmlformats.org/drawingml/2006/main">
              <a:ext uri="{FF2B5EF4-FFF2-40B4-BE49-F238E27FC236}">
                <a16:creationId xmlns:a16="http://schemas.microsoft.com/office/drawing/2014/main" id="{793ADA74-5FE5-4C27-B504-78F3BE4D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设计示例。处理方式取决于任务用途及权限。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D07B48E8-4234-4E2C-9A69-500DB2C1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卫乐安负责海报，林雨禾负责场地">
            <a:extLst xmlns:a="http://schemas.openxmlformats.org/drawingml/2006/main">
              <a:ext uri="{FF2B5EF4-FFF2-40B4-BE49-F238E27FC236}">
                <a16:creationId xmlns:a16="http://schemas.microsoft.com/office/drawing/2014/main" id="{6AD6931F-9D52-45BE-9DFC-680B42BA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01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卫乐安负责海报，林雨禾负责场地</a:t>
            </a:r>
          </a:p>
        </p:txBody>
      </p:sp>
      <p:sp>
        <p:nvSpPr>
          <p:cNvPr id="5" name="统计参加人数">
            <a:extLst xmlns:a="http://schemas.openxmlformats.org/drawingml/2006/main">
              <a:ext uri="{FF2B5EF4-FFF2-40B4-BE49-F238E27FC236}">
                <a16:creationId xmlns:a16="http://schemas.microsoft.com/office/drawing/2014/main" id="{DDDCD930-2F12-46EC-99BB-A2E76C18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统计参加人数</a:t>
            </a:r>
          </a:p>
        </p:txBody>
      </p:sp>
      <p:sp>
        <p:nvSpPr>
          <p:cNvPr id="6" name="2 人">
            <a:extLst xmlns:a="http://schemas.openxmlformats.org/drawingml/2006/main">
              <a:ext uri="{FF2B5EF4-FFF2-40B4-BE49-F238E27FC236}">
                <a16:creationId xmlns:a16="http://schemas.microsoft.com/office/drawing/2014/main" id="{5E49E3DE-DDD9-4212-8B21-5B0AEED6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4953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2 人</a:t>
            </a:r>
          </a:p>
        </p:txBody>
      </p:sp>
      <p:sp>
        <p:nvSpPr>
          <p:cNvPr id="7" name="本地完成计数 只发送统计结果">
            <a:extLst xmlns:a="http://schemas.openxmlformats.org/drawingml/2006/main">
              <a:ext uri="{FF2B5EF4-FFF2-40B4-BE49-F238E27FC236}">
                <a16:creationId xmlns:a16="http://schemas.microsoft.com/office/drawing/2014/main" id="{EF36C171-FDD0-430D-AE0C-B1D565C5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910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本地完成计数</a:t>
            </a:r>
          </a:p>
          <a:p xmlns:a="http://schemas.openxmlformats.org/drawingml/2006/main">
            <a:pPr algn="l">
              <a:defRPr sz="21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只发送统计结果</a:t>
            </a:r>
          </a:p>
        </p:txBody>
      </p:sp>
      <p:sp>
        <p:nvSpPr>
          <p:cNvPr id="8" name="整理负责人分工">
            <a:extLst xmlns:a="http://schemas.openxmlformats.org/drawingml/2006/main">
              <a:ext uri="{FF2B5EF4-FFF2-40B4-BE49-F238E27FC236}">
                <a16:creationId xmlns:a16="http://schemas.microsoft.com/office/drawing/2014/main" id="{8179E6CD-CC4B-441A-86C5-DB7534AD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4876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整理负责人分工</a:t>
            </a:r>
          </a:p>
        </p:txBody>
      </p:sp>
      <p:sp>
        <p:nvSpPr>
          <p:cNvPr id="9" name="人员甲  负责海报 人员乙  负责场地">
            <a:extLst xmlns:a="http://schemas.openxmlformats.org/drawingml/2006/main">
              <a:ext uri="{FF2B5EF4-FFF2-40B4-BE49-F238E27FC236}">
                <a16:creationId xmlns:a16="http://schemas.microsoft.com/office/drawing/2014/main" id="{021AF150-67C7-4917-AE4D-D9C54DD1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876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人员甲  负责海报</a:t>
            </a:r>
          </a:p>
          <a:p xmlns:a="http://schemas.openxmlformats.org/drawingml/2006/main">
            <a:pPr algn="l">
              <a:defRPr sz="27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人员乙  负责场地</a:t>
            </a:r>
          </a:p>
        </p:txBody>
      </p:sp>
      <p:sp>
        <p:nvSpPr>
          <p:cNvPr id="10" name="稳定代号替换姓名 人员与事项的关系保留">
            <a:extLst xmlns:a="http://schemas.openxmlformats.org/drawingml/2006/main">
              <a:ext uri="{FF2B5EF4-FFF2-40B4-BE49-F238E27FC236}">
                <a16:creationId xmlns:a16="http://schemas.microsoft.com/office/drawing/2014/main" id="{022FD858-7FB8-4EEA-B2FC-B258CF3E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67275"/>
            <a:ext cx="4800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稳定代号替换姓名</a:t>
            </a:r>
          </a:p>
          <a:p xmlns:a="http://schemas.openxmlformats.org/drawingml/2006/main">
            <a:pPr algn="l">
              <a:defRPr sz="2175" b="0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人员与事项的关系保留</a:t>
            </a:r>
          </a:p>
        </p:txBody>
      </p:sp>
    </p:spTree>
    <p:extLst>
      <p:ext uri="{BB962C8B-B14F-4D97-AF65-F5344CB8AC3E}">
        <p14:creationId xmlns:p14="http://schemas.microsoft.com/office/powerpoint/2010/main" val="534621875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02F46"/>
            </a:gs>
            <a:gs pos="34000">
              <a:srgbClr val="102F46"/>
            </a:gs>
            <a:gs pos="34001">
              <a:srgbClr val="F3F7FA"/>
            </a:gs>
            <a:gs pos="100000">
              <a:srgbClr val="F3F7F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现有原型界面，离线演示模式。">
            <a:extLst xmlns:a="http://schemas.openxmlformats.org/drawingml/2006/main">
              <a:ext uri="{FF2B5EF4-FFF2-40B4-BE49-F238E27FC236}">
                <a16:creationId xmlns:a16="http://schemas.microsoft.com/office/drawing/2014/main" id="{3C139EE7-FBA0-404D-B447-D289F36B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2865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现有原型界面，离线演示模式。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781E4088-C3DA-42C8-9F8E-61170CA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材料与追问">
            <a:extLst xmlns:a="http://schemas.openxmlformats.org/drawingml/2006/main">
              <a:ext uri="{FF2B5EF4-FFF2-40B4-BE49-F238E27FC236}">
                <a16:creationId xmlns:a16="http://schemas.microsoft.com/office/drawing/2014/main" id="{7886145C-DDF3-44DA-8A79-2BA3FDC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0075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材料与追问</a:t>
            </a:r>
          </a:p>
        </p:txBody>
      </p:sp>
      <p:sp>
        <p:nvSpPr>
          <p:cNvPr id="4" name="共用一个对话">
            <a:extLst xmlns:a="http://schemas.openxmlformats.org/drawingml/2006/main">
              <a:ext uri="{FF2B5EF4-FFF2-40B4-BE49-F238E27FC236}">
                <a16:creationId xmlns:a16="http://schemas.microsoft.com/office/drawing/2014/main" id="{4F048B4D-AC94-42E0-BB91-E2D86691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476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共用一个对话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C127298F-04A8-4DE9-AE40-C87CB9A9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81300"/>
            <a:ext cx="628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CAB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CA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1CAB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上传材料">
            <a:extLst xmlns:a="http://schemas.openxmlformats.org/drawingml/2006/main">
              <a:ext uri="{FF2B5EF4-FFF2-40B4-BE49-F238E27FC236}">
                <a16:creationId xmlns:a16="http://schemas.microsoft.com/office/drawing/2014/main" id="{B4B3D139-D8E0-4254-98CB-D4C40051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622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上传材料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B390A54F-014D-45F8-B1BF-3DF0C70E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90925"/>
            <a:ext cx="628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CAB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CA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1CAB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直接提问">
            <a:extLst xmlns:a="http://schemas.openxmlformats.org/drawingml/2006/main">
              <a:ext uri="{FF2B5EF4-FFF2-40B4-BE49-F238E27FC236}">
                <a16:creationId xmlns:a16="http://schemas.microsoft.com/office/drawing/2014/main" id="{881E05F9-AF39-4232-AE15-05F0432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71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直接提问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375CB62B-31BB-49AB-8B70-DE2981B0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00550"/>
            <a:ext cx="628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1CAB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1CA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1CAB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继续对话">
            <a:extLst xmlns:a="http://schemas.openxmlformats.org/drawingml/2006/main">
              <a:ext uri="{FF2B5EF4-FFF2-40B4-BE49-F238E27FC236}">
                <a16:creationId xmlns:a16="http://schemas.microsoft.com/office/drawing/2014/main" id="{E38C2ECA-08E8-4D3F-B335-7E744EB8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继续对话</a:t>
            </a:r>
          </a:p>
        </p:txBody>
      </p:sp>
      <p:sp>
        <p:nvSpPr>
          <p:cNvPr id="11" name="每轮发送前 重新经过本地保护">
            <a:extLst xmlns:a="http://schemas.openxmlformats.org/drawingml/2006/main">
              <a:ext uri="{FF2B5EF4-FFF2-40B4-BE49-F238E27FC236}">
                <a16:creationId xmlns:a16="http://schemas.microsoft.com/office/drawing/2014/main" id="{50E61EA0-B817-42A1-B5C6-886122E2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3390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92D5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92D5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2D5CE"/>
                </a:solidFill>
                <a:latin typeface="Microsoft YaHei"/>
                <a:ea typeface="Microsoft YaHei"/>
                <a:cs typeface="Microsoft YaHei"/>
              </a:rPr>
              <a:t>每轮发送前</a:t>
            </a:r>
          </a:p>
          <a:p xmlns:a="http://schemas.openxmlformats.org/drawingml/2006/main">
            <a:pPr algn="l">
              <a:defRPr sz="1950" b="0">
                <a:solidFill>
                  <a:srgbClr val="92D5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2D5CE"/>
                </a:solidFill>
                <a:latin typeface="Microsoft YaHei"/>
                <a:ea typeface="Microsoft YaHei"/>
                <a:cs typeface="Microsoft YaHei"/>
              </a:rPr>
              <a:t>重新经过本地保护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5D42C-87A6-4A79-91A0-0BFEF45488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1a705ce3a4f30"/>
          <a:stretch xmlns:a="http://schemas.openxmlformats.org/drawingml/2006/main"/>
        </p:blipFill>
        <p:spPr>
          <a:xfrm xmlns:a="http://schemas.openxmlformats.org/drawingml/2006/main">
            <a:off x="4480192" y="790575"/>
            <a:ext cx="7108292" cy="5410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64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地保护与云端生成的分工">
            <a:extLst xmlns:a="http://schemas.openxmlformats.org/drawingml/2006/main">
              <a:ext uri="{FF2B5EF4-FFF2-40B4-BE49-F238E27FC236}">
                <a16:creationId xmlns:a16="http://schemas.microsoft.com/office/drawing/2014/main" id="{F0B2A660-E18F-4072-8613-63C80EBA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本地保护与云端生成的分工</a:t>
            </a:r>
          </a:p>
        </p:txBody>
      </p:sp>
      <p:sp>
        <p:nvSpPr>
          <p:cNvPr id="2" name="当前具备动作模型与校验链路；专项识别模型和真实 API 效果待验收。">
            <a:extLst xmlns:a="http://schemas.openxmlformats.org/drawingml/2006/main">
              <a:ext uri="{FF2B5EF4-FFF2-40B4-BE49-F238E27FC236}">
                <a16:creationId xmlns:a16="http://schemas.microsoft.com/office/drawing/2014/main" id="{237358C3-7354-475E-8F23-BA41F44B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当前具备动作模型与校验链路；专项识别模型和真实 API 效果待验收。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FD39C8F0-6D4F-46AD-BDA6-4D0F961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本机处理">
            <a:extLst xmlns:a="http://schemas.openxmlformats.org/drawingml/2006/main">
              <a:ext uri="{FF2B5EF4-FFF2-40B4-BE49-F238E27FC236}">
                <a16:creationId xmlns:a16="http://schemas.microsoft.com/office/drawing/2014/main" id="{52D71F6D-311D-4042-A4FC-DDA508BC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906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本机处理</a:t>
            </a:r>
          </a:p>
        </p:txBody>
      </p:sp>
      <p:sp>
        <p:nvSpPr>
          <p:cNvPr id="5" name="云端生成">
            <a:extLst xmlns:a="http://schemas.openxmlformats.org/drawingml/2006/main">
              <a:ext uri="{FF2B5EF4-FFF2-40B4-BE49-F238E27FC236}">
                <a16:creationId xmlns:a16="http://schemas.microsoft.com/office/drawing/2014/main" id="{F48895E8-0D97-4EA7-866B-CC59B867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906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云端生成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BBDD1-BA2D-474E-98EB-D35B46FE7599}"/>
              </a:ext>
            </a:extLst>
          </p:cNvPr>
          <p:cNvGraphicFramePr/>
          <p:nvPr/>
        </p:nvGraphicFramePr>
        <p:xfrm>
          <a:off xmlns:a="http://schemas.openxmlformats.org/drawingml/2006/main" x="609600" y="2219325"/>
          <a:ext xmlns:a="http://schemas.openxmlformats.org/drawingml/2006/main" cx="109728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  <a:gridCol w="2286000"/>
              </a:tblGrid>
              <a:tr h="61912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输入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识别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决策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校验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 生成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1033463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材料与</a:t>
                      </a:r>
                    </a:p>
                    <a:p>
                      <a:pPr algn="l"/>
                      <a:r>
                        <a:rPr sz="18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会话历史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敏感片段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及信息类别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模型选择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六类处理动作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检查权限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与完整载荷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依据处理后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上下文回答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DDF1EE"/>
                    </a:solidFill>
                  </a:tcPr>
                </a:tc>
              </a:tr>
              <a:tr h="1033463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原文保留</a:t>
                      </a:r>
                    </a:p>
                    <a:p>
                      <a:pPr algn="l"/>
                      <a:r>
                        <a:rPr sz="18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专项小模型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待接入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动作模型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已具备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不通过时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暂停外发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兼容客户端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已具备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DDF1EE"/>
                    </a:solidFill>
                  </a:tcPr>
                </a:tc>
              </a:tr>
            </a:tbl>
          </a:graphicData>
        </a:graphic>
      </p:graphicFrame>
      <p:sp>
        <p:nvSpPr>
          <p:cNvPr id="7" name="原值映射留在本机">
            <a:extLst xmlns:a="http://schemas.openxmlformats.org/drawingml/2006/main">
              <a:ext uri="{FF2B5EF4-FFF2-40B4-BE49-F238E27FC236}">
                <a16:creationId xmlns:a16="http://schemas.microsoft.com/office/drawing/2014/main" id="{C5BFA47E-CC1D-48E8-A057-B80C42C4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原值映射留在本机</a:t>
            </a:r>
          </a:p>
        </p:txBody>
      </p:sp>
      <p:sp>
        <p:nvSpPr>
          <p:cNvPr id="8" name="云端回答复检后进入对话">
            <a:extLst xmlns:a="http://schemas.openxmlformats.org/drawingml/2006/main">
              <a:ext uri="{FF2B5EF4-FFF2-40B4-BE49-F238E27FC236}">
                <a16:creationId xmlns:a16="http://schemas.microsoft.com/office/drawing/2014/main" id="{C069FA5A-3C06-4701-80F1-5D897581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149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云端回答复检后进入对话</a:t>
            </a:r>
          </a:p>
        </p:txBody>
      </p:sp>
    </p:spTree>
    <p:extLst>
      <p:ext uri="{BB962C8B-B14F-4D97-AF65-F5344CB8AC3E}">
        <p14:creationId xmlns:p14="http://schemas.microsoft.com/office/powerpoint/2010/main" val="101547458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F7FA"/>
            </a:gs>
            <a:gs pos="50000">
              <a:srgbClr val="F3F7FA"/>
            </a:gs>
            <a:gs pos="50001">
              <a:srgbClr val="FFFFFF"/>
            </a:gs>
            <a:gs pos="100000">
              <a:srgbClr val="FFFF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六种动作，由模型选择">
            <a:extLst xmlns:a="http://schemas.openxmlformats.org/drawingml/2006/main">
              <a:ext uri="{FF2B5EF4-FFF2-40B4-BE49-F238E27FC236}">
                <a16:creationId xmlns:a16="http://schemas.microsoft.com/office/drawing/2014/main" id="{7D22AC0A-B400-4C93-95BA-ED287593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六种动作，由模型选择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A0A48D2A-DDBE-4375-896B-E6AD3B89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0E939C8E-78A7-434B-AE45-77AFCF90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723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删除">
            <a:extLst xmlns:a="http://schemas.openxmlformats.org/drawingml/2006/main">
              <a:ext uri="{FF2B5EF4-FFF2-40B4-BE49-F238E27FC236}">
                <a16:creationId xmlns:a16="http://schemas.microsoft.com/office/drawing/2014/main" id="{2F3F9390-8549-4AC6-8BB8-40B96905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3971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删除</a:t>
            </a:r>
          </a:p>
        </p:txBody>
      </p:sp>
      <p:sp>
        <p:nvSpPr>
          <p:cNvPr id="5" name="去掉任务无关的联系方式">
            <a:extLst xmlns:a="http://schemas.openxmlformats.org/drawingml/2006/main">
              <a:ext uri="{FF2B5EF4-FFF2-40B4-BE49-F238E27FC236}">
                <a16:creationId xmlns:a16="http://schemas.microsoft.com/office/drawing/2014/main" id="{666AB793-7329-4566-8213-DBB11FB1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19350"/>
            <a:ext cx="3990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去掉任务无关的联系方式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5DD3880F-5F2A-43E0-861F-A3622B43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71650"/>
            <a:ext cx="723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本地统计">
            <a:extLst xmlns:a="http://schemas.openxmlformats.org/drawingml/2006/main">
              <a:ext uri="{FF2B5EF4-FFF2-40B4-BE49-F238E27FC236}">
                <a16:creationId xmlns:a16="http://schemas.microsoft.com/office/drawing/2014/main" id="{58304998-BC17-4774-B3C8-7EA0F9B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3971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本地统计</a:t>
            </a:r>
          </a:p>
        </p:txBody>
      </p:sp>
      <p:sp>
        <p:nvSpPr>
          <p:cNvPr id="8" name="只发送人数等汇总结果">
            <a:extLst xmlns:a="http://schemas.openxmlformats.org/drawingml/2006/main">
              <a:ext uri="{FF2B5EF4-FFF2-40B4-BE49-F238E27FC236}">
                <a16:creationId xmlns:a16="http://schemas.microsoft.com/office/drawing/2014/main" id="{9AD7D991-2498-471C-997A-DB01AB80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3990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只发送人数等汇总结果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95B845A0-C308-4278-9E50-0C5034F6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723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泛化">
            <a:extLst xmlns:a="http://schemas.openxmlformats.org/drawingml/2006/main">
              <a:ext uri="{FF2B5EF4-FFF2-40B4-BE49-F238E27FC236}">
                <a16:creationId xmlns:a16="http://schemas.microsoft.com/office/drawing/2014/main" id="{D7C319C2-4580-4B8A-B810-F433082B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67075"/>
            <a:ext cx="3971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泛化</a:t>
            </a:r>
          </a:p>
        </p:txBody>
      </p:sp>
      <p:sp>
        <p:nvSpPr>
          <p:cNvPr id="11" name="降低位置或数值的精度">
            <a:extLst xmlns:a="http://schemas.openxmlformats.org/drawingml/2006/main">
              <a:ext uri="{FF2B5EF4-FFF2-40B4-BE49-F238E27FC236}">
                <a16:creationId xmlns:a16="http://schemas.microsoft.com/office/drawing/2014/main" id="{691820DA-F1BB-461A-ADA6-F7736092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95725"/>
            <a:ext cx="3990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降低位置或数值的精度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FC776DAF-FE12-466C-BF63-1CF37519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48025"/>
            <a:ext cx="723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代号替换">
            <a:extLst xmlns:a="http://schemas.openxmlformats.org/drawingml/2006/main">
              <a:ext uri="{FF2B5EF4-FFF2-40B4-BE49-F238E27FC236}">
                <a16:creationId xmlns:a16="http://schemas.microsoft.com/office/drawing/2014/main" id="{306D2480-1DFA-48F6-8353-0C899DC9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67075"/>
            <a:ext cx="3971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代号替换</a:t>
            </a:r>
          </a:p>
        </p:txBody>
      </p:sp>
      <p:sp>
        <p:nvSpPr>
          <p:cNvPr id="14" name="保留人物与事项的对应">
            <a:extLst xmlns:a="http://schemas.openxmlformats.org/drawingml/2006/main">
              <a:ext uri="{FF2B5EF4-FFF2-40B4-BE49-F238E27FC236}">
                <a16:creationId xmlns:a16="http://schemas.microsoft.com/office/drawing/2014/main" id="{DEC1A6CC-AB15-48A8-99D0-CA3C84C2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95725"/>
            <a:ext cx="3990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保留人物与事项的对应</a:t>
            </a:r>
          </a:p>
        </p:txBody>
      </p:sp>
      <p:sp>
        <p:nvSpPr>
          <p:cNvPr id="15" name="05">
            <a:extLst xmlns:a="http://schemas.openxmlformats.org/drawingml/2006/main">
              <a:ext uri="{FF2B5EF4-FFF2-40B4-BE49-F238E27FC236}">
                <a16:creationId xmlns:a16="http://schemas.microsoft.com/office/drawing/2014/main" id="{D1DBACB4-6C22-45AD-B426-87854E26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723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保留">
            <a:extLst xmlns:a="http://schemas.openxmlformats.org/drawingml/2006/main">
              <a:ext uri="{FF2B5EF4-FFF2-40B4-BE49-F238E27FC236}">
                <a16:creationId xmlns:a16="http://schemas.microsoft.com/office/drawing/2014/main" id="{232A6B1E-EF00-4FA2-8E54-5AE0E69C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3971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7" name="用途与权限均满足时保留">
            <a:extLst xmlns:a="http://schemas.openxmlformats.org/drawingml/2006/main">
              <a:ext uri="{FF2B5EF4-FFF2-40B4-BE49-F238E27FC236}">
                <a16:creationId xmlns:a16="http://schemas.microsoft.com/office/drawing/2014/main" id="{273DD35B-9380-40F5-BB78-A50F72AD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72100"/>
            <a:ext cx="3990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用途与权限均满足时保留</a:t>
            </a:r>
          </a:p>
        </p:txBody>
      </p:sp>
      <p:sp>
        <p:nvSpPr>
          <p:cNvPr id="18" name="06">
            <a:extLst xmlns:a="http://schemas.openxmlformats.org/drawingml/2006/main">
              <a:ext uri="{FF2B5EF4-FFF2-40B4-BE49-F238E27FC236}">
                <a16:creationId xmlns:a16="http://schemas.microsoft.com/office/drawing/2014/main" id="{8554C8F8-235F-466A-8073-82F28A26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723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B44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B4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44C3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暂停">
            <a:extLst xmlns:a="http://schemas.openxmlformats.org/drawingml/2006/main">
              <a:ext uri="{FF2B5EF4-FFF2-40B4-BE49-F238E27FC236}">
                <a16:creationId xmlns:a16="http://schemas.microsoft.com/office/drawing/2014/main" id="{16167A4C-4B0A-4479-9D33-1411AB1F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3971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44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4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44C3C"/>
                </a:solidFill>
                <a:latin typeface="Microsoft YaHei"/>
                <a:ea typeface="Microsoft YaHei"/>
                <a:cs typeface="Microsoft YaHei"/>
              </a:rPr>
              <a:t>暂停</a:t>
            </a:r>
          </a:p>
        </p:txBody>
      </p:sp>
      <p:sp>
        <p:nvSpPr>
          <p:cNvPr id="20" name="权限未知或处理不可靠时停止">
            <a:extLst xmlns:a="http://schemas.openxmlformats.org/drawingml/2006/main">
              <a:ext uri="{FF2B5EF4-FFF2-40B4-BE49-F238E27FC236}">
                <a16:creationId xmlns:a16="http://schemas.microsoft.com/office/drawing/2014/main" id="{23A78266-8875-4FA7-A010-931FAB51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72100"/>
            <a:ext cx="3990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权限未知或处理不可靠时停止</a:t>
            </a:r>
          </a:p>
        </p:txBody>
      </p:sp>
      <p:sp>
        <p:nvSpPr>
          <p:cNvPr id="21" name="安全校验决定接受或暂停，不代替模型选择动作">
            <a:extLst xmlns:a="http://schemas.openxmlformats.org/drawingml/2006/main">
              <a:ext uri="{FF2B5EF4-FFF2-40B4-BE49-F238E27FC236}">
                <a16:creationId xmlns:a16="http://schemas.microsoft.com/office/drawing/2014/main" id="{0BABCD36-0FFB-43AC-83F6-37371F02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150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安全校验决定接受或暂停，不代替模型选择动作</a:t>
            </a:r>
          </a:p>
        </p:txBody>
      </p:sp>
    </p:spTree>
    <p:extLst>
      <p:ext uri="{BB962C8B-B14F-4D97-AF65-F5344CB8AC3E}">
        <p14:creationId xmlns:p14="http://schemas.microsoft.com/office/powerpoint/2010/main" val="115048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三轮追问中的连续保护">
            <a:extLst xmlns:a="http://schemas.openxmlformats.org/drawingml/2006/main">
              <a:ext uri="{FF2B5EF4-FFF2-40B4-BE49-F238E27FC236}">
                <a16:creationId xmlns:a16="http://schemas.microsoft.com/office/drawing/2014/main" id="{FC329B3E-A79F-43F0-9C27-7F63E424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三轮追问中的连续保护</a:t>
            </a:r>
          </a:p>
        </p:txBody>
      </p:sp>
      <p:sp>
        <p:nvSpPr>
          <p:cNvPr id="2" name="合成会话目标。复杂指代与累计披露仍需专项训练和验证。">
            <a:extLst xmlns:a="http://schemas.openxmlformats.org/drawingml/2006/main">
              <a:ext uri="{FF2B5EF4-FFF2-40B4-BE49-F238E27FC236}">
                <a16:creationId xmlns:a16="http://schemas.microsoft.com/office/drawing/2014/main" id="{5B22CD45-9B5C-4508-B394-0E88D288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合成会话目标。复杂指代与累计披露仍需专项训练和验证。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85A1C727-E9B2-4E44-9DE1-F2C8CEE7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A1E65-0A1D-4851-A8C9-1F434B937D35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324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667250"/>
                <a:gridCol w="4876800"/>
              </a:tblGrid>
              <a:tr h="61912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用户请求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处理结果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</a:tr>
              <a:tr h="901700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卫乐安负责海报，周五完成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人员甲负责海报，周五完成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1700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把他的截止时间改为周一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沿用人员甲与海报的对应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901700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B44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B44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恢复真实姓名并发给云端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B44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暂停本轮，不发送原名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1EA"/>
                    </a:solidFill>
                  </a:tcPr>
                </a:tc>
              </a:tr>
            </a:tbl>
          </a:graphicData>
        </a:graphic>
      </p:graphicFrame>
      <p:sp>
        <p:nvSpPr>
          <p:cNvPr id="5" name="稳定代号沿用">
            <a:extLst xmlns:a="http://schemas.openxmlformats.org/drawingml/2006/main">
              <a:ext uri="{FF2B5EF4-FFF2-40B4-BE49-F238E27FC236}">
                <a16:creationId xmlns:a16="http://schemas.microsoft.com/office/drawing/2014/main" id="{A81D4762-B788-422B-AAA6-C8DC107F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67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稳定代号沿用</a:t>
            </a:r>
          </a:p>
        </p:txBody>
      </p:sp>
      <p:sp>
        <p:nvSpPr>
          <p:cNvPr id="6" name="仅提交成功外发的历史">
            <a:extLst xmlns:a="http://schemas.openxmlformats.org/drawingml/2006/main">
              <a:ext uri="{FF2B5EF4-FFF2-40B4-BE49-F238E27FC236}">
                <a16:creationId xmlns:a16="http://schemas.microsoft.com/office/drawing/2014/main" id="{2E26FC19-36A8-485C-A4FF-4917F549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673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仅提交成功外发的历史</a:t>
            </a:r>
          </a:p>
        </p:txBody>
      </p:sp>
    </p:spTree>
    <p:extLst>
      <p:ext uri="{BB962C8B-B14F-4D97-AF65-F5344CB8AC3E}">
        <p14:creationId xmlns:p14="http://schemas.microsoft.com/office/powerpoint/2010/main" val="1547107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项目的技术创新点">
            <a:extLst xmlns:a="http://schemas.openxmlformats.org/drawingml/2006/main">
              <a:ext uri="{FF2B5EF4-FFF2-40B4-BE49-F238E27FC236}">
                <a16:creationId xmlns:a16="http://schemas.microsoft.com/office/drawing/2014/main" id="{6389B91D-ED6D-4AB0-8402-DE5C857D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项目的技术创新点</a:t>
            </a:r>
          </a:p>
        </p:txBody>
      </p:sp>
      <p:sp>
        <p:nvSpPr>
          <p:cNvPr id="2" name="创新方案及验证假设。尚需同条件对照验证。">
            <a:extLst xmlns:a="http://schemas.openxmlformats.org/drawingml/2006/main">
              <a:ext uri="{FF2B5EF4-FFF2-40B4-BE49-F238E27FC236}">
                <a16:creationId xmlns:a16="http://schemas.microsoft.com/office/drawing/2014/main" id="{72BC18FD-B5EF-4DE2-B97E-9E3516D5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6CED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6C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CEDA"/>
                </a:solidFill>
                <a:latin typeface="Microsoft YaHei"/>
                <a:ea typeface="Microsoft YaHei"/>
                <a:cs typeface="Microsoft YaHei"/>
              </a:rPr>
              <a:t>创新方案及验证假设。尚需同条件对照验证。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DEAFCF71-9471-4CBD-961E-E1A2EC46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B6CED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B6C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6CED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D465E057-FAC2-401C-80DA-EC8519C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162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7AD8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7AD8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7AD8C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任务条件决策">
            <a:extLst xmlns:a="http://schemas.openxmlformats.org/drawingml/2006/main">
              <a:ext uri="{FF2B5EF4-FFF2-40B4-BE49-F238E27FC236}">
                <a16:creationId xmlns:a16="http://schemas.microsoft.com/office/drawing/2014/main" id="{89818399-8360-44F2-91C0-ED739154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47850"/>
            <a:ext cx="9467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任务条件决策</a:t>
            </a:r>
          </a:p>
        </p:txBody>
      </p:sp>
      <p:sp>
        <p:nvSpPr>
          <p:cNvPr id="6" name="结合任务、身份与接收方，选择信息处理动作">
            <a:extLst xmlns:a="http://schemas.openxmlformats.org/drawingml/2006/main">
              <a:ext uri="{FF2B5EF4-FFF2-40B4-BE49-F238E27FC236}">
                <a16:creationId xmlns:a16="http://schemas.microsoft.com/office/drawing/2014/main" id="{9A25207A-6CED-4606-80BE-8FA5BA1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rPr>
              <a:t>结合任务、身份与接收方，选择信息处理动作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869D0EB-D227-43F5-A522-2A75D0B2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162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A5C9F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A5C9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A5C9F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连续保护状态">
            <a:extLst xmlns:a="http://schemas.openxmlformats.org/drawingml/2006/main">
              <a:ext uri="{FF2B5EF4-FFF2-40B4-BE49-F238E27FC236}">
                <a16:creationId xmlns:a16="http://schemas.microsoft.com/office/drawing/2014/main" id="{6F6274CA-843A-4CF8-98C1-DEE0A609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9925"/>
            <a:ext cx="9467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连续保护状态</a:t>
            </a:r>
          </a:p>
        </p:txBody>
      </p:sp>
      <p:sp>
        <p:nvSpPr>
          <p:cNvPr id="9" name="附件与追问共享代号映射和安全历史">
            <a:extLst xmlns:a="http://schemas.openxmlformats.org/drawingml/2006/main">
              <a:ext uri="{FF2B5EF4-FFF2-40B4-BE49-F238E27FC236}">
                <a16:creationId xmlns:a16="http://schemas.microsoft.com/office/drawing/2014/main" id="{3AB28B8A-3B4F-4E0A-A626-9F2D1611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385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rPr>
              <a:t>附件与追问共享代号映射和安全历史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AFDD080C-593E-4E0C-8225-F1AAFC0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162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C5B9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C5B9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C5B9E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外发内容可复核">
            <a:extLst xmlns:a="http://schemas.openxmlformats.org/drawingml/2006/main">
              <a:ext uri="{FF2B5EF4-FFF2-40B4-BE49-F238E27FC236}">
                <a16:creationId xmlns:a16="http://schemas.microsoft.com/office/drawing/2014/main" id="{79A3ABF4-1506-448F-A77B-2507EFF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72000"/>
            <a:ext cx="9467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外发内容可复核</a:t>
            </a:r>
          </a:p>
        </p:txBody>
      </p:sp>
      <p:sp>
        <p:nvSpPr>
          <p:cNvPr id="12" name="分别追踪漏检、误决策与执行泄露">
            <a:extLst xmlns:a="http://schemas.openxmlformats.org/drawingml/2006/main">
              <a:ext uri="{FF2B5EF4-FFF2-40B4-BE49-F238E27FC236}">
                <a16:creationId xmlns:a16="http://schemas.microsoft.com/office/drawing/2014/main" id="{7D4E9D08-F544-4F8A-8F60-91C6875D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006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rPr>
              <a:t>分别追踪漏检、误决策与执行泄露</a:t>
            </a:r>
          </a:p>
        </p:txBody>
      </p:sp>
    </p:spTree>
    <p:extLst>
      <p:ext uri="{BB962C8B-B14F-4D97-AF65-F5344CB8AC3E}">
        <p14:creationId xmlns:p14="http://schemas.microsoft.com/office/powerpoint/2010/main" val="53270195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02F46"/>
            </a:gs>
            <a:gs pos="37000">
              <a:srgbClr val="102F46"/>
            </a:gs>
            <a:gs pos="37001">
              <a:srgbClr val="FFFFFF"/>
            </a:gs>
            <a:gs pos="100000">
              <a:srgbClr val="FFFF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候选路线。当前实体检测仍为格式与上下文方法，专项模型待训练。">
            <a:extLst xmlns:a="http://schemas.openxmlformats.org/drawingml/2006/main">
              <a:ext uri="{FF2B5EF4-FFF2-40B4-BE49-F238E27FC236}">
                <a16:creationId xmlns:a16="http://schemas.microsoft.com/office/drawing/2014/main" id="{36DFDD69-7AC9-429E-9121-D67BC78F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286500"/>
            <a:ext cx="638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当前实体检测为格式与上下文方法，专项模型待训练。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9D2CFAC9-96E5-4FE6-B04D-3B409AFC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本地专项模型">
            <a:extLst xmlns:a="http://schemas.openxmlformats.org/drawingml/2006/main">
              <a:ext uri="{FF2B5EF4-FFF2-40B4-BE49-F238E27FC236}">
                <a16:creationId xmlns:a16="http://schemas.microsoft.com/office/drawing/2014/main" id="{ED6A3D2E-FCED-45A0-BEB3-3E17DB3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715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本地专项模型</a:t>
            </a:r>
          </a:p>
        </p:txBody>
      </p:sp>
      <p:sp>
        <p:nvSpPr>
          <p:cNvPr id="4" name="识别片段与类别">
            <a:extLst xmlns:a="http://schemas.openxmlformats.org/drawingml/2006/main">
              <a:ext uri="{FF2B5EF4-FFF2-40B4-BE49-F238E27FC236}">
                <a16:creationId xmlns:a16="http://schemas.microsoft.com/office/drawing/2014/main" id="{39629522-63B2-4809-9BE0-5CEFD180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04950"/>
            <a:ext cx="3638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rPr>
              <a:t>识别片段与类别</a:t>
            </a:r>
          </a:p>
        </p:txBody>
      </p:sp>
      <p:sp>
        <p:nvSpPr>
          <p:cNvPr id="5" name="1.7B">
            <a:extLst xmlns:a="http://schemas.openxmlformats.org/drawingml/2006/main">
              <a:ext uri="{FF2B5EF4-FFF2-40B4-BE49-F238E27FC236}">
                <a16:creationId xmlns:a16="http://schemas.microsoft.com/office/drawing/2014/main" id="{19108D26-8A05-46DC-AF79-09E25455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39243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1.7B</a:t>
            </a:r>
          </a:p>
        </p:txBody>
      </p:sp>
      <p:sp>
        <p:nvSpPr>
          <p:cNvPr id="6" name="Qwen3 候选基座">
            <a:extLst xmlns:a="http://schemas.openxmlformats.org/drawingml/2006/main">
              <a:ext uri="{FF2B5EF4-FFF2-40B4-BE49-F238E27FC236}">
                <a16:creationId xmlns:a16="http://schemas.microsoft.com/office/drawing/2014/main" id="{C56386B7-A4BE-4163-A716-C5943437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3571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FD0DB"/>
                </a:solidFill>
                <a:latin typeface="Microsoft YaHei"/>
                <a:ea typeface="Microsoft YaHei"/>
                <a:cs typeface="Microsoft YaHei"/>
              </a:rPr>
              <a:t>Qwen3 候选基座</a:t>
            </a:r>
          </a:p>
        </p:txBody>
      </p:sp>
      <p:sp>
        <p:nvSpPr>
          <p:cNvPr id="7" name="云端训练 本机推理">
            <a:extLst xmlns:a="http://schemas.openxmlformats.org/drawingml/2006/main">
              <a:ext uri="{FF2B5EF4-FFF2-40B4-BE49-F238E27FC236}">
                <a16:creationId xmlns:a16="http://schemas.microsoft.com/office/drawing/2014/main" id="{4B9DA3E4-B9C6-4C3A-95DC-685256A2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244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rPr>
              <a:t>云端训练</a:t>
            </a:r>
          </a:p>
          <a:p xmlns:a="http://schemas.openxmlformats.org/drawingml/2006/main">
            <a:pPr algn="l">
              <a:defRPr sz="2475" b="1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rPr>
              <a:t>本机推理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750CAE58-14DE-439D-819C-80352E84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819275"/>
            <a:ext cx="685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复核训练材料">
            <a:extLst xmlns:a="http://schemas.openxmlformats.org/drawingml/2006/main">
              <a:ext uri="{FF2B5EF4-FFF2-40B4-BE49-F238E27FC236}">
                <a16:creationId xmlns:a16="http://schemas.microsoft.com/office/drawing/2014/main" id="{26A4125D-D99E-41C0-BAA8-4430B2F7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19275"/>
            <a:ext cx="561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复核训练材料</a:t>
            </a:r>
          </a:p>
        </p:txBody>
      </p:sp>
      <p:sp>
        <p:nvSpPr>
          <p:cNvPr id="10" name="实体位置、类别与上下文答案">
            <a:extLst xmlns:a="http://schemas.openxmlformats.org/drawingml/2006/main">
              <a:ext uri="{FF2B5EF4-FFF2-40B4-BE49-F238E27FC236}">
                <a16:creationId xmlns:a16="http://schemas.microsoft.com/office/drawing/2014/main" id="{295B6071-13D3-41D6-9DAA-66F70CBE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40030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实体位置、类别与上下文答案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D203B14C-BAEF-4EAF-8045-EF5FD3F9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81350"/>
            <a:ext cx="685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参数高效微调">
            <a:extLst xmlns:a="http://schemas.openxmlformats.org/drawingml/2006/main">
              <a:ext uri="{FF2B5EF4-FFF2-40B4-BE49-F238E27FC236}">
                <a16:creationId xmlns:a16="http://schemas.microsoft.com/office/drawing/2014/main" id="{D7768C77-F905-4EB2-8314-9E4CC84E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81350"/>
            <a:ext cx="561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参数高效微调</a:t>
            </a:r>
          </a:p>
        </p:txBody>
      </p:sp>
      <p:sp>
        <p:nvSpPr>
          <p:cNvPr id="13" name="LoRA 或 QLoRA，按验证集选型">
            <a:extLst xmlns:a="http://schemas.openxmlformats.org/drawingml/2006/main">
              <a:ext uri="{FF2B5EF4-FFF2-40B4-BE49-F238E27FC236}">
                <a16:creationId xmlns:a16="http://schemas.microsoft.com/office/drawing/2014/main" id="{0981D9E9-9BF5-4A7A-9283-7510BE4E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62375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LoRA 或 QLoRA，按验证集选型</a:t>
            </a:r>
          </a:p>
        </p:txBody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11910686-6AD9-4D6E-BAAA-3C718D8C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543425"/>
            <a:ext cx="685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本机推理验收">
            <a:extLst xmlns:a="http://schemas.openxmlformats.org/drawingml/2006/main">
              <a:ext uri="{FF2B5EF4-FFF2-40B4-BE49-F238E27FC236}">
                <a16:creationId xmlns:a16="http://schemas.microsoft.com/office/drawing/2014/main" id="{ADF2B85B-2210-449B-A797-BBC9461A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43425"/>
            <a:ext cx="561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本机推理验收</a:t>
            </a:r>
          </a:p>
        </p:txBody>
      </p:sp>
      <p:sp>
        <p:nvSpPr>
          <p:cNvPr id="16" name="漏检、误删、定位、延迟和显存">
            <a:extLst xmlns:a="http://schemas.openxmlformats.org/drawingml/2006/main">
              <a:ext uri="{FF2B5EF4-FFF2-40B4-BE49-F238E27FC236}">
                <a16:creationId xmlns:a16="http://schemas.microsoft.com/office/drawing/2014/main" id="{36712AE7-06D4-4491-A8CA-41F3B683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12445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漏检、误删、定位、延迟和显存</a:t>
            </a:r>
          </a:p>
        </p:txBody>
      </p:sp>
    </p:spTree>
    <p:extLst>
      <p:ext uri="{BB962C8B-B14F-4D97-AF65-F5344CB8AC3E}">
        <p14:creationId xmlns:p14="http://schemas.microsoft.com/office/powerpoint/2010/main" val="77205833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DF1EE"/>
            </a:gs>
            <a:gs pos="28000">
              <a:srgbClr val="DDF1EE"/>
            </a:gs>
            <a:gs pos="28001">
              <a:srgbClr val="FFFFFF"/>
            </a:gs>
            <a:gs pos="100000">
              <a:srgbClr val="FFFF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数据覆盖识别、决策与会话">
            <a:extLst xmlns:a="http://schemas.openxmlformats.org/drawingml/2006/main">
              <a:ext uri="{FF2B5EF4-FFF2-40B4-BE49-F238E27FC236}">
                <a16:creationId xmlns:a16="http://schemas.microsoft.com/office/drawing/2014/main" id="{9BCBADB1-6602-4B47-8C75-7ACD2A05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数据覆盖识别、决策与会话</a:t>
            </a:r>
          </a:p>
        </p:txBody>
      </p:sp>
      <p:sp>
        <p:nvSpPr>
          <p:cNvPr id="2" name="自建数据为合成弱标签。另有 8,000 条外部中文合成样本独立用于评估">
            <a:extLst xmlns:a="http://schemas.openxmlformats.org/drawingml/2006/main">
              <a:ext uri="{FF2B5EF4-FFF2-40B4-BE49-F238E27FC236}">
                <a16:creationId xmlns:a16="http://schemas.microsoft.com/office/drawing/2014/main" id="{EACAE0CD-893F-4326-9894-C63A2B85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自建数据为合成弱标签。另有 8,000 条外部中文合成样本独立用于评估。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8DB9D0DC-DF53-4646-A21E-4A666A77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CDE06E4D-CEF9-4541-A5C8-C75FA122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2571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类敏感信息">
            <a:extLst xmlns:a="http://schemas.openxmlformats.org/drawingml/2006/main">
              <a:ext uri="{FF2B5EF4-FFF2-40B4-BE49-F238E27FC236}">
                <a16:creationId xmlns:a16="http://schemas.microsoft.com/office/drawing/2014/main" id="{7AFEF4C9-441E-40E5-9950-6BE7074F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266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类敏感信息</a:t>
            </a:r>
          </a:p>
        </p:txBody>
      </p:sp>
      <p:sp>
        <p:nvSpPr>
          <p:cNvPr id="6" name="姓名、联系方式、证件号 宿舍、成绩、敏感属性等">
            <a:extLst xmlns:a="http://schemas.openxmlformats.org/drawingml/2006/main">
              <a:ext uri="{FF2B5EF4-FFF2-40B4-BE49-F238E27FC236}">
                <a16:creationId xmlns:a16="http://schemas.microsoft.com/office/drawing/2014/main" id="{8405C0C4-424F-4286-BFEF-56994DB3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05350"/>
            <a:ext cx="2619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姓名、联系方式、证件号</a:t>
            </a:r>
          </a:p>
          <a:p xmlns:a="http://schemas.openxmlformats.org/drawingml/2006/main">
            <a:pPr algn="l">
              <a:defRPr sz="17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宿舍、成绩、敏感属性等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E7023-BA9E-4152-907B-C3CFFCD2B031}"/>
              </a:ext>
            </a:extLst>
          </p:cNvPr>
          <p:cNvGraphicFramePr/>
          <p:nvPr/>
        </p:nvGraphicFramePr>
        <p:xfrm>
          <a:off xmlns:a="http://schemas.openxmlformats.org/drawingml/2006/main" x="3705225" y="2009775"/>
          <a:ext xmlns:a="http://schemas.openxmlformats.org/drawingml/2006/main" cx="7896225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838325"/>
                <a:gridCol w="1838325"/>
                <a:gridCol w="1838325"/>
              </a:tblGrid>
              <a:tr h="65722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</a:tr>
              <a:tr h="8413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实体识别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13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动作决策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8413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三轮会话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5,100 条实体材料">
            <a:extLst xmlns:a="http://schemas.openxmlformats.org/drawingml/2006/main">
              <a:ext uri="{FF2B5EF4-FFF2-40B4-BE49-F238E27FC236}">
                <a16:creationId xmlns:a16="http://schemas.microsoft.com/office/drawing/2014/main" id="{9AC58DC7-1668-48C6-B0BC-8E96B2FD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4768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5EAA"/>
                </a:solidFill>
                <a:latin typeface="Microsoft YaHei"/>
                <a:ea typeface="Microsoft YaHei"/>
                <a:cs typeface="Microsoft YaHei"/>
              </a:rPr>
              <a:t>5,100 条实体材料</a:t>
            </a:r>
          </a:p>
        </p:txBody>
      </p:sp>
      <p:sp>
        <p:nvSpPr>
          <p:cNvPr id="9" name="1,440 条动作材料">
            <a:extLst xmlns:a="http://schemas.openxmlformats.org/drawingml/2006/main">
              <a:ext uri="{FF2B5EF4-FFF2-40B4-BE49-F238E27FC236}">
                <a16:creationId xmlns:a16="http://schemas.microsoft.com/office/drawing/2014/main" id="{EC2589EF-28F5-490C-B8E8-E771C6F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76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1,440 条动作材料</a:t>
            </a:r>
          </a:p>
        </p:txBody>
      </p:sp>
      <p:sp>
        <p:nvSpPr>
          <p:cNvPr id="10" name="360 段会话，每段作为一个数据单位">
            <a:extLst xmlns:a="http://schemas.openxmlformats.org/drawingml/2006/main">
              <a:ext uri="{FF2B5EF4-FFF2-40B4-BE49-F238E27FC236}">
                <a16:creationId xmlns:a16="http://schemas.microsoft.com/office/drawing/2014/main" id="{D1DE35FF-9BE1-489A-A5EA-7BD46751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895975"/>
            <a:ext cx="781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360 段会话，每段作为一个数据单位</a:t>
            </a:r>
          </a:p>
        </p:txBody>
      </p:sp>
    </p:spTree>
    <p:extLst>
      <p:ext uri="{BB962C8B-B14F-4D97-AF65-F5344CB8AC3E}">
        <p14:creationId xmlns:p14="http://schemas.microsoft.com/office/powerpoint/2010/main" val="356820336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4000">
              <a:srgbClr val="FFFFFF"/>
            </a:gs>
            <a:gs pos="64001">
              <a:srgbClr val="DDF1EE"/>
            </a:gs>
            <a:gs pos="100000">
              <a:srgbClr val="DDF1E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双人复核与第三人裁决">
            <a:extLst xmlns:a="http://schemas.openxmlformats.org/drawingml/2006/main">
              <a:ext uri="{FF2B5EF4-FFF2-40B4-BE49-F238E27FC236}">
                <a16:creationId xmlns:a16="http://schemas.microsoft.com/office/drawing/2014/main" id="{0A2F8B9A-C7D9-413D-BAC4-52A3456D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双人复核与第三人裁决</a:t>
            </a:r>
          </a:p>
        </p:txBody>
      </p:sp>
      <p:sp>
        <p:nvSpPr>
          <p:cNvPr id="2" name="312 个复核单位已选定，每段会话计一个单位。当前人工 gold 为 ">
            <a:extLst xmlns:a="http://schemas.openxmlformats.org/drawingml/2006/main">
              <a:ext uri="{FF2B5EF4-FFF2-40B4-BE49-F238E27FC236}">
                <a16:creationId xmlns:a16="http://schemas.microsoft.com/office/drawing/2014/main" id="{64F578F5-C07B-43E6-8253-751B9CD8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312 个复核单位已选定，每段会话计一个单位。当前人工 gold 为 0。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E6E7B892-963C-4CD2-B412-2D1ADB21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待复核样本分配">
            <a:extLst xmlns:a="http://schemas.openxmlformats.org/drawingml/2006/main">
              <a:ext uri="{FF2B5EF4-FFF2-40B4-BE49-F238E27FC236}">
                <a16:creationId xmlns:a16="http://schemas.microsoft.com/office/drawing/2014/main" id="{783741CF-030F-4200-9C0A-41C2FB59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049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待复核样本分配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3D922A7-2E2D-4C3C-8933-F55160AE03F8}"/>
              </a:ext>
            </a:extLst>
          </p:cNvPr>
          <p:cNvGraphicFramePr/>
          <p:nvPr/>
        </p:nvGraphicFramePr>
        <p:xfrm>
          <a:off xmlns:a="http://schemas.openxmlformats.org/drawingml/2006/main" x="581025" y="2352675"/>
          <a:ext xmlns:a="http://schemas.openxmlformats.org/drawingml/2006/main" cx="6810375" cy="3038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88df0873354169"/>
          </a:graphicData>
        </a:graphic>
      </p:graphicFrame>
      <p:sp>
        <p:nvSpPr>
          <p:cNvPr id="6" name="2 + 1">
            <a:extLst xmlns:a="http://schemas.openxmlformats.org/drawingml/2006/main">
              <a:ext uri="{FF2B5EF4-FFF2-40B4-BE49-F238E27FC236}">
                <a16:creationId xmlns:a16="http://schemas.microsoft.com/office/drawing/2014/main" id="{8CAE5D32-63CE-4EF9-82E1-0A90567C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3718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0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2 + 1</a:t>
            </a:r>
          </a:p>
        </p:txBody>
      </p:sp>
      <p:sp>
        <p:nvSpPr>
          <p:cNvPr id="7" name="两人独立标注 一人裁决分歧">
            <a:extLst xmlns:a="http://schemas.openxmlformats.org/drawingml/2006/main">
              <a:ext uri="{FF2B5EF4-FFF2-40B4-BE49-F238E27FC236}">
                <a16:creationId xmlns:a16="http://schemas.microsoft.com/office/drawing/2014/main" id="{29B39B23-65F7-46BF-B4B9-E74A69DD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86150"/>
            <a:ext cx="3238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两人独立标注</a:t>
            </a:r>
          </a:p>
          <a:p xmlns:a="http://schemas.openxmlformats.org/drawingml/2006/main">
            <a:pPr algn="l">
              <a:defRPr sz="225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一人裁决分歧</a:t>
            </a:r>
          </a:p>
        </p:txBody>
      </p:sp>
      <p:sp>
        <p:nvSpPr>
          <p:cNvPr id="8" name="人判断语义与任务必要性 工具检查格式和差异">
            <a:extLst xmlns:a="http://schemas.openxmlformats.org/drawingml/2006/main">
              <a:ext uri="{FF2B5EF4-FFF2-40B4-BE49-F238E27FC236}">
                <a16:creationId xmlns:a16="http://schemas.microsoft.com/office/drawing/2014/main" id="{F155EBCF-4F39-4783-8A45-D1A33C62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81575"/>
            <a:ext cx="32289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人判断语义与任务必要性</a:t>
            </a:r>
          </a:p>
          <a:p xmlns:a="http://schemas.openxmlformats.org/drawingml/2006/main">
            <a:pPr algn="l">
              <a:def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工具检查格式和差异</a:t>
            </a:r>
          </a:p>
        </p:txBody>
      </p:sp>
      <p:sp>
        <p:nvSpPr>
          <p:cNvPr id="9" name="实体、动作、完整会话">
            <a:extLst xmlns:a="http://schemas.openxmlformats.org/drawingml/2006/main">
              <a:ext uri="{FF2B5EF4-FFF2-40B4-BE49-F238E27FC236}">
                <a16:creationId xmlns:a16="http://schemas.microsoft.com/office/drawing/2014/main" id="{63101065-6AC1-4374-AAC4-5F7FC04A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2452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实体、动作、完整会话</a:t>
            </a:r>
          </a:p>
        </p:txBody>
      </p:sp>
    </p:spTree>
    <p:extLst>
      <p:ext uri="{BB962C8B-B14F-4D97-AF65-F5344CB8AC3E}">
        <p14:creationId xmlns:p14="http://schemas.microsoft.com/office/powerpoint/2010/main" val="1465126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现有原型的验证证据">
            <a:extLst xmlns:a="http://schemas.openxmlformats.org/drawingml/2006/main">
              <a:ext uri="{FF2B5EF4-FFF2-40B4-BE49-F238E27FC236}">
                <a16:creationId xmlns:a16="http://schemas.microsoft.com/office/drawing/2014/main" id="{6C858673-559C-4396-9D12-AEED3C6F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现有原型的验证证据</a:t>
            </a:r>
          </a:p>
        </p:txBody>
      </p:sp>
      <p:sp>
        <p:nvSpPr>
          <p:cNvPr id="2" name="验证记录日期 2026-10-13。检查数量不代表真实隐私保护准确率。">
            <a:extLst xmlns:a="http://schemas.openxmlformats.org/drawingml/2006/main">
              <a:ext uri="{FF2B5EF4-FFF2-40B4-BE49-F238E27FC236}">
                <a16:creationId xmlns:a16="http://schemas.microsoft.com/office/drawing/2014/main" id="{9870FF4B-EEC3-4126-9EAF-569590B4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验证记录日期 2026-10-13。检查数量不代表真实隐私保护准确率。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55A4E585-6CA9-42A0-84D8-27E65FFB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工程检查通过数量">
            <a:extLst xmlns:a="http://schemas.openxmlformats.org/drawingml/2006/main">
              <a:ext uri="{FF2B5EF4-FFF2-40B4-BE49-F238E27FC236}">
                <a16:creationId xmlns:a16="http://schemas.microsoft.com/office/drawing/2014/main" id="{953C0435-8CE4-4A1A-B3B1-87A6F0B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工程检查通过数量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0F11E67-515D-419C-B0D5-5F6775CA086C}"/>
              </a:ext>
            </a:extLst>
          </p:cNvPr>
          <p:cNvGraphicFramePr/>
          <p:nvPr/>
        </p:nvGraphicFramePr>
        <p:xfrm>
          <a:off xmlns:a="http://schemas.openxmlformats.org/drawingml/2006/main" x="581025" y="2295525"/>
          <a:ext xmlns:a="http://schemas.openxmlformats.org/drawingml/2006/main" cx="6696075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5cc740f7c34201"/>
          </a:graphicData>
        </a:graphic>
      </p:graphicFrame>
      <p:sp>
        <p:nvSpPr>
          <p:cNvPr id="6" name="原型已具备">
            <a:extLst xmlns:a="http://schemas.openxmlformats.org/drawingml/2006/main">
              <a:ext uri="{FF2B5EF4-FFF2-40B4-BE49-F238E27FC236}">
                <a16:creationId xmlns:a16="http://schemas.microsoft.com/office/drawing/2014/main" id="{7420C412-6DF7-40B4-B12C-C5B1DC62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原型已具备</a:t>
            </a:r>
          </a:p>
        </p:txBody>
      </p:sp>
      <p:sp>
        <p:nvSpPr>
          <p:cNvPr id="7" name="统一对话">
            <a:extLst xmlns:a="http://schemas.openxmlformats.org/drawingml/2006/main">
              <a:ext uri="{FF2B5EF4-FFF2-40B4-BE49-F238E27FC236}">
                <a16:creationId xmlns:a16="http://schemas.microsoft.com/office/drawing/2014/main" id="{4BEE449F-A9CB-44D8-BDFE-D87FB202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统一对话</a:t>
            </a:r>
          </a:p>
        </p:txBody>
      </p:sp>
      <p:sp>
        <p:nvSpPr>
          <p:cNvPr id="8" name="材料与追问共用入口">
            <a:extLst xmlns:a="http://schemas.openxmlformats.org/drawingml/2006/main">
              <a:ext uri="{FF2B5EF4-FFF2-40B4-BE49-F238E27FC236}">
                <a16:creationId xmlns:a16="http://schemas.microsoft.com/office/drawing/2014/main" id="{F228B2FC-CF1D-4941-8ED2-04614712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335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材料与追问共用入口</a:t>
            </a:r>
          </a:p>
        </p:txBody>
      </p:sp>
      <p:sp>
        <p:nvSpPr>
          <p:cNvPr id="9" name="动作执行">
            <a:extLst xmlns:a="http://schemas.openxmlformats.org/drawingml/2006/main">
              <a:ext uri="{FF2B5EF4-FFF2-40B4-BE49-F238E27FC236}">
                <a16:creationId xmlns:a16="http://schemas.microsoft.com/office/drawing/2014/main" id="{63D701E3-FDB3-48A9-8DA2-89A188A7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动作执行</a:t>
            </a:r>
          </a:p>
        </p:txBody>
      </p:sp>
      <p:sp>
        <p:nvSpPr>
          <p:cNvPr id="10" name="根据模型动作处理内容">
            <a:extLst xmlns:a="http://schemas.openxmlformats.org/drawingml/2006/main">
              <a:ext uri="{FF2B5EF4-FFF2-40B4-BE49-F238E27FC236}">
                <a16:creationId xmlns:a16="http://schemas.microsoft.com/office/drawing/2014/main" id="{888B0AB8-BB96-4F68-A5F1-CF2AD9F9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335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根据模型动作处理内容</a:t>
            </a:r>
          </a:p>
        </p:txBody>
      </p:sp>
      <p:sp>
        <p:nvSpPr>
          <p:cNvPr id="11" name="失败暂停">
            <a:extLst xmlns:a="http://schemas.openxmlformats.org/drawingml/2006/main">
              <a:ext uri="{FF2B5EF4-FFF2-40B4-BE49-F238E27FC236}">
                <a16:creationId xmlns:a16="http://schemas.microsoft.com/office/drawing/2014/main" id="{E66471F7-728B-4BE1-A40F-8DCF3059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失败暂停</a:t>
            </a:r>
          </a:p>
        </p:txBody>
      </p:sp>
      <p:sp>
        <p:nvSpPr>
          <p:cNvPr id="12" name="校验未通过时停止外发">
            <a:extLst xmlns:a="http://schemas.openxmlformats.org/drawingml/2006/main">
              <a:ext uri="{FF2B5EF4-FFF2-40B4-BE49-F238E27FC236}">
                <a16:creationId xmlns:a16="http://schemas.microsoft.com/office/drawing/2014/main" id="{8B908614-CF1E-47BF-9C48-AA3F75C9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91150"/>
            <a:ext cx="335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校验未通过时停止外发</a:t>
            </a:r>
          </a:p>
        </p:txBody>
      </p:sp>
    </p:spTree>
    <p:extLst>
      <p:ext uri="{BB962C8B-B14F-4D97-AF65-F5344CB8AC3E}">
        <p14:creationId xmlns:p14="http://schemas.microsoft.com/office/powerpoint/2010/main" val="10998714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模型训练与验收安排">
            <a:extLst xmlns:a="http://schemas.openxmlformats.org/drawingml/2006/main">
              <a:ext uri="{FF2B5EF4-FFF2-40B4-BE49-F238E27FC236}">
                <a16:creationId xmlns:a16="http://schemas.microsoft.com/office/drawing/2014/main" id="{717E09B9-FE96-4A28-BA74-88534752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模型训练与验收安排</a:t>
            </a:r>
          </a:p>
        </p:txBody>
      </p:sp>
      <p:sp>
        <p:nvSpPr>
          <p:cNvPr id="2" name="后续验收计划。正式效果与资源开销尚待实测。">
            <a:extLst xmlns:a="http://schemas.openxmlformats.org/drawingml/2006/main">
              <a:ext uri="{FF2B5EF4-FFF2-40B4-BE49-F238E27FC236}">
                <a16:creationId xmlns:a16="http://schemas.microsoft.com/office/drawing/2014/main" id="{DDA9D7DB-A847-49B4-9D6C-BE1EE129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后续验收计划。正式效果与资源开销尚待实测。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342E58C8-DDBA-4748-B974-CC2D691D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6444A-75A0-4DA1-A2BC-0168EFB8BED3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048000"/>
                <a:gridCol w="3048000"/>
                <a:gridCol w="3067050"/>
              </a:tblGrid>
              <a:tr h="6381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验收维度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265EA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12477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主要交付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人工实体与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动作答案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冻结权重与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独立测试记录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API 与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第二台电脑记录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检查重点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来源、分歧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与裁决可追溯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漏检、误删、泄露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及任务完成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延迟、显存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及异常暂停行为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优先服务">
            <a:extLst xmlns:a="http://schemas.openxmlformats.org/drawingml/2006/main">
              <a:ext uri="{FF2B5EF4-FFF2-40B4-BE49-F238E27FC236}">
                <a16:creationId xmlns:a16="http://schemas.microsoft.com/office/drawing/2014/main" id="{019B8F78-8D25-4C05-BDAC-5FD7B6E6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优先服务</a:t>
            </a:r>
          </a:p>
        </p:txBody>
      </p:sp>
      <p:sp>
        <p:nvSpPr>
          <p:cNvPr id="6" name="学生组织  /  课程项目  /  科研协作">
            <a:extLst xmlns:a="http://schemas.openxmlformats.org/drawingml/2006/main">
              <a:ext uri="{FF2B5EF4-FFF2-40B4-BE49-F238E27FC236}">
                <a16:creationId xmlns:a16="http://schemas.microsoft.com/office/drawing/2014/main" id="{B86252BB-F537-412A-AF23-3D7A91A4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00675"/>
            <a:ext cx="8915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学生组织  /  课程项目  /  科研协作</a:t>
            </a:r>
          </a:p>
        </p:txBody>
      </p:sp>
    </p:spTree>
    <p:extLst>
      <p:ext uri="{BB962C8B-B14F-4D97-AF65-F5344CB8AC3E}">
        <p14:creationId xmlns:p14="http://schemas.microsoft.com/office/powerpoint/2010/main" val="2090682579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02F46"/>
            </a:gs>
            <a:gs pos="100000">
              <a:srgbClr val="155C63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734ABA1B-6EF0-43D3-8B35-F1059A12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B6CED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B6C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6CED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隐盾">
            <a:extLst xmlns:a="http://schemas.openxmlformats.org/drawingml/2006/main">
              <a:ext uri="{FF2B5EF4-FFF2-40B4-BE49-F238E27FC236}">
                <a16:creationId xmlns:a16="http://schemas.microsoft.com/office/drawing/2014/main" id="{9EFA2441-E88D-40C2-AE89-CB8045DA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43025"/>
            <a:ext cx="10953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隐盾</a:t>
            </a:r>
          </a:p>
        </p:txBody>
      </p:sp>
      <p:sp>
        <p:nvSpPr>
          <p:cNvPr id="3" name="面向任务必要性的本地隐私保护">
            <a:extLst xmlns:a="http://schemas.openxmlformats.org/drawingml/2006/main">
              <a:ext uri="{FF2B5EF4-FFF2-40B4-BE49-F238E27FC236}">
                <a16:creationId xmlns:a16="http://schemas.microsoft.com/office/drawing/2014/main" id="{F93A52CB-CD8C-402F-A31D-58E2E7C7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8BD8D0"/>
                </a:solidFill>
                <a:latin typeface="Microsoft YaHei"/>
                <a:ea typeface="Microsoft YaHei"/>
                <a:cs typeface="Microsoft YaHei"/>
              </a:rPr>
              <a:t>面向任务必要性的本地隐私保护</a:t>
            </a:r>
          </a:p>
        </p:txBody>
      </p:sp>
      <p:sp>
        <p:nvSpPr>
          <p:cNvPr id="4" name="中文材料与多轮对话的一体化保护">
            <a:extLst xmlns:a="http://schemas.openxmlformats.org/drawingml/2006/main">
              <a:ext uri="{FF2B5EF4-FFF2-40B4-BE49-F238E27FC236}">
                <a16:creationId xmlns:a16="http://schemas.microsoft.com/office/drawing/2014/main" id="{899B2F40-9A34-4268-A762-8D818B82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4D9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4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4D9E2"/>
                </a:solidFill>
                <a:latin typeface="Microsoft YaHei"/>
                <a:ea typeface="Microsoft YaHei"/>
                <a:cs typeface="Microsoft YaHei"/>
              </a:rPr>
              <a:t>中文材料与多轮对话的一体化保护</a:t>
            </a:r>
          </a:p>
        </p:txBody>
      </p:sp>
      <p:sp>
        <p:nvSpPr>
          <p:cNvPr id="5" name="感谢聆听">
            <a:extLst xmlns:a="http://schemas.openxmlformats.org/drawingml/2006/main">
              <a:ext uri="{FF2B5EF4-FFF2-40B4-BE49-F238E27FC236}">
                <a16:creationId xmlns:a16="http://schemas.microsoft.com/office/drawing/2014/main" id="{40AE76F3-08E7-47B8-954B-4A6AA1A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02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1547222209"/>
      </p:ext>
    </p:extLst>
  </p:cSld>
</p:sld>
</file>

<file path=ppt/slides/slide1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备答  实体输出与失败处理">
            <a:extLst xmlns:a="http://schemas.openxmlformats.org/drawingml/2006/main">
              <a:ext uri="{FF2B5EF4-FFF2-40B4-BE49-F238E27FC236}">
                <a16:creationId xmlns:a16="http://schemas.microsoft.com/office/drawing/2014/main" id="{6053FA55-0AFD-4ABA-BF15-C4C6CA58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备答  实体输出与失败处理</a:t>
            </a:r>
          </a:p>
        </p:txBody>
      </p:sp>
      <p:sp>
        <p:nvSpPr>
          <p:cNvPr id="2" name="校验发现错误时暂停本轮，修正后重新处理。">
            <a:extLst xmlns:a="http://schemas.openxmlformats.org/drawingml/2006/main">
              <a:ext uri="{FF2B5EF4-FFF2-40B4-BE49-F238E27FC236}">
                <a16:creationId xmlns:a16="http://schemas.microsoft.com/office/drawing/2014/main" id="{5E2FA09E-5D4A-4380-9592-A983008A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校验发现错误时暂停本轮，修正后重新处理。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76850481-3D7C-4F1F-84B5-C362D116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063C3-3530-4A3E-8CA5-A4B0E1C2DB31}"/>
              </a:ext>
            </a:extLst>
          </p:cNvPr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输出字段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</a:tr>
              <a:tr h="806450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text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必须是原文中实际出现的片段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50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start / end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Unicode 字符索引，切片与 text 一致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806450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属于版本冻结的 14 类标签清单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格式错误、位置歧义、超长截断均应显式失败">
            <a:extLst xmlns:a="http://schemas.openxmlformats.org/drawingml/2006/main">
              <a:ext uri="{FF2B5EF4-FFF2-40B4-BE49-F238E27FC236}">
                <a16:creationId xmlns:a16="http://schemas.microsoft.com/office/drawing/2014/main" id="{8C29F7CA-57EA-4B77-BD94-6E8C1BD8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483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44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B4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44C3C"/>
                </a:solidFill>
                <a:latin typeface="Microsoft YaHei"/>
                <a:ea typeface="Microsoft YaHei"/>
                <a:cs typeface="Microsoft YaHei"/>
              </a:rPr>
              <a:t>格式错误、位置歧义、超长截断均应显式失败</a:t>
            </a:r>
          </a:p>
        </p:txBody>
      </p:sp>
    </p:spTree>
    <p:extLst>
      <p:ext uri="{BB962C8B-B14F-4D97-AF65-F5344CB8AC3E}">
        <p14:creationId xmlns:p14="http://schemas.microsoft.com/office/powerpoint/2010/main" val="1500693490"/>
      </p:ext>
    </p:extLst>
  </p:cSld>
</p:sld>
</file>

<file path=ppt/slides/slide1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备答  评测口径与当前基线">
            <a:extLst xmlns:a="http://schemas.openxmlformats.org/drawingml/2006/main">
              <a:ext uri="{FF2B5EF4-FFF2-40B4-BE49-F238E27FC236}">
                <a16:creationId xmlns:a16="http://schemas.microsoft.com/office/drawing/2014/main" id="{4950206C-D37C-46C2-8C08-AD5A0BF4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备答  评测口径与当前基线</a:t>
            </a:r>
          </a:p>
        </p:txBody>
      </p:sp>
      <p:sp>
        <p:nvSpPr>
          <p:cNvPr id="2" name="上述分数均非新本地小模型的正式验收结果。">
            <a:extLst xmlns:a="http://schemas.openxmlformats.org/drawingml/2006/main">
              <a:ext uri="{FF2B5EF4-FFF2-40B4-BE49-F238E27FC236}">
                <a16:creationId xmlns:a16="http://schemas.microsoft.com/office/drawing/2014/main" id="{22F8D281-D2FF-46F2-8593-7C67C223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上述分数均非新本地小模型的正式验收结果。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748F3AEF-9288-47ED-8C76-575EDF83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33248-9FAC-4AAB-A481-0338CB1D964F}"/>
              </a:ext>
            </a:extLst>
          </p:cNvPr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352800"/>
                <a:gridCol w="4524375"/>
              </a:tblGrid>
              <a:tr h="6381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解释边界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</a:tr>
              <a:tr h="8286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动作分类器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Macro-F1  0.9887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合成弱标签分组验证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现有实体检测器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 F1  0.5501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850 条合成验证材料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正式评测">
            <a:extLst xmlns:a="http://schemas.openxmlformats.org/drawingml/2006/main">
              <a:ext uri="{FF2B5EF4-FFF2-40B4-BE49-F238E27FC236}">
                <a16:creationId xmlns:a16="http://schemas.microsoft.com/office/drawing/2014/main" id="{4976DC70-F7AF-4EA5-86D2-DD8AAFE5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62475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D"/>
                </a:solidFill>
                <a:latin typeface="Microsoft YaHei"/>
                <a:ea typeface="Microsoft YaHei"/>
                <a:cs typeface="Microsoft YaHei"/>
              </a:rPr>
              <a:t>正式评测</a:t>
            </a:r>
          </a:p>
        </p:txBody>
      </p:sp>
      <p:sp>
        <p:nvSpPr>
          <p:cNvPr id="6" name="识别质量、披露事件、任务完成、误暂停 本地保护 P95 延迟与显存峰值">
            <a:extLst xmlns:a="http://schemas.openxmlformats.org/drawingml/2006/main">
              <a:ext uri="{FF2B5EF4-FFF2-40B4-BE49-F238E27FC236}">
                <a16:creationId xmlns:a16="http://schemas.microsoft.com/office/drawing/2014/main" id="{E2869281-2FE7-4969-A736-B313B841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识别质量、披露事件、任务完成、误暂停</a:t>
            </a:r>
          </a:p>
          <a:p xmlns:a="http://schemas.openxmlformats.org/drawingml/2006/main">
            <a:pPr algn="l">
              <a:defRPr sz="2100" b="0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本地保护 P95 延迟与显存峰值</a:t>
            </a:r>
          </a:p>
        </p:txBody>
      </p:sp>
    </p:spTree>
    <p:extLst>
      <p:ext uri="{BB962C8B-B14F-4D97-AF65-F5344CB8AC3E}">
        <p14:creationId xmlns:p14="http://schemas.microsoft.com/office/powerpoint/2010/main" val="1425234109"/>
      </p:ext>
    </p:extLst>
  </p:cSld>
</p:sld>
</file>

<file path=ppt/slides/slide1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答  API 与安全边界">
            <a:extLst xmlns:a="http://schemas.openxmlformats.org/drawingml/2006/main">
              <a:ext uri="{FF2B5EF4-FFF2-40B4-BE49-F238E27FC236}">
                <a16:creationId xmlns:a16="http://schemas.microsoft.com/office/drawing/2014/main" id="{D6189A82-793E-45D2-86B0-786E4501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10991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46"/>
                </a:solidFill>
                <a:latin typeface="Microsoft YaHei"/>
                <a:ea typeface="Microsoft YaHei"/>
                <a:cs typeface="Microsoft YaHei"/>
              </a:rPr>
              <a:t>备答  API 与安全边界</a:t>
            </a:r>
          </a:p>
        </p:txBody>
      </p:sp>
      <p:sp>
        <p:nvSpPr>
          <p:cNvPr id="2" name="本地删除不能撤回已经外发的内容。">
            <a:extLst xmlns:a="http://schemas.openxmlformats.org/drawingml/2006/main">
              <a:ext uri="{FF2B5EF4-FFF2-40B4-BE49-F238E27FC236}">
                <a16:creationId xmlns:a16="http://schemas.microsoft.com/office/drawing/2014/main" id="{DE735434-5941-403D-B523-5C45A0E8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2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本地删除不能撤回已经外发的内容。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B5D0F825-A5F9-4762-B105-2AC6360D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349B9-9EF2-41FD-B428-A581795DB5B1}"/>
              </a:ext>
            </a:extLst>
          </p:cNvPr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3817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边界或能力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当前状态与要求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T w="5715">
                      <a:solidFill>
                        <a:srgbClr val="D4E1E7"/>
                      </a:solidFill>
                      <a:prstDash val="solid"/>
                    </a:lnT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102F46"/>
                    </a:solidFill>
                  </a:tcPr>
                </a:tc>
              </a:tr>
              <a:tr h="77152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API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兼容客户端已有，真实连接待验收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发送内容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检查当前请求与已处理历史的完整载荷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77152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回答展示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复检通过后显示并写入历史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2F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外部工具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E1E7"/>
                      </a:solidFill>
                      <a:prstDash val="solid"/>
                    </a:lnL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lIns="180975" tIns="123825" rIns="152400" bIns="12382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5D71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参数需单独检查，真实集成待验收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E1E7"/>
                      </a:solidFill>
                      <a:prstDash val="solid"/>
                    </a:lnR>
                    <a:lnB w="5715">
                      <a:solidFill>
                        <a:srgbClr val="D4E1E7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286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2026-10-14T18:11:05.4020000Z</dcterms:created>
  <dcterms:modified xsi:type="dcterms:W3CDTF">2026-10-14T18:11:05.4020000Z</dcterms:modified>
</coreProperties>
</file>